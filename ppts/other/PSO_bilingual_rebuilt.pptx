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10"/>
  </p:normalViewPr>
  <p:slideViewPr>
    <p:cSldViewPr snapToGrid="0" snapToObjects="1">
      <p:cViewPr>
        <p:scale>
          <a:sx n="86" d="100"/>
          <a:sy n="86" d="100"/>
        </p:scale>
        <p:origin x="216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67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images from PSO技术.zip; cover collage uses uploaded conference slide photos.
- Kennedy J, Eberhart R. Particle Swarm Optimization. Proc. ICNN 1995. https://www.cs.tufts.edu/comp/150GA/homeworks/hw3/_reading6%201995%20particle%20swarming.pdf
- Freitas DB et al. Particle Swarm Optimisation: A Historical Review Up to the Current Developments. Entropy 2020. https://www.mdpi.com/1099-4300/22/3/362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conference slide photos from PSO技术.zip, especially *_367_178.jpg, *_369_178.jpg, *_370_178.jpg, *_373_178.jpg, *_375_178.jpg, *_379_178.jpg.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Kennedy J, Eberhart R. Particle Swarm Optimization. Proc. ICNN 1995. https://www.cs.tufts.edu/comp/150GA/homeworks/hw3/_reading6%201995%20particle%20swarming.pdf
- turn4search1 Freitas et al. historical review of PSO developments.
- turn6search1 Schutte et al. 2004 on parallel global optimization with PSO.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turn5view2 Baumann et al. review discussing heuristics, HTPD, and model-based/combinatorial development approaches for bioprocess DSP.
- turn6search1 Schutte et al. PSO parallelization.
- turn6search12 historical review highlighting simplicity and competence in complex search 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turn6search13 / turn6search6 Bayesian Optimization in Bioprocess Engineering review: BO as stochastic global black-box optimization balancing exploration and exploitation.
- turn5view2 / turn3view5 review of HTPD, heuristics, mechanistic models, and response surface modeling in DSP.
- Kennedy &amp; Eberhart 1995; Freitas 2020 historical PSO review.
- User-provided conference photos comparing DOE/RSM and PSO in a CEX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turn5view1 platform process description showing Protein A followed by CEX and AEX polishing in common mAb processes.
- turn5view0 heuristic rule of thumb: binding in CEX around 0.5 pH units below pI.
- turn2search1 / turn2search5 hybrid pH-conductivity CEX gradient study for process-scale mAb purification.
- turn2search0 Ishihara &amp; Yamamoto 2005 on optimization of mAb purification by ion-exchange chromatography using linear gradient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Score structure in this slide is an implementation template authored for the user; it is not quoted as a universal industry standard.
- turn3view4 deep-learning + multi-objective optimization paper on mAb downstream process outputs including CEX concentration, acidic/basic variants, and aggregates.
- turn5view2 / turn3view5 for the multi-objective and combinatorial nature of DSP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slide is a practical implementation blueprint authored for the user based on the uploaded case and literature on PSO/HTPD/CEX.
- turn2search2 and turn5view2 on high-throughput chromatography strategies and miniaturized downstream development.
- turn6search1 on PSO parallelization; turn4search0 and turn4search1 for standard PSO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slide is an implementation template authored for the user.
- turn2search2 / turn5view2 for HTPD and miniaturized chromatography workflows.
- turn4search0, turn4search1, turn6search1 for PSO basics and parallel execution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All numerical values on this slide are illustrative author-created example values for a practical workflow; they are intentionally labeled illustrative and are not quoted from a specific publication.
- Conceptual structure inspired by the uploaded conference slides showing convergence, score gains, and sweet-spot localization.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Validation and robustness guidance in this slide is authored as practical implementation advice.
- turn3view5 and turn5view2 review the need for process characterization and combinatorial approaches; turn1search2 describes experimental verification of optimization outputs with three runs in a modern mAb DSP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turn3view2 scoping review: need for integrative multimodal methods across unit operations in mAb process development.
- turn6search13 / turn6search6 / turn2search3 on Bayesian optimization in bioprocess engineering.
- turn3view4 deep-learning aided optimization in mAb DSP demonstrating real-time prediction +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This summary synthesizes the uploaded case images and the literature sources cited throughout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19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x CEX | 中英双语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98080" y="6419088"/>
            <a:ext cx="4251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reconstructed from uploaded event slides + literature review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1051560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91695" cy="1097280"/>
          </a:xfrm>
          <a:prstGeom prst="rect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7498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在单抗阳离子层析优化中的应用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9844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 Swarm Optimization for mAb Cation Exchange Process Development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从上传会议照片重构案例，并扩展到“可执行”的 PSO 工艺优化方案：背景、原理、操作、对比、实施路径与展望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8368" y="254203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Rebuilt from the uploaded conference photos and extended into a practical implementation plan: background, mechanism, workflow, comparison, execution, and outlook.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" y="3794760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384048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案例重构 / Case reconstruction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96896" y="3794760"/>
            <a:ext cx="1737360" cy="256032"/>
          </a:xfrm>
          <a:prstGeom prst="roundRect">
            <a:avLst>
              <a:gd name="adj" fmla="val 28571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384048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AA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真实流程 / Step-by-step plan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62272" y="3794760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384048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技术对比 / Comparison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379476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384048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4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双语表达 / Bilingual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0" y="658368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0" descr="/mnt/data/psozip/#U5fae#U4fe1#U56fe#U7247_20260314073023_367_178.jpg"/>
          <p:cNvPicPr>
            <a:picLocks noChangeAspect="1"/>
          </p:cNvPicPr>
          <p:nvPr/>
        </p:nvPicPr>
        <p:blipFill>
          <a:blip r:embed="rId3"/>
          <a:srcRect t="7667" b="7667"/>
          <a:stretch/>
        </p:blipFill>
        <p:spPr>
          <a:xfrm>
            <a:off x="7360920" y="704088"/>
            <a:ext cx="1828800" cy="11612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70064" y="1883664"/>
            <a:ext cx="1810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slide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9372600" y="658368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1" descr="/mnt/data/psozip/#U5fae#U4fe1#U56fe#U7247_20260314073025_369_178.jpg"/>
          <p:cNvPicPr>
            <a:picLocks noChangeAspect="1"/>
          </p:cNvPicPr>
          <p:nvPr/>
        </p:nvPicPr>
        <p:blipFill>
          <a:blip r:embed="rId4"/>
          <a:srcRect t="7667" b="7667"/>
          <a:stretch/>
        </p:blipFill>
        <p:spPr>
          <a:xfrm>
            <a:off x="9418320" y="704088"/>
            <a:ext cx="1828800" cy="11612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427464" y="1883664"/>
            <a:ext cx="1810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slide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7315200" y="21488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2" descr="/mnt/data/psozip/#U5fae#U4fe1#U56fe#U7247_20260314073028_373_178.jpg"/>
          <p:cNvPicPr>
            <a:picLocks noChangeAspect="1"/>
          </p:cNvPicPr>
          <p:nvPr/>
        </p:nvPicPr>
        <p:blipFill>
          <a:blip r:embed="rId5"/>
          <a:srcRect t="7667" b="7667"/>
          <a:stretch/>
        </p:blipFill>
        <p:spPr>
          <a:xfrm>
            <a:off x="7360920" y="2194560"/>
            <a:ext cx="1828800" cy="11612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70064" y="3374136"/>
            <a:ext cx="1810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slide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9372600" y="21488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/mnt/data/psozip/#U5fae#U4fe1#U56fe#U7247_20260314073031_377_178.jpg"/>
          <p:cNvPicPr>
            <a:picLocks noChangeAspect="1"/>
          </p:cNvPicPr>
          <p:nvPr/>
        </p:nvPicPr>
        <p:blipFill>
          <a:blip r:embed="rId6"/>
          <a:srcRect t="7667" b="7667"/>
          <a:stretch/>
        </p:blipFill>
        <p:spPr>
          <a:xfrm>
            <a:off x="9418320" y="2194560"/>
            <a:ext cx="1828800" cy="11612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27464" y="3374136"/>
            <a:ext cx="1810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slide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7315200" y="3639312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9" name="Image 4" descr="/mnt/data/psozip/#U5fae#U4fe1#U56fe#U7247_20260314073032_378_178.jpg"/>
          <p:cNvPicPr>
            <a:picLocks noChangeAspect="1"/>
          </p:cNvPicPr>
          <p:nvPr/>
        </p:nvPicPr>
        <p:blipFill>
          <a:blip r:embed="rId7"/>
          <a:srcRect t="7667" b="7667"/>
          <a:stretch/>
        </p:blipFill>
        <p:spPr>
          <a:xfrm>
            <a:off x="7360920" y="3685032"/>
            <a:ext cx="1828800" cy="11612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70064" y="4864608"/>
            <a:ext cx="1810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slide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9372600" y="3639312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5" descr="/mnt/data/psozip/#U5fae#U4fe1#U56fe#U7247_20260314073032_379_178.jpg"/>
          <p:cNvPicPr>
            <a:picLocks noChangeAspect="1"/>
          </p:cNvPicPr>
          <p:nvPr/>
        </p:nvPicPr>
        <p:blipFill>
          <a:blip r:embed="rId8"/>
          <a:srcRect t="7667" b="7667"/>
          <a:stretch/>
        </p:blipFill>
        <p:spPr>
          <a:xfrm>
            <a:off x="9418320" y="3685032"/>
            <a:ext cx="1828800" cy="11612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27464" y="4864608"/>
            <a:ext cx="18105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slide</a:t>
            </a:r>
            <a:endParaRPr lang="en-US" sz="750" dirty="0"/>
          </a:p>
        </p:txBody>
      </p:sp>
      <p:sp>
        <p:nvSpPr>
          <p:cNvPr id="34" name="Shape 26"/>
          <p:cNvSpPr/>
          <p:nvPr/>
        </p:nvSpPr>
        <p:spPr>
          <a:xfrm>
            <a:off x="621792" y="46634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04672" y="4773168"/>
            <a:ext cx="5989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一句话判断 / Key takeaway:  当实验响应是黑箱、变量耦合强、且可以并行做一批实验时，PSO 很适合用来快速锁定 CEX 的最佳操作区间。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01. 从上传图片识别出的案例主线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uploaded images reveal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会议主题聚焦“PSO in Downstream Process / Boost Antibody CEX Process Development”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931920" cy="489204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280160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识别出的关键信息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3529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reconstructed from the photos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对象是抗体下游中的 CEX 开发，不是纯算法演示。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 is about real CEX process development, not a purely algorithmic demo.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4088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042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输入因子至少覆盖 load、pre-elution、elution 等多个阶段。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64261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input variables span load, pre-elution, and elution stages.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" y="2834640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71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会中直接对比了 DOE/RSM 与 PSO 的实验投入和输出方式。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99160" y="334535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slides explicitly compare DOE/RSM style workflows with PSO.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" y="3310128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160" y="372025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结论不是“PSO 替代一切”，而是“在黑箱优化中更快逼近高分区域”。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99160" y="415137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message is not “PSO replaces everything”, but “PSO can reach high-performing regions faster in black-box optimization”.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" y="378561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160" y="47548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案例展示了收敛、sweet spot、以及后续自动化/闭环优化展望。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99160" y="543153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 shows convergence, sweet spots, and an outlook toward automated closed-loop optimization.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133856"/>
            <a:ext cx="6949440" cy="384048"/>
          </a:xfrm>
          <a:prstGeom prst="roundRect">
            <a:avLst>
              <a:gd name="adj" fmla="val 14286"/>
            </a:avLst>
          </a:prstGeom>
          <a:solidFill>
            <a:srgbClr val="ECF8FF"/>
          </a:solidFill>
          <a:ln w="12700">
            <a:solidFill>
              <a:srgbClr val="ECF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207008"/>
            <a:ext cx="6620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会议原图证据带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73752" y="1335024"/>
            <a:ext cx="662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strip from uploaded slides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1627632"/>
            <a:ext cx="20574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0" descr="/mnt/data/psozip/#U5fae#U4fe1#U56fe#U7247_20260314073023_367_178.jpg"/>
          <p:cNvPicPr>
            <a:picLocks noChangeAspect="1"/>
          </p:cNvPicPr>
          <p:nvPr/>
        </p:nvPicPr>
        <p:blipFill>
          <a:blip r:embed="rId3"/>
          <a:srcRect t="9690" b="9690"/>
          <a:stretch/>
        </p:blipFill>
        <p:spPr>
          <a:xfrm>
            <a:off x="4846320" y="1673352"/>
            <a:ext cx="1965960" cy="11887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855464" y="2880360"/>
            <a:ext cx="19476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059168" y="1627632"/>
            <a:ext cx="20574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1" descr="/mnt/data/psozip/#U5fae#U4fe1#U56fe#U7247_20260314073025_369_178.jpg"/>
          <p:cNvPicPr>
            <a:picLocks noChangeAspect="1"/>
          </p:cNvPicPr>
          <p:nvPr/>
        </p:nvPicPr>
        <p:blipFill>
          <a:blip r:embed="rId4"/>
          <a:srcRect t="9690" b="9690"/>
          <a:stretch/>
        </p:blipFill>
        <p:spPr>
          <a:xfrm>
            <a:off x="7104888" y="1673352"/>
            <a:ext cx="1965960" cy="11887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14032" y="2880360"/>
            <a:ext cx="19476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factors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9317736" y="1627632"/>
            <a:ext cx="20574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3" name="Image 2" descr="/mnt/data/psozip/#U5fae#U4fe1#U56fe#U7247_20260314073025_370_178.jpg"/>
          <p:cNvPicPr>
            <a:picLocks noChangeAspect="1"/>
          </p:cNvPicPr>
          <p:nvPr/>
        </p:nvPicPr>
        <p:blipFill>
          <a:blip r:embed="rId5"/>
          <a:srcRect t="9690" b="9690"/>
          <a:stretch/>
        </p:blipFill>
        <p:spPr>
          <a:xfrm>
            <a:off x="9363456" y="1673352"/>
            <a:ext cx="1965960" cy="11887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372600" y="2880360"/>
            <a:ext cx="19476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 vs PSO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4800600" y="3154680"/>
            <a:ext cx="20574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3" descr="/mnt/data/psozip/#U5fae#U4fe1#U56fe#U7247_20260314073028_373_178.jpg"/>
          <p:cNvPicPr>
            <a:picLocks noChangeAspect="1"/>
          </p:cNvPicPr>
          <p:nvPr/>
        </p:nvPicPr>
        <p:blipFill>
          <a:blip r:embed="rId6"/>
          <a:srcRect t="9690" b="9690"/>
          <a:stretch/>
        </p:blipFill>
        <p:spPr>
          <a:xfrm>
            <a:off x="4846320" y="3200400"/>
            <a:ext cx="1965960" cy="11887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855464" y="4407408"/>
            <a:ext cx="19476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model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7059168" y="3154680"/>
            <a:ext cx="20574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9" name="Image 4" descr="/mnt/data/psozip/#U5fae#U4fe1#U56fe#U7247_20260314073029_375_178.jpg"/>
          <p:cNvPicPr>
            <a:picLocks noChangeAspect="1"/>
          </p:cNvPicPr>
          <p:nvPr/>
        </p:nvPicPr>
        <p:blipFill>
          <a:blip r:embed="rId7"/>
          <a:srcRect t="9690" b="9690"/>
          <a:stretch/>
        </p:blipFill>
        <p:spPr>
          <a:xfrm>
            <a:off x="7104888" y="3200400"/>
            <a:ext cx="1965960" cy="11887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14032" y="4407408"/>
            <a:ext cx="19476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convergence + score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9317736" y="3154680"/>
            <a:ext cx="20574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2" name="Image 5" descr="/mnt/data/psozip/#U5fae#U4fe1#U56fe#U7247_20260314073032_379_178.jpg"/>
          <p:cNvPicPr>
            <a:picLocks noChangeAspect="1"/>
          </p:cNvPicPr>
          <p:nvPr/>
        </p:nvPicPr>
        <p:blipFill>
          <a:blip r:embed="rId8"/>
          <a:srcRect t="9690" b="9690"/>
          <a:stretch/>
        </p:blipFill>
        <p:spPr>
          <a:xfrm>
            <a:off x="9363456" y="3200400"/>
            <a:ext cx="1965960" cy="11887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372600" y="4407408"/>
            <a:ext cx="19476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roadmap</a:t>
            </a:r>
            <a:endParaRPr lang="en-US" sz="750" dirty="0"/>
          </a:p>
        </p:txBody>
      </p:sp>
      <p:sp>
        <p:nvSpPr>
          <p:cNvPr id="44" name="Shape 36"/>
          <p:cNvSpPr/>
          <p:nvPr/>
        </p:nvSpPr>
        <p:spPr>
          <a:xfrm>
            <a:off x="4709160" y="4800600"/>
            <a:ext cx="694944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4892040" y="49560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图像复原后的结论 / Reconstructed narrative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4892040" y="5522976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这组图片说明，报告人把 PSO 当作一种“实验决策引擎”：先定义变量与评分，再并行执行一批 CEX 实验，根据得分更新下一轮条件，直至找到高分操作窗口。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presenter treats PSO as an experimental decision engine: define variables and a score, run a batch of CEX experiments in parallel, update the next-round conditions from the scores, and iterate until a high-performing operating window is found.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02. PSO 原理：一页看懂粒子群如何找最优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PSO principles in one page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适合黑箱、非线性、强耦合、可并行实验的问题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4480560" cy="498348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3533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直觉版解释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15727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intuition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68096" y="190195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847088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每个粒子 = 一组实验条件，例如 pH、导电率、梯度终点。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59536" y="3978656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particle is one candidate recipe, e.g., pH, conductivity, or gradient end-point.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" y="2414016"/>
            <a:ext cx="91440" cy="91440"/>
          </a:xfrm>
          <a:prstGeom prst="ellipse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35915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粒子记住自己历史最优 pbest，也参考群体最优 gbest。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59536" y="4490720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particle remembers its own best point (pbest) and the swarm best (gbest).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8096" y="29260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871216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下一轮不是盲猜，而是在“惯性 + 个体经验 + 群体经验”下更新。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59536" y="5002784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move is not random guessing; it mixes inertia, self-experience, and social learning.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8096" y="3438144"/>
            <a:ext cx="91440" cy="91440"/>
          </a:xfrm>
          <a:prstGeom prst="ellipse">
            <a:avLst/>
          </a:prstGeom>
          <a:solidFill>
            <a:srgbClr val="2DAA84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383280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早期更偏探索，后期更偏收敛，因此适合快速缩小操作区。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59536" y="5514848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search starts broad and becomes more exploitative, which is ideal for shrinking an operating window quickly.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57800" y="1234440"/>
            <a:ext cx="3611880" cy="2331720"/>
          </a:xfrm>
          <a:prstGeom prst="rect">
            <a:avLst/>
          </a:prstGeom>
          <a:solidFill>
            <a:srgbClr val="F9FBFF"/>
          </a:solidFill>
          <a:ln w="12700">
            <a:solidFill>
              <a:srgbClr val="DCE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2148840"/>
            <a:ext cx="212140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2587752"/>
            <a:ext cx="960120" cy="0"/>
          </a:xfrm>
          <a:prstGeom prst="line">
            <a:avLst/>
          </a:prstGeom>
          <a:noFill/>
          <a:ln w="12700">
            <a:solidFill>
              <a:srgbClr val="D6455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76872" y="1673352"/>
            <a:ext cx="1572768" cy="73152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23560" y="1645920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947672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1928" y="1709928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16168" y="2286000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2148840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02552" y="1892808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22008" y="2350008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9752" y="1645920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87768" y="2148840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62088" y="2039112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2587752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23560" y="2514600"/>
            <a:ext cx="82296" cy="82296"/>
          </a:xfrm>
          <a:prstGeom prst="ellipse">
            <a:avLst/>
          </a:prstGeom>
          <a:solidFill>
            <a:srgbClr val="8AB4FF"/>
          </a:solidFill>
          <a:ln w="12700">
            <a:solidFill>
              <a:srgbClr val="8AB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2697480"/>
            <a:ext cx="82296" cy="82296"/>
          </a:xfrm>
          <a:prstGeom prst="ellipse">
            <a:avLst/>
          </a:prstGeom>
          <a:solidFill>
            <a:srgbClr val="B6D8FF"/>
          </a:solidFill>
          <a:ln w="12700">
            <a:solidFill>
              <a:srgbClr val="B6D8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2788920"/>
            <a:ext cx="82296" cy="82296"/>
          </a:xfrm>
          <a:prstGeom prst="ellipse">
            <a:avLst/>
          </a:prstGeom>
          <a:solidFill>
            <a:srgbClr val="B6D8FF"/>
          </a:solidFill>
          <a:ln w="12700">
            <a:solidFill>
              <a:srgbClr val="B6D8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2743200"/>
            <a:ext cx="82296" cy="82296"/>
          </a:xfrm>
          <a:prstGeom prst="ellipse">
            <a:avLst/>
          </a:prstGeom>
          <a:solidFill>
            <a:srgbClr val="B6D8FF"/>
          </a:solidFill>
          <a:ln w="12700">
            <a:solidFill>
              <a:srgbClr val="B6D8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44968" y="2606040"/>
            <a:ext cx="82296" cy="82296"/>
          </a:xfrm>
          <a:prstGeom prst="ellipse">
            <a:avLst/>
          </a:prstGeom>
          <a:solidFill>
            <a:srgbClr val="B6D8FF"/>
          </a:solidFill>
          <a:ln w="12700">
            <a:solidFill>
              <a:srgbClr val="B6D8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0" y="1490472"/>
            <a:ext cx="82296" cy="82296"/>
          </a:xfrm>
          <a:prstGeom prst="ellipse">
            <a:avLst/>
          </a:prstGeom>
          <a:solidFill>
            <a:srgbClr val="B6D8FF"/>
          </a:solidFill>
          <a:ln w="12700">
            <a:solidFill>
              <a:srgbClr val="B6D8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93992" y="1435608"/>
            <a:ext cx="82296" cy="82296"/>
          </a:xfrm>
          <a:prstGeom prst="ellipse">
            <a:avLst/>
          </a:prstGeom>
          <a:solidFill>
            <a:srgbClr val="B6D8FF"/>
          </a:solidFill>
          <a:ln w="12700">
            <a:solidFill>
              <a:srgbClr val="B6D8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1563624"/>
            <a:ext cx="82296" cy="82296"/>
          </a:xfrm>
          <a:prstGeom prst="ellipse">
            <a:avLst/>
          </a:prstGeom>
          <a:solidFill>
            <a:srgbClr val="B6D8FF"/>
          </a:solidFill>
          <a:ln w="12700">
            <a:solidFill>
              <a:srgbClr val="B6D8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6792" y="2057400"/>
            <a:ext cx="201168" cy="201168"/>
          </a:xfrm>
          <a:prstGeom prst="ellipse">
            <a:avLst/>
          </a:prstGeom>
          <a:solidFill>
            <a:srgbClr val="CFE1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0488" y="228600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当前粒子</a:t>
            </a:r>
            <a:endParaRPr lang="en-US" sz="920" dirty="0"/>
          </a:p>
          <a:p>
            <a:pPr marL="0" indent="0" algn="ctr">
              <a:buNone/>
            </a:pPr>
            <a:r>
              <a:rPr lang="en-US" sz="920" dirty="0">
                <a:solidFill>
                  <a:srgbClr val="2F6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Current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6885432" y="1545336"/>
            <a:ext cx="219456" cy="219456"/>
          </a:xfrm>
          <a:prstGeom prst="ellipse">
            <a:avLst/>
          </a:prstGeom>
          <a:solidFill>
            <a:srgbClr val="D9F2F5"/>
          </a:solidFill>
          <a:ln w="12700">
            <a:solidFill>
              <a:srgbClr val="1D8C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0568" y="1801368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8C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pbest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412480" y="1627632"/>
            <a:ext cx="256032" cy="256032"/>
          </a:xfrm>
          <a:prstGeom prst="ellipse">
            <a:avLst/>
          </a:prstGeom>
          <a:solidFill>
            <a:srgbClr val="FFE4B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0184" y="193852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gbest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22392" y="3218688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群体在搜索空间中移动，逐轮朝更优区域聚拢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Particles move through the search space and gradually cluster near better regions.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5257800" y="3703320"/>
            <a:ext cx="3611880" cy="2395728"/>
          </a:xfrm>
          <a:prstGeom prst="roundRect">
            <a:avLst>
              <a:gd name="adj" fmla="val 3053"/>
            </a:avLst>
          </a:prstGeom>
          <a:solidFill>
            <a:srgbClr val="EEF4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440680" y="3913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常见更新式 / Standard update equations</a:t>
            </a:r>
            <a:endParaRPr lang="en-US" sz="160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4980" y="4343400"/>
            <a:ext cx="2971800" cy="310896"/>
          </a:xfrm>
          <a:prstGeom prst="rect">
            <a:avLst/>
          </a:prstGeom>
        </p:spPr>
      </p:pic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92140" y="4903266"/>
            <a:ext cx="1783080" cy="256032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5513832" y="5404699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 = 惯性权重 inertia；c1/c2 = 学习因子 learning coefficients；r1/r2 = 随机数 random numbers</a:t>
            </a:r>
            <a:endParaRPr lang="en-US" sz="1080" dirty="0"/>
          </a:p>
        </p:txBody>
      </p:sp>
      <p:sp>
        <p:nvSpPr>
          <p:cNvPr id="55" name="Shape 51"/>
          <p:cNvSpPr/>
          <p:nvPr/>
        </p:nvSpPr>
        <p:spPr>
          <a:xfrm>
            <a:off x="9098280" y="1115568"/>
            <a:ext cx="2560320" cy="49834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2"/>
          <p:cNvSpPr/>
          <p:nvPr/>
        </p:nvSpPr>
        <p:spPr>
          <a:xfrm>
            <a:off x="9299448" y="12801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为什么适合工艺优化</a:t>
            </a:r>
            <a:endParaRPr lang="en-US" sz="1800" dirty="0"/>
          </a:p>
        </p:txBody>
      </p:sp>
      <p:sp>
        <p:nvSpPr>
          <p:cNvPr id="57" name="Text 53"/>
          <p:cNvSpPr/>
          <p:nvPr/>
        </p:nvSpPr>
        <p:spPr>
          <a:xfrm>
            <a:off x="9363456" y="3730752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PSO fits bioprocess work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9299448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9473184" y="1801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不需要显式梯度或精确机理模型。</a:t>
            </a:r>
            <a:endParaRPr lang="en-US" sz="1550" dirty="0"/>
          </a:p>
        </p:txBody>
      </p:sp>
      <p:sp>
        <p:nvSpPr>
          <p:cNvPr id="60" name="Text 56"/>
          <p:cNvSpPr/>
          <p:nvPr/>
        </p:nvSpPr>
        <p:spPr>
          <a:xfrm>
            <a:off x="9528048" y="42245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explicit gradients or perfect mechanistic model are required.</a:t>
            </a:r>
            <a:endParaRPr lang="en-US" sz="1050" dirty="0"/>
          </a:p>
        </p:txBody>
      </p:sp>
      <p:sp>
        <p:nvSpPr>
          <p:cNvPr id="61" name="Shape 57"/>
          <p:cNvSpPr/>
          <p:nvPr/>
        </p:nvSpPr>
        <p:spPr>
          <a:xfrm>
            <a:off x="9299448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9473184" y="239401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天然适配并行实验，一轮可以同时跑多组条件。</a:t>
            </a:r>
            <a:endParaRPr lang="en-US" sz="1550" dirty="0"/>
          </a:p>
        </p:txBody>
      </p:sp>
      <p:sp>
        <p:nvSpPr>
          <p:cNvPr id="63" name="Text 59"/>
          <p:cNvSpPr/>
          <p:nvPr/>
        </p:nvSpPr>
        <p:spPr>
          <a:xfrm>
            <a:off x="9528048" y="4700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naturally fits parallel experimentation.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9299448" y="2834640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464040" y="2779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面对非凸、多峰、噪声响应时仍然实用。</a:t>
            </a:r>
            <a:endParaRPr lang="en-US" sz="1550" dirty="0"/>
          </a:p>
        </p:txBody>
      </p:sp>
      <p:sp>
        <p:nvSpPr>
          <p:cNvPr id="66" name="Text 62"/>
          <p:cNvSpPr/>
          <p:nvPr/>
        </p:nvSpPr>
        <p:spPr>
          <a:xfrm>
            <a:off x="9528048" y="517550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remains useful for non-convex, multi-modal, and noisy responses.</a:t>
            </a:r>
            <a:endParaRPr lang="en-US" sz="1050" dirty="0"/>
          </a:p>
        </p:txBody>
      </p:sp>
      <p:sp>
        <p:nvSpPr>
          <p:cNvPr id="67" name="Shape 63"/>
          <p:cNvSpPr/>
          <p:nvPr/>
        </p:nvSpPr>
        <p:spPr>
          <a:xfrm>
            <a:off x="9299448" y="3310128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9464040" y="32552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适合先找操作窗口，再做确认与稳健性验证。</a:t>
            </a:r>
            <a:endParaRPr lang="en-US" sz="1550" dirty="0"/>
          </a:p>
        </p:txBody>
      </p:sp>
      <p:sp>
        <p:nvSpPr>
          <p:cNvPr id="69" name="Text 65"/>
          <p:cNvSpPr/>
          <p:nvPr/>
        </p:nvSpPr>
        <p:spPr>
          <a:xfrm>
            <a:off x="9528048" y="56509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strong at finding a sweet spot before final verification.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03. 为什么 PSO 特别适合层析优化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PSO is a strong fit for chromatography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层析开发常同时面对非线性、约束、多目标与实验预算压力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310128" cy="5120640"/>
          </a:xfrm>
          <a:prstGeom prst="roundRect">
            <a:avLst>
              <a:gd name="adj" fmla="val 2210"/>
            </a:avLst>
          </a:prstGeom>
          <a:solidFill>
            <a:srgbClr val="F8FAFC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28016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层析开发的真实痛点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0255" y="36758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chromatography is hard to optimize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多个旋钮同时作用：pH、盐、电导率、梯度、载量、流速。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34847" y="4169664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knobs change at once: pH, salt, conductivity, gradient, load, flow rate.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4088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04288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响应往往不是单峰，局部最好并不代表全局最好。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4847" y="4645152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is rarely unimodal; a local best is not necessarily global best.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" y="2834640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779776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指标彼此冲突：纯度、收率、HCP/HMW 去除、循环时间。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4847" y="5120640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conflict: purity, yield, HCP/HMW clearance, and cycle 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" y="3310128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55264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一轮实验成本高，不能无限制地“扫格点”。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1695" y="6049333"/>
            <a:ext cx="2852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round is expensive, so exhaustive gridding is impractical.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41648" y="1115568"/>
            <a:ext cx="3794760" cy="512064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87952" y="1261872"/>
            <a:ext cx="3493008" cy="384048"/>
          </a:xfrm>
          <a:prstGeom prst="roundRect">
            <a:avLst>
              <a:gd name="adj" fmla="val 14286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2544" y="1335024"/>
            <a:ext cx="3163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在这里的价值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52544" y="1463040"/>
            <a:ext cx="3163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PSO contributes here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15968" y="179222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1737360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把工艺配方当成“粒子位置”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480560" y="1920240"/>
            <a:ext cx="3081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a process recipe as a particle position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15968" y="2322576"/>
            <a:ext cx="91440" cy="91440"/>
          </a:xfrm>
          <a:prstGeom prst="ellipse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2677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把实验得分当成“适应度”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80560" y="2450592"/>
            <a:ext cx="3081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the lab score as fitness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15968" y="2852928"/>
            <a:ext cx="91440" cy="91440"/>
          </a:xfrm>
          <a:prstGeom prst="ellipse">
            <a:avLst/>
          </a:prstGeom>
          <a:solidFill>
            <a:srgbClr val="2DAA84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798064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把高通量或并行小柱当成“群体实验平台”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480560" y="2980944"/>
            <a:ext cx="3081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mini-columns/HTPD as the swarm execution platform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15968" y="33832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328416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每一轮自动在探索和利用之间平衡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4480560" y="3511296"/>
            <a:ext cx="3081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 exploration and exploitation each round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15968" y="391363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3858768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最终输出不是单点，而是一片可用窗口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480560" y="4041648"/>
            <a:ext cx="3081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not just one point, but a workable region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83296" y="1298448"/>
            <a:ext cx="3529584" cy="2103120"/>
          </a:xfrm>
          <a:prstGeom prst="roundRect">
            <a:avLst>
              <a:gd name="adj" fmla="val 3478"/>
            </a:avLst>
          </a:prstGeom>
          <a:solidFill>
            <a:srgbClr val="FDFE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494776" y="3154680"/>
            <a:ext cx="2889504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94776" y="1554480"/>
            <a:ext cx="0" cy="160020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94776" y="2896271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89136" y="2551725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83496" y="2322027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77856" y="2135398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72216" y="1991838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49056" y="2850551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21624" y="320954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43416" y="2506005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15984" y="320954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637776" y="227630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10344" y="320954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232136" y="208967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04704" y="320954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826496" y="194611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99064" y="320954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1420856" y="187433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393424" y="320954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311896" y="142646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得分 Score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835640" y="326440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迭代 Iteration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247888" y="13441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典型收敛轨迹（示意）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Illustrative convergence curve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083296" y="3611880"/>
            <a:ext cx="3529584" cy="2103120"/>
          </a:xfrm>
          <a:prstGeom prst="roundRect">
            <a:avLst>
              <a:gd name="adj" fmla="val 3478"/>
            </a:avLst>
          </a:prstGeom>
          <a:solidFill>
            <a:srgbClr val="FDFE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586216" y="3931920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09253" y="3931920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32290" y="3931920"/>
            <a:ext cx="504749" cy="23774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155326" y="3931920"/>
            <a:ext cx="504749" cy="23774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78363" y="3931920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86216" y="4187952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09253" y="4187952"/>
            <a:ext cx="504749" cy="237744"/>
          </a:xfrm>
          <a:prstGeom prst="rect">
            <a:avLst/>
          </a:prstGeom>
          <a:solidFill>
            <a:srgbClr val="A7C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632290" y="4187952"/>
            <a:ext cx="504749" cy="237744"/>
          </a:xfrm>
          <a:prstGeom prst="rect">
            <a:avLst/>
          </a:prstGeom>
          <a:solidFill>
            <a:srgbClr val="6FA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155326" y="4187952"/>
            <a:ext cx="504749" cy="237744"/>
          </a:xfrm>
          <a:prstGeom prst="rect">
            <a:avLst/>
          </a:prstGeom>
          <a:solidFill>
            <a:srgbClr val="A7C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678363" y="4187952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86216" y="4443984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09253" y="4443984"/>
            <a:ext cx="504749" cy="237744"/>
          </a:xfrm>
          <a:prstGeom prst="rect">
            <a:avLst/>
          </a:prstGeom>
          <a:solidFill>
            <a:srgbClr val="A7C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32290" y="4443984"/>
            <a:ext cx="504749" cy="237744"/>
          </a:xfrm>
          <a:prstGeom prst="rect">
            <a:avLst/>
          </a:prstGeom>
          <a:solidFill>
            <a:srgbClr val="2F6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55326" y="4443984"/>
            <a:ext cx="504749" cy="237744"/>
          </a:xfrm>
          <a:prstGeom prst="rect">
            <a:avLst/>
          </a:prstGeom>
          <a:solidFill>
            <a:srgbClr val="6FA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678363" y="4443984"/>
            <a:ext cx="504749" cy="23774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586216" y="4700016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09253" y="4700016"/>
            <a:ext cx="504749" cy="23774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32290" y="4700016"/>
            <a:ext cx="504749" cy="237744"/>
          </a:xfrm>
          <a:prstGeom prst="rect">
            <a:avLst/>
          </a:prstGeom>
          <a:solidFill>
            <a:srgbClr val="6FA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55326" y="4700016"/>
            <a:ext cx="504749" cy="237744"/>
          </a:xfrm>
          <a:prstGeom prst="rect">
            <a:avLst/>
          </a:prstGeom>
          <a:solidFill>
            <a:srgbClr val="A7C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678363" y="4700016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86216" y="4956048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09253" y="4956048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32290" y="4956048"/>
            <a:ext cx="504749" cy="23774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155326" y="4956048"/>
            <a:ext cx="504749" cy="23774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678363" y="4956048"/>
            <a:ext cx="504749" cy="23774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78594" y="455371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714586" y="473659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247888" y="36576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操作窗口热图（示意）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Illustrative sweet-spot map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9449227" y="55504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 →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 rot="16200000">
            <a:off x="8156448" y="4498848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Conductivity ↑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169664" y="5422392"/>
            <a:ext cx="3566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43400" y="55595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 / In one sentence:  PSO 最擅长的是“快速缩小搜索空间”，尤其适合先找最佳操作区，再做小范围确认。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04. 类似技术对比：DoE、RSM、BO、PSO 应该怎么选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with neighboring methods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不是“谁绝对更好”，而是“谁更适合当前实验形态”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556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417320"/>
            <a:ext cx="1209082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63040"/>
            <a:ext cx="111764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 / Method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58890" y="1417320"/>
            <a:ext cx="2198331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4610" y="1463040"/>
            <a:ext cx="210689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核心逻辑 / Core logic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57221" y="1417320"/>
            <a:ext cx="2637997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2941" y="1463040"/>
            <a:ext cx="254655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优点 / Strengths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95217" y="1417320"/>
            <a:ext cx="2418164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40937" y="1463040"/>
            <a:ext cx="23267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短板 / Limitations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13381" y="1417320"/>
            <a:ext cx="2198331" cy="50292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9101" y="1463040"/>
            <a:ext cx="210689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更适合 / Best when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" y="1920240"/>
            <a:ext cx="120908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1956816"/>
            <a:ext cx="111764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DoE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1958890" y="1920240"/>
            <a:ext cx="21983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04610" y="195681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系统设计实验点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Structured experimental design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157221" y="1920240"/>
            <a:ext cx="2637997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2941" y="1956816"/>
            <a:ext cx="254655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效应解释强，利于工艺表征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Strong factor interpretation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795217" y="1920240"/>
            <a:ext cx="24181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40937" y="1956816"/>
            <a:ext cx="23267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高维时点数快速增长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Runs grow quickly with dimension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9213381" y="1920240"/>
            <a:ext cx="21983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59101" y="195681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做筛选、识别主效应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Screening and factor understanding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49808" y="2423160"/>
            <a:ext cx="1209082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2459736"/>
            <a:ext cx="111764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RSM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1958890" y="2423160"/>
            <a:ext cx="2198331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04610" y="245973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局部二次曲面拟合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quadratic response surface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157221" y="2423160"/>
            <a:ext cx="2637997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2941" y="2459736"/>
            <a:ext cx="254655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局部优化、稳健性好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Good local optimization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795217" y="2423160"/>
            <a:ext cx="2418164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0937" y="2459736"/>
            <a:ext cx="23267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需要较平滑且局部单峰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 best for smooth local regions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9213381" y="2423160"/>
            <a:ext cx="2198331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59101" y="245973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已接近最优区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Near-optimum polishing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749808" y="2926080"/>
            <a:ext cx="120908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2962656"/>
            <a:ext cx="111764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1958890" y="2926080"/>
            <a:ext cx="21983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04610" y="296265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交叉 + 变异 + 选择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Evolutionary recombination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4157221" y="2926080"/>
            <a:ext cx="2637997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2941" y="2962656"/>
            <a:ext cx="254655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离散/组合变量友好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Good for discrete/combinatorial spaces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6795217" y="2926080"/>
            <a:ext cx="24181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0937" y="2962656"/>
            <a:ext cx="23267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参数较多，收敛解释弱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More hyperparameters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9213381" y="2926080"/>
            <a:ext cx="21983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59101" y="296265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配方组合、离散选择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Recipe selection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749808" y="3429000"/>
            <a:ext cx="1209082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" y="3465576"/>
            <a:ext cx="111764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1958890" y="3429000"/>
            <a:ext cx="2198331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04610" y="346557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代理模型 + 采集函数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Surrogate + acquisition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4157221" y="3429000"/>
            <a:ext cx="2637997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2941" y="3465576"/>
            <a:ext cx="254655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实验最省、对昂贵实验友好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Data-efficient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6795217" y="3429000"/>
            <a:ext cx="2418164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40937" y="3465576"/>
            <a:ext cx="23267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常偏顺序式；对代理模型较敏感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Often sequential; surrogate-sensitive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9213381" y="3429000"/>
            <a:ext cx="2198331" cy="50292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59101" y="346557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实验特别昂贵、预算很小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Very expensive experiments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749808" y="3931920"/>
            <a:ext cx="120908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" y="3968496"/>
            <a:ext cx="111764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1958890" y="3931920"/>
            <a:ext cx="21983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04610" y="396849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群体搜索 + 经验更新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Swarm search + memory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4157221" y="3931920"/>
            <a:ext cx="2637997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2941" y="3968496"/>
            <a:ext cx="2546557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并行友好、实现直观、适合黑箱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Parallel, intuitive, black-box-ready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6795217" y="3931920"/>
            <a:ext cx="24181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40937" y="3968496"/>
            <a:ext cx="23267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若约束复杂，需额外处理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Needs explicit constraint handling</a:t>
            </a:r>
            <a:endParaRPr lang="en-US" sz="970" dirty="0"/>
          </a:p>
        </p:txBody>
      </p:sp>
      <p:sp>
        <p:nvSpPr>
          <p:cNvPr id="64" name="Shape 62"/>
          <p:cNvSpPr/>
          <p:nvPr/>
        </p:nvSpPr>
        <p:spPr>
          <a:xfrm>
            <a:off x="9213381" y="3931920"/>
            <a:ext cx="21983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59101" y="3968496"/>
            <a:ext cx="2106891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可并行跑一批条件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Parallel lab batches</a:t>
            </a:r>
            <a:endParaRPr lang="en-US" sz="970" dirty="0"/>
          </a:p>
        </p:txBody>
      </p:sp>
      <p:sp>
        <p:nvSpPr>
          <p:cNvPr id="66" name="Shape 64"/>
          <p:cNvSpPr/>
          <p:nvPr/>
        </p:nvSpPr>
        <p:spPr>
          <a:xfrm>
            <a:off x="640080" y="50749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841248" y="523951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何时优先选 PSO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841248" y="5477256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favor PSO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41248" y="584301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5840" y="57881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实验可并行、响应可能多峰、且你最关心“尽快找到好条件”。</a:t>
            </a:r>
            <a:endParaRPr lang="en-US" sz="1550" dirty="0"/>
          </a:p>
        </p:txBody>
      </p:sp>
      <p:sp>
        <p:nvSpPr>
          <p:cNvPr id="71" name="Text 69"/>
          <p:cNvSpPr/>
          <p:nvPr/>
        </p:nvSpPr>
        <p:spPr>
          <a:xfrm>
            <a:off x="932688" y="62636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PSO when experiments can run in parallel and you care about finding a good region quickly.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343400" y="50749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ECFDF3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544568" y="523951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何时优先选 BO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4544568" y="5477256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favor BO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544568" y="584301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09160" y="57881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每次实验极贵，轮次很少，希望每一个新点都尽量“值回票价”。</a:t>
            </a:r>
            <a:endParaRPr lang="en-US" sz="1550" dirty="0"/>
          </a:p>
        </p:txBody>
      </p:sp>
      <p:sp>
        <p:nvSpPr>
          <p:cNvPr id="77" name="Text 75"/>
          <p:cNvSpPr/>
          <p:nvPr/>
        </p:nvSpPr>
        <p:spPr>
          <a:xfrm>
            <a:off x="4636008" y="62636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BO when each experiment is extremely expensive and every new point must be highly informative.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046720" y="50749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7E8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8247888" y="523951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最实用的组合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8247888" y="5477256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practical hybrid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8247888" y="584301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412480" y="57881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先用 DoE/预筛定范围，再用 PSO 收缩窗口，最后用确认实验或局部 RSM 做稳健性。</a:t>
            </a:r>
            <a:endParaRPr lang="en-US" sz="1550" dirty="0"/>
          </a:p>
        </p:txBody>
      </p:sp>
      <p:sp>
        <p:nvSpPr>
          <p:cNvPr id="83" name="Text 81"/>
          <p:cNvSpPr/>
          <p:nvPr/>
        </p:nvSpPr>
        <p:spPr>
          <a:xfrm>
            <a:off x="8339328" y="62636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pragmatic path is DoE/scouting -&gt; PSO windowing -&gt; confirmation or local RSM for robustness.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05. 把问题落到单抗 CEX：我们到底在优化什么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exactly are we optimizing in mAb CEX?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以下流程是面向“抛光或中间纯化”的真实开发模板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553212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61872"/>
            <a:ext cx="5166360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335024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单抗平台流程中的 CEX 位置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1463040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CEX sits in the platform process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96012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854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Protein A 捕获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Capture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1783080" y="2322576"/>
            <a:ext cx="219456" cy="0"/>
          </a:xfrm>
          <a:prstGeom prst="line">
            <a:avLst/>
          </a:prstGeom>
          <a:noFill/>
          <a:ln w="12700">
            <a:solidFill>
              <a:srgbClr val="A3B1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011680" y="2011680"/>
            <a:ext cx="960120" cy="621792"/>
          </a:xfrm>
          <a:prstGeom prst="roundRect">
            <a:avLst>
              <a:gd name="adj" fmla="val 8824"/>
            </a:avLst>
          </a:prstGeom>
          <a:solidFill>
            <a:srgbClr val="EEF8F3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1854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 pH 病毒灭活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3017520" y="2322576"/>
            <a:ext cx="219456" cy="0"/>
          </a:xfrm>
          <a:prstGeom prst="line">
            <a:avLst/>
          </a:prstGeom>
          <a:noFill/>
          <a:ln w="12700">
            <a:solidFill>
              <a:srgbClr val="A3B1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46120" y="2011680"/>
            <a:ext cx="960120" cy="621792"/>
          </a:xfrm>
          <a:prstGeom prst="roundRect">
            <a:avLst>
              <a:gd name="adj" fmla="val 8824"/>
            </a:avLst>
          </a:prstGeom>
          <a:solidFill>
            <a:srgbClr val="FFF7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1854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过滤 / UFDF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Filtration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251960" y="2322576"/>
            <a:ext cx="219456" cy="0"/>
          </a:xfrm>
          <a:prstGeom prst="line">
            <a:avLst/>
          </a:prstGeom>
          <a:noFill/>
          <a:ln w="12700">
            <a:solidFill>
              <a:srgbClr val="A3B1C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80560" y="2011680"/>
            <a:ext cx="960120" cy="621792"/>
          </a:xfrm>
          <a:prstGeom prst="roundRect">
            <a:avLst>
              <a:gd name="adj" fmla="val 8824"/>
            </a:avLst>
          </a:prstGeom>
          <a:solidFill>
            <a:srgbClr val="FFF1F3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1854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8F16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CEX 抛光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8F16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CEX polish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86384" y="297180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 CEX 难：产品和杂质都带电，且 charge variants、聚集体、HCP、DNA、Protein A 残留可能对 pH/盐/梯度高度敏感。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Why CEX is hard: product and impurities are all charge-driven, and charge variants, aggregates, HCP, DNA, and leached Protein A can all respond strongly to pH, salt, and gradient shape.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85800" y="3822192"/>
            <a:ext cx="5166360" cy="384048"/>
          </a:xfrm>
          <a:prstGeom prst="roundRect">
            <a:avLst>
              <a:gd name="adj" fmla="val 14286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895344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可优化变量示例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" y="4023360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decision variables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4224528"/>
            <a:ext cx="1325880" cy="347472"/>
          </a:xfrm>
          <a:prstGeom prst="rect">
            <a:avLst/>
          </a:prstGeom>
          <a:solidFill>
            <a:srgbClr val="EAF8F0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4270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 / Variable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30552" y="4224528"/>
            <a:ext cx="3593592" cy="347472"/>
          </a:xfrm>
          <a:prstGeom prst="rect">
            <a:avLst/>
          </a:prstGeom>
          <a:solidFill>
            <a:srgbClr val="EAF8F0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6272" y="427024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常见角色 / Why it matters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" y="457200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6085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装载/平衡 pH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Load / equilibration pH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130552" y="4572000"/>
            <a:ext cx="359359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4608576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决定产品净电荷和结合强度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Controls net charge and binding strength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804672" y="4919472"/>
            <a:ext cx="1325880" cy="3474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49560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装载导电率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Load conductivity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2130552" y="4919472"/>
            <a:ext cx="3593592" cy="3474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4956048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影响结合选择性与穿透风险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Sets selectivity vs. breakthrough risk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804672" y="5266944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5303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洗脱起点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Elution start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2130552" y="5266944"/>
            <a:ext cx="359359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6272" y="530352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决定主峰何时开始移动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Determines when the main peak starts moving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804672" y="5614416"/>
            <a:ext cx="1325880" cy="3474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5650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梯度斜率或 CV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Gradient slope / CV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2130552" y="5614416"/>
            <a:ext cx="3593592" cy="3474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76272" y="5650992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影响分辨率、收率、节拍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Trades off resolution, yield, and cycle time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804672" y="596188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" y="59984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流速 / 载量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Flow / load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2130552" y="5961888"/>
            <a:ext cx="359359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76272" y="599846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影响产能与峰展宽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Affects productivity and peak broadening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6263640" y="1115568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64808" y="1280160"/>
            <a:ext cx="4992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这次重点：pH、导电率、洗脱梯度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64808" y="1517904"/>
            <a:ext cx="4992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focus: pH, conductivity, elution gradient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64808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18288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如果只优化三个变量，也足够让 PSO 发挥价值。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6629400" y="2011680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a three-variable PSO can create real value.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64808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9400" y="230428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建议先固定树脂、柱高、流速、样品来源，再优化这三个主旋钮。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6629400" y="248716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resin, column geometry, flow, and feed source first, then optimize the three key knobs.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382512" y="3429000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FFF7E8"/>
          </a:solidFill>
          <a:ln w="12700">
            <a:solidFill>
              <a:srgbClr val="FFF7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47104" y="3502152"/>
            <a:ext cx="4745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一个可执行的示例设计空间（示意）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547104" y="3630168"/>
            <a:ext cx="4745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realistic example design space (illustrative)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492240" y="3822192"/>
            <a:ext cx="1188720" cy="429768"/>
          </a:xfrm>
          <a:prstGeom prst="rect">
            <a:avLst/>
          </a:prstGeom>
          <a:solidFill>
            <a:srgbClr val="FFF5E8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3867912"/>
            <a:ext cx="10972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 / Parameter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680960" y="3822192"/>
            <a:ext cx="1371600" cy="429768"/>
          </a:xfrm>
          <a:prstGeom prst="rect">
            <a:avLst/>
          </a:prstGeom>
          <a:solidFill>
            <a:srgbClr val="FFF5E8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26680" y="386791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建议起始范围 / Starting range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052560" y="3822192"/>
            <a:ext cx="2286000" cy="429768"/>
          </a:xfrm>
          <a:prstGeom prst="rect">
            <a:avLst/>
          </a:prstGeom>
          <a:solidFill>
            <a:srgbClr val="FFF5E8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98280" y="3867912"/>
            <a:ext cx="2194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备注 / Notes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492240" y="4251960"/>
            <a:ext cx="1188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4288536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平衡/装载 pH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Load pH</a:t>
            </a:r>
            <a:endParaRPr lang="en-US" sz="970" dirty="0"/>
          </a:p>
        </p:txBody>
      </p:sp>
      <p:sp>
        <p:nvSpPr>
          <p:cNvPr id="68" name="Shape 66"/>
          <p:cNvSpPr/>
          <p:nvPr/>
        </p:nvSpPr>
        <p:spPr>
          <a:xfrm>
            <a:off x="7680960" y="4251960"/>
            <a:ext cx="1371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26680" y="428853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5.0 - 6.0</a:t>
            </a:r>
            <a:endParaRPr lang="en-US" sz="970" dirty="0"/>
          </a:p>
        </p:txBody>
      </p:sp>
      <p:sp>
        <p:nvSpPr>
          <p:cNvPr id="70" name="Shape 68"/>
          <p:cNvSpPr/>
          <p:nvPr/>
        </p:nvSpPr>
        <p:spPr>
          <a:xfrm>
            <a:off x="9052560" y="4251960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98280" y="428853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 IgG1 pI 较高，可从 pI-0.5 到 pI-1.5 附近起步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 around pI-0.5 to pI-1.5 for a basic mAb</a:t>
            </a:r>
            <a:endParaRPr lang="en-US" sz="970" dirty="0"/>
          </a:p>
        </p:txBody>
      </p:sp>
      <p:sp>
        <p:nvSpPr>
          <p:cNvPr id="72" name="Shape 70"/>
          <p:cNvSpPr/>
          <p:nvPr/>
        </p:nvSpPr>
        <p:spPr>
          <a:xfrm>
            <a:off x="6492240" y="4681728"/>
            <a:ext cx="1188720" cy="4297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4718304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装载导电率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Load cond.</a:t>
            </a:r>
            <a:endParaRPr lang="en-US" sz="970" dirty="0"/>
          </a:p>
        </p:txBody>
      </p:sp>
      <p:sp>
        <p:nvSpPr>
          <p:cNvPr id="74" name="Shape 72"/>
          <p:cNvSpPr/>
          <p:nvPr/>
        </p:nvSpPr>
        <p:spPr>
          <a:xfrm>
            <a:off x="7680960" y="4681728"/>
            <a:ext cx="1371600" cy="4297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26680" y="471830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2 - 8 mS/cm</a:t>
            </a:r>
            <a:endParaRPr lang="en-US" sz="970" dirty="0"/>
          </a:p>
        </p:txBody>
      </p:sp>
      <p:sp>
        <p:nvSpPr>
          <p:cNvPr id="76" name="Shape 74"/>
          <p:cNvSpPr/>
          <p:nvPr/>
        </p:nvSpPr>
        <p:spPr>
          <a:xfrm>
            <a:off x="9052560" y="4681728"/>
            <a:ext cx="2286000" cy="4297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98280" y="471830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太低可能过强结合，太高可能穿透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 low = overbinding; too high = breakthrough</a:t>
            </a:r>
            <a:endParaRPr lang="en-US" sz="970" dirty="0"/>
          </a:p>
        </p:txBody>
      </p:sp>
      <p:sp>
        <p:nvSpPr>
          <p:cNvPr id="78" name="Shape 76"/>
          <p:cNvSpPr/>
          <p:nvPr/>
        </p:nvSpPr>
        <p:spPr>
          <a:xfrm>
            <a:off x="6492240" y="5111496"/>
            <a:ext cx="1188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37960" y="5148072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梯度终点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Gradient end</a:t>
            </a:r>
            <a:endParaRPr lang="en-US" sz="970" dirty="0"/>
          </a:p>
        </p:txBody>
      </p:sp>
      <p:sp>
        <p:nvSpPr>
          <p:cNvPr id="80" name="Shape 78"/>
          <p:cNvSpPr/>
          <p:nvPr/>
        </p:nvSpPr>
        <p:spPr>
          <a:xfrm>
            <a:off x="7680960" y="5111496"/>
            <a:ext cx="1371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726680" y="514807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25 - 60 mS/cm</a:t>
            </a:r>
            <a:endParaRPr lang="en-US" sz="970" dirty="0"/>
          </a:p>
        </p:txBody>
      </p:sp>
      <p:sp>
        <p:nvSpPr>
          <p:cNvPr id="82" name="Shape 80"/>
          <p:cNvSpPr/>
          <p:nvPr/>
        </p:nvSpPr>
        <p:spPr>
          <a:xfrm>
            <a:off x="9052560" y="5111496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098280" y="514807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也可改写为终点%B 或总盐浓度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 also be expressed as end %B or salt</a:t>
            </a:r>
            <a:endParaRPr lang="en-US" sz="970" dirty="0"/>
          </a:p>
        </p:txBody>
      </p:sp>
      <p:sp>
        <p:nvSpPr>
          <p:cNvPr id="84" name="Shape 82"/>
          <p:cNvSpPr/>
          <p:nvPr/>
        </p:nvSpPr>
        <p:spPr>
          <a:xfrm>
            <a:off x="6492240" y="5541264"/>
            <a:ext cx="1188720" cy="4297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37960" y="557784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梯度长度</a:t>
            </a:r>
            <a:endParaRPr lang="en-US" sz="970" dirty="0"/>
          </a:p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Gradient length</a:t>
            </a:r>
            <a:endParaRPr lang="en-US" sz="970" dirty="0"/>
          </a:p>
        </p:txBody>
      </p:sp>
      <p:sp>
        <p:nvSpPr>
          <p:cNvPr id="86" name="Shape 84"/>
          <p:cNvSpPr/>
          <p:nvPr/>
        </p:nvSpPr>
        <p:spPr>
          <a:xfrm>
            <a:off x="7680960" y="5541264"/>
            <a:ext cx="1371600" cy="4297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26680" y="557784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10 - 30 CV</a:t>
            </a:r>
            <a:endParaRPr lang="en-US" sz="970" dirty="0"/>
          </a:p>
        </p:txBody>
      </p:sp>
      <p:sp>
        <p:nvSpPr>
          <p:cNvPr id="88" name="Shape 86"/>
          <p:cNvSpPr/>
          <p:nvPr/>
        </p:nvSpPr>
        <p:spPr>
          <a:xfrm>
            <a:off x="9052560" y="5541264"/>
            <a:ext cx="2286000" cy="42976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098280" y="557784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短梯度快，但可能牺牲分辨率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Shorter is faster but may reduce resolution</a:t>
            </a:r>
            <a:endParaRPr lang="en-US" sz="9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06. 先定义评分函数：PSO 不是盲搜，而是按你的目标前进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score before you search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目标清楚，PSO 才会朝着正确方向收敛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337560" cy="51206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280160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为什么先要评分函数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2935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scoring comes first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只知道“哪个条件更好”，所以要把业务目标变成一个数。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5528" y="44439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PSO only knows which recipe is better, so business goals must be encoded as a score.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4088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541355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如果只追求纯度，可能牺牲收率；如果只追求收率，可能放走杂质。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5528" y="491947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Purity-only scoring may sacrifice yield; yield-only scoring may leak impurities.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" y="2834640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36299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最稳妥的做法是“加权目标 + 约束惩罚”。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5528" y="539496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robust approach is weighted objectives plus constraint penalties.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69080" y="1115568"/>
            <a:ext cx="3794760" cy="2057400"/>
          </a:xfrm>
          <a:prstGeom prst="roundRect">
            <a:avLst>
              <a:gd name="adj" fmla="val 3556"/>
            </a:avLst>
          </a:prstGeom>
          <a:solidFill>
            <a:srgbClr val="EEF4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0" y="13533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一个实用的示例评分函数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practical example score</a:t>
            </a:r>
            <a:endParaRPr lang="en-US" sz="18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120" y="1755648"/>
            <a:ext cx="3154680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297680" y="2194560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 = 收率归一化；P = 单体纯度；CHCP / CHMW = 杂质清除能力；T = 周期时间；Penalty = 违反硬约束时的扣分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 = normalized yield; P = monomer purity; CHCP / CHMW = impurity clearance scores; T = cycle time; Penalty = deduction for violated hard constraints.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069080" y="3401568"/>
            <a:ext cx="37947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279392" y="3657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硬约束建议 / Suggested hard constraints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315968" y="403250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480560" y="3977640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主峰单体纯度 &gt;= 98.0%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4480560" y="4160520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Monomer purity &gt;= 98.0%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315968" y="44805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80560" y="4425696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HCP &lt;= 100 ppm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4480560" y="4608576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HCP &lt;= 100 ppm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315968" y="4928616"/>
            <a:ext cx="91440" cy="91440"/>
          </a:xfrm>
          <a:prstGeom prst="ellipse">
            <a:avLst/>
          </a:prstGeom>
          <a:solidFill>
            <a:srgbClr val="2DAA84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80560" y="4873752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HMW &lt;= 1.0%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4480560" y="5056632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HMW &lt;= 1.0%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315968" y="5376672"/>
            <a:ext cx="91440" cy="91440"/>
          </a:xfrm>
          <a:prstGeom prst="ellipse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80560" y="532180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柱压、流速、缓冲液能力不超设备边界</a:t>
            </a:r>
            <a:endParaRPr lang="en-US" sz="1550" dirty="0"/>
          </a:p>
        </p:txBody>
      </p:sp>
      <p:sp>
        <p:nvSpPr>
          <p:cNvPr id="34" name="Text 31"/>
          <p:cNvSpPr/>
          <p:nvPr/>
        </p:nvSpPr>
        <p:spPr>
          <a:xfrm>
            <a:off x="4480560" y="5504688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within pressure, flow, and buffer limits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315968" y="582472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80560" y="5769864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装载条件下不能出现明显穿透</a:t>
            </a:r>
            <a:endParaRPr lang="en-US" sz="1550" dirty="0"/>
          </a:p>
        </p:txBody>
      </p:sp>
      <p:sp>
        <p:nvSpPr>
          <p:cNvPr id="37" name="Text 34"/>
          <p:cNvSpPr/>
          <p:nvPr/>
        </p:nvSpPr>
        <p:spPr>
          <a:xfrm>
            <a:off x="4480560" y="5952744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obvious breakthrough at load conditions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101584" y="1115568"/>
            <a:ext cx="3538728" cy="5120640"/>
          </a:xfrm>
          <a:prstGeom prst="roundRect">
            <a:avLst>
              <a:gd name="adj" fmla="val 2067"/>
            </a:avLst>
          </a:prstGeom>
          <a:solidFill>
            <a:srgbClr val="F8FAFC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8339328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评分设计的经验法则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Rules of thumb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8302752" y="186537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67344" y="1810512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先把所有指标归一化到 0-1</a:t>
            </a:r>
            <a:endParaRPr lang="en-US" sz="1550" dirty="0"/>
          </a:p>
        </p:txBody>
      </p:sp>
      <p:sp>
        <p:nvSpPr>
          <p:cNvPr id="42" name="Text 39"/>
          <p:cNvSpPr/>
          <p:nvPr/>
        </p:nvSpPr>
        <p:spPr>
          <a:xfrm>
            <a:off x="8467344" y="1993392"/>
            <a:ext cx="2898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each response to 0-1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302752" y="241401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467344" y="2359152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先设硬阈值，再谈权重</a:t>
            </a:r>
            <a:endParaRPr lang="en-US" sz="1550" dirty="0"/>
          </a:p>
        </p:txBody>
      </p:sp>
      <p:sp>
        <p:nvSpPr>
          <p:cNvPr id="45" name="Text 42"/>
          <p:cNvSpPr/>
          <p:nvPr/>
        </p:nvSpPr>
        <p:spPr>
          <a:xfrm>
            <a:off x="8467344" y="2542032"/>
            <a:ext cx="2898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hard thresholds before weights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302752" y="29626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67344" y="2907792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权重反映项目优先级，而不是数学美观</a:t>
            </a:r>
            <a:endParaRPr lang="en-US" sz="1550" dirty="0"/>
          </a:p>
        </p:txBody>
      </p:sp>
      <p:sp>
        <p:nvSpPr>
          <p:cNvPr id="48" name="Text 45"/>
          <p:cNvSpPr/>
          <p:nvPr/>
        </p:nvSpPr>
        <p:spPr>
          <a:xfrm>
            <a:off x="8467344" y="3090672"/>
            <a:ext cx="2898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Weights should reflect project priorities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302752" y="3511296"/>
            <a:ext cx="91440" cy="91440"/>
          </a:xfrm>
          <a:prstGeom prst="ellipse">
            <a:avLst/>
          </a:prstGeom>
          <a:solidFill>
            <a:srgbClr val="2DAA84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467344" y="3456432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每轮都保存原始响应，不只保存总分</a:t>
            </a:r>
            <a:endParaRPr lang="en-US" sz="1550" dirty="0"/>
          </a:p>
        </p:txBody>
      </p:sp>
      <p:sp>
        <p:nvSpPr>
          <p:cNvPr id="51" name="Text 48"/>
          <p:cNvSpPr/>
          <p:nvPr/>
        </p:nvSpPr>
        <p:spPr>
          <a:xfrm>
            <a:off x="8467344" y="3639312"/>
            <a:ext cx="2898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raw responses, not only the score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302752" y="4059936"/>
            <a:ext cx="91440" cy="91440"/>
          </a:xfrm>
          <a:prstGeom prst="ellipse">
            <a:avLst/>
          </a:prstGeom>
          <a:solidFill>
            <a:srgbClr val="1D8CA1"/>
          </a:solidFill>
          <a:ln w="12700">
            <a:solidFill>
              <a:srgbClr val="1D8CA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467344" y="4005072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最后要看“窗口”而不是只看最优单点</a:t>
            </a:r>
            <a:endParaRPr lang="en-US" sz="1550" dirty="0"/>
          </a:p>
        </p:txBody>
      </p:sp>
      <p:sp>
        <p:nvSpPr>
          <p:cNvPr id="54" name="Text 51"/>
          <p:cNvSpPr/>
          <p:nvPr/>
        </p:nvSpPr>
        <p:spPr>
          <a:xfrm>
            <a:off x="8467344" y="4187952"/>
            <a:ext cx="2898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a robust region, not only the top point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07. 真实方案：PSO 用在某个单抗 CEX 的 step-by-step 流程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Step-by-step implementation for one mAb CEX case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目标：快速找到 pH、导电率、洗脱梯度的最佳操作区间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1298448" y="1353312"/>
            <a:ext cx="868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98648" y="1353312"/>
            <a:ext cx="868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98848" y="1353312"/>
            <a:ext cx="868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99048" y="1353312"/>
            <a:ext cx="868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99248" y="1353312"/>
            <a:ext cx="868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299448" y="1353312"/>
            <a:ext cx="868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899648" y="1353312"/>
            <a:ext cx="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48640" y="1417320"/>
            <a:ext cx="1234440" cy="2331720"/>
          </a:xfrm>
          <a:prstGeom prst="roundRect">
            <a:avLst>
              <a:gd name="adj" fmla="val 5926"/>
            </a:avLst>
          </a:prstGeom>
          <a:solidFill>
            <a:srgbClr val="EEF4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0976" y="1115568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2252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16276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问题定义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target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" y="2084832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固定树脂/柱体积/样品来源，明确 CQAs、KPIs、硬约束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1417320"/>
            <a:ext cx="1234440" cy="2331720"/>
          </a:xfrm>
          <a:prstGeom prst="roundRect">
            <a:avLst>
              <a:gd name="adj" fmla="val 5926"/>
            </a:avLst>
          </a:prstGeom>
          <a:solidFill>
            <a:srgbClr val="ECFDF3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51176" y="1115568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1176" y="12252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40280" y="16276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预筛范围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40280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Scout ranges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31136" y="2084832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8-16 个条件快速摸清能结合、能洗脱、能分离的范围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49040" y="1417320"/>
            <a:ext cx="1234440" cy="2331720"/>
          </a:xfrm>
          <a:prstGeom prst="roundRect">
            <a:avLst>
              <a:gd name="adj" fmla="val 5926"/>
            </a:avLst>
          </a:prstGeom>
          <a:solidFill>
            <a:srgbClr val="FFF7E8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51376" y="1115568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51376" y="12252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16276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变量编码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space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31336" y="2084832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pH、导电率、梯度参数映射到数值边界与约束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49240" y="1417320"/>
            <a:ext cx="1234440" cy="2331720"/>
          </a:xfrm>
          <a:prstGeom prst="roundRect">
            <a:avLst>
              <a:gd name="adj" fmla="val 5926"/>
            </a:avLst>
          </a:prstGeom>
          <a:solidFill>
            <a:srgbClr val="FFF1F3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51576" y="1115568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51576" y="12252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16276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首轮群体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swarm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31536" y="2084832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10-16 个粒子均匀铺开首轮实验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49440" y="1417320"/>
            <a:ext cx="1234440" cy="2331720"/>
          </a:xfrm>
          <a:prstGeom prst="roundRect">
            <a:avLst>
              <a:gd name="adj" fmla="val 5926"/>
            </a:avLst>
          </a:prstGeom>
          <a:solidFill>
            <a:srgbClr val="EEF4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51776" y="1115568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51776" y="12252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0880" y="16276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实验执行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batch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31736" y="2084832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并行跑小柱 / 板式 / ÄKTA 方法，采集纯度、收率、HCP 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549640" y="1417320"/>
            <a:ext cx="1234440" cy="2331720"/>
          </a:xfrm>
          <a:prstGeom prst="roundRect">
            <a:avLst>
              <a:gd name="adj" fmla="val 5926"/>
            </a:avLst>
          </a:prstGeom>
          <a:solidFill>
            <a:srgbClr val="ECFDF3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951976" y="1115568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51976" y="12252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41080" y="16276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更新迭代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641080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swarm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631936" y="2084832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计算 score，更新 pbest/gbest，生成下一轮条件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149840" y="1417320"/>
            <a:ext cx="1234440" cy="2331720"/>
          </a:xfrm>
          <a:prstGeom prst="roundRect">
            <a:avLst>
              <a:gd name="adj" fmla="val 5926"/>
            </a:avLst>
          </a:prstGeom>
          <a:solidFill>
            <a:srgbClr val="FFF7E8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552176" y="1115568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52176" y="122529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241280" y="16276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确认放大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241280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232136" y="2084832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 3-5 个确认点 + 1 个稳健性环，输出可放大的窗口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40690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49808" y="423367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推荐的首轮设置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749808" y="4471416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first-round setup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49808" y="483717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4782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粒子数 10-16；迭代 4-6 轮；惯性 w 0.4-0.9 线性递减。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914400" y="496519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10-16 particles, 4-6 iterations, and linearly decrease inertia from 0.4-0.9.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49808" y="5312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5257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首轮尽量覆盖边界和中间，不要一开始就只围着“经验点”转。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914400" y="544068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 both edges and center in round 1; do not cluster only around a favorite recipe.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434840" y="40690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636008" y="423367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每轮必须采集什么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4636008" y="4471416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every round must measure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636008" y="483717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47823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主峰单体纯度、收率、HCP、HMW、周期时间、压力、是否穿透。</a:t>
            </a:r>
            <a:endParaRPr lang="en-US" sz="1550" dirty="0"/>
          </a:p>
        </p:txBody>
      </p:sp>
      <p:sp>
        <p:nvSpPr>
          <p:cNvPr id="68" name="Text 66"/>
          <p:cNvSpPr/>
          <p:nvPr/>
        </p:nvSpPr>
        <p:spPr>
          <a:xfrm>
            <a:off x="4800600" y="496519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minimum: monomer purity, yield, HCP, HMW, cycle time, pressure, and breakthrough risk.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636008" y="5312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5257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记录完整洗脱曲线，后续可做机理分析或训练代理模型。</a:t>
            </a:r>
            <a:endParaRPr lang="en-US" sz="1550" dirty="0"/>
          </a:p>
        </p:txBody>
      </p:sp>
      <p:sp>
        <p:nvSpPr>
          <p:cNvPr id="71" name="Text 69"/>
          <p:cNvSpPr/>
          <p:nvPr/>
        </p:nvSpPr>
        <p:spPr>
          <a:xfrm>
            <a:off x="4800600" y="544068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full elution profile for later mechanistic analysis or surrogate modeling.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321040" y="406908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8522208" y="4233672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停止规则建议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8522208" y="4471416"/>
            <a:ext cx="2935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stop criteria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522208" y="483717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86800" y="478231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连续两轮 gbest 提升 &lt; 1-2%，且高分点区域开始聚拢。</a:t>
            </a:r>
            <a:endParaRPr lang="en-US" sz="1550" dirty="0"/>
          </a:p>
        </p:txBody>
      </p:sp>
      <p:sp>
        <p:nvSpPr>
          <p:cNvPr id="77" name="Text 75"/>
          <p:cNvSpPr/>
          <p:nvPr/>
        </p:nvSpPr>
        <p:spPr>
          <a:xfrm>
            <a:off x="8686800" y="49651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gbest improves by &lt;1-2% for two rounds and high-score points cluster.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522208" y="5312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86800" y="52578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如果硬约束频繁被触发，先收窄边界，再继续 PSO。</a:t>
            </a:r>
            <a:endParaRPr lang="en-US" sz="1550" dirty="0"/>
          </a:p>
        </p:txBody>
      </p:sp>
      <p:sp>
        <p:nvSpPr>
          <p:cNvPr id="80" name="Text 78"/>
          <p:cNvSpPr/>
          <p:nvPr/>
        </p:nvSpPr>
        <p:spPr>
          <a:xfrm>
            <a:off x="8686800" y="544068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hard constraints are frequently violated, shrink the search bounds before continuing.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08. 把流程做细：实验怎么排、PSO 怎么算、数据怎么回写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details: experiment plan, PSO settings, data return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下面给的是一个“能在实验室里真正执行”的版本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4754880" cy="51206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261872"/>
            <a:ext cx="4425696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35024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A. 实验执行配置（示例）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4096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Example lab execution setup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1664208"/>
            <a:ext cx="1097280" cy="475488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709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 / Item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47088" y="1664208"/>
            <a:ext cx="3182112" cy="475488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709928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建议设置 / Suggested setting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139696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1762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树脂 / Resin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1847088" y="2139696"/>
            <a:ext cx="31821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92808" y="217627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同一批强阳离子树脂；柱床体积先固定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Keep one strong CEX resin lot; fix bed volume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749808" y="2615184"/>
            <a:ext cx="1097280" cy="47548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6517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平台 / Platform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1847088" y="2615184"/>
            <a:ext cx="3182112" cy="47548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265176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ÄKTA + 0.2-1.0 mL 小柱，或板式 HTPD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ÄKTA mini-columns or plate-based HTPD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749808" y="3090672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127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样品 / Feed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1847088" y="3090672"/>
            <a:ext cx="31821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92808" y="312724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固定中间液来源与预处理，避免跨批波动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Keep feed source and pre-treatment constant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49808" y="3566160"/>
            <a:ext cx="1097280" cy="47548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6027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每轮粒子数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1847088" y="3566160"/>
            <a:ext cx="3182112" cy="47548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92808" y="360273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个条件并行；每个条件至少 1 次注射</a:t>
            </a:r>
            <a:endParaRPr lang="en-US" sz="970" dirty="0"/>
          </a:p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conditions in parallel; &gt;=1 injection each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749808" y="4041648"/>
            <a:ext cx="1097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07822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 / Analytics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1847088" y="4041648"/>
            <a:ext cx="318211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92808" y="407822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UV280 + SEC/HPLC + HCP + conductivity/pH trace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440680" y="1115568"/>
            <a:ext cx="2743200" cy="51206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50992" y="1353312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B. PSO </a:t>
            </a:r>
            <a:r>
              <a:rPr lang="en-US" sz="1800" b="1" dirty="0" err="1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参数（建议起点</a:t>
            </a: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)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632704" y="186537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97296" y="181051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particles = 12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5797296" y="199339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个粒子与一块实验板/一轮小柱批次很匹配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32704" y="2414016"/>
            <a:ext cx="91440" cy="91440"/>
          </a:xfrm>
          <a:prstGeom prst="ellipse">
            <a:avLst/>
          </a:prstGeom>
          <a:solidFill>
            <a:srgbClr val="2DAA84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235915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iterations = 5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5797296" y="254203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通常 60 个实验以内即可得到较清楚的窗口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32704" y="29626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97296" y="290779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 = 0.85 → 0.45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5797296" y="309067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前大后小，先探索后收敛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32704" y="3511296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97296" y="345643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 = 1.4, c2 = 1.6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5797296" y="363931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兼顾个体记忆与群体收敛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32704" y="4059936"/>
            <a:ext cx="91440" cy="91440"/>
          </a:xfrm>
          <a:prstGeom prst="ellipse">
            <a:avLst/>
          </a:prstGeom>
          <a:solidFill>
            <a:srgbClr val="3FA9F5"/>
          </a:solidFill>
          <a:ln w="12700">
            <a:solidFill>
              <a:srgbClr val="3FA9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97296" y="400507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position clamp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5797296" y="418795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超出边界就回弹或截断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32704" y="4608576"/>
            <a:ext cx="91440" cy="91440"/>
          </a:xfrm>
          <a:prstGeom prst="ellipse">
            <a:avLst/>
          </a:prstGeom>
          <a:solidFill>
            <a:srgbClr val="1D8CA1"/>
          </a:solidFill>
          <a:ln w="12700">
            <a:solidFill>
              <a:srgbClr val="1D8CA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97296" y="4553712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seed + logbook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5797296" y="473659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保存随机种子与每轮原始响应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366760" y="1115568"/>
            <a:ext cx="3291840" cy="51206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577072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C. 数据回写逻辑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C. Data return loop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9144000" y="2286000"/>
            <a:ext cx="1691640" cy="0"/>
          </a:xfrm>
          <a:prstGeom prst="line">
            <a:avLst/>
          </a:prstGeom>
          <a:noFill/>
          <a:ln w="12700">
            <a:solidFill>
              <a:srgbClr val="9EB3C9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835640" y="2560320"/>
            <a:ext cx="0" cy="1600200"/>
          </a:xfrm>
          <a:prstGeom prst="line">
            <a:avLst/>
          </a:prstGeom>
          <a:noFill/>
          <a:ln w="12700">
            <a:solidFill>
              <a:srgbClr val="9EB3C9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0652760" y="4160520"/>
            <a:ext cx="0" cy="0"/>
          </a:xfrm>
          <a:prstGeom prst="line">
            <a:avLst/>
          </a:prstGeom>
          <a:noFill/>
          <a:ln w="12700">
            <a:solidFill>
              <a:srgbClr val="9EB3C9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9098280" y="3977640"/>
            <a:ext cx="0" cy="0"/>
          </a:xfrm>
          <a:prstGeom prst="line">
            <a:avLst/>
          </a:prstGeom>
          <a:noFill/>
          <a:ln w="12700">
            <a:solidFill>
              <a:srgbClr val="9EB3C9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308592" y="1901952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C8D3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63456" y="201168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生成条件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Generate</a:t>
            </a:r>
            <a:endParaRPr lang="en-US" sz="1120" dirty="0"/>
          </a:p>
        </p:txBody>
      </p:sp>
      <p:sp>
        <p:nvSpPr>
          <p:cNvPr id="61" name="Shape 59"/>
          <p:cNvSpPr/>
          <p:nvPr/>
        </p:nvSpPr>
        <p:spPr>
          <a:xfrm>
            <a:off x="10314432" y="2706624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ECFDF3"/>
          </a:solidFill>
          <a:ln w="12700">
            <a:solidFill>
              <a:srgbClr val="C8D3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69296" y="2816352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跑实验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</a:t>
            </a:r>
            <a:endParaRPr lang="en-US" sz="1120" dirty="0"/>
          </a:p>
        </p:txBody>
      </p:sp>
      <p:sp>
        <p:nvSpPr>
          <p:cNvPr id="63" name="Shape 61"/>
          <p:cNvSpPr/>
          <p:nvPr/>
        </p:nvSpPr>
        <p:spPr>
          <a:xfrm>
            <a:off x="9418320" y="3657600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C8D3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73184" y="376732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算得分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</a:t>
            </a:r>
            <a:endParaRPr lang="en-US" sz="1120" dirty="0"/>
          </a:p>
        </p:txBody>
      </p:sp>
      <p:sp>
        <p:nvSpPr>
          <p:cNvPr id="65" name="Shape 63"/>
          <p:cNvSpPr/>
          <p:nvPr/>
        </p:nvSpPr>
        <p:spPr>
          <a:xfrm>
            <a:off x="8549640" y="2779776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FF1F3"/>
          </a:solidFill>
          <a:ln w="12700">
            <a:solidFill>
              <a:srgbClr val="C8D3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04504" y="2889504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更新粒子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Update</a:t>
            </a:r>
            <a:endParaRPr lang="en-US" sz="1120" dirty="0"/>
          </a:p>
        </p:txBody>
      </p:sp>
      <p:sp>
        <p:nvSpPr>
          <p:cNvPr id="67" name="Text 65"/>
          <p:cNvSpPr/>
          <p:nvPr/>
        </p:nvSpPr>
        <p:spPr>
          <a:xfrm>
            <a:off x="8595360" y="4572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关键不是“跑算法”，而是把实验数据及时标准化并回写到下一轮。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real enabler is not the code alone, but fast, standardized data return into the next iteration.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09. 一个示例：PSO 如何把 CEX 操作区从“很宽”收缩到“可执行”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example of narrowing the operating window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本页数据为示意模板，用来说明执行逻辑，不代表某一真实分子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703320" cy="51206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2055" y="1225768"/>
            <a:ext cx="29375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示例项目设定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Illustrative project setup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1847088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9222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分子类型：IgG1 单抗，中和后进入 CEX。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9808" y="2423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68296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固定树脂与流速，只优化 4 个变量：pH、装载导电率、梯度终点、梯度 CV。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9808" y="2999232"/>
            <a:ext cx="91440" cy="91440"/>
          </a:xfrm>
          <a:prstGeom prst="ellipse">
            <a:avLst/>
          </a:prstGeom>
          <a:solidFill>
            <a:srgbClr val="2DAA84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4436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目标：单体纯度 &gt;=98%，HCP &lt;100 ppm，同时尽量保收率。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5528" y="3783311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28447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实验预算：12 粒子 x 5 轮 = 60 次。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5820" y="3999951"/>
            <a:ext cx="2990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Budget: 12 particles x 5 iterations = 60 experiments.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DFE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43000" y="5559552"/>
            <a:ext cx="2606040" cy="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4645152"/>
            <a:ext cx="0" cy="914400"/>
          </a:xfrm>
          <a:prstGeom prst="line">
            <a:avLst/>
          </a:prstGeom>
          <a:noFill/>
          <a:ln w="12700">
            <a:solidFill>
              <a:srgbClr val="9AA4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5424587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5244633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5124663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5027188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4952208"/>
            <a:ext cx="594360" cy="0"/>
          </a:xfrm>
          <a:prstGeom prst="line">
            <a:avLst/>
          </a:prstGeom>
          <a:noFill/>
          <a:ln w="12700">
            <a:solidFill>
              <a:srgbClr val="2F6B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537886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" y="561441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91640" y="5198913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64208" y="561441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0" y="5078943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58568" y="561441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80360" y="49814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561441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0" y="490648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561441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69080" y="486899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561441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60120" y="451713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得分 Score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00400" y="5669280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迭代 Iteration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96112" y="4434840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典型收敛轨迹（示意）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Illustrative convergence curve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434840" y="1115568"/>
            <a:ext cx="3611880" cy="51206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17136" y="1325880"/>
            <a:ext cx="3447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示例窗口收缩 / Window contraction</a:t>
            </a:r>
            <a:endParaRPr lang="en-US" sz="1750" dirty="0"/>
          </a:p>
        </p:txBody>
      </p:sp>
      <p:sp>
        <p:nvSpPr>
          <p:cNvPr id="44" name="Shape 42"/>
          <p:cNvSpPr/>
          <p:nvPr/>
        </p:nvSpPr>
        <p:spPr>
          <a:xfrm>
            <a:off x="4626864" y="1719072"/>
            <a:ext cx="73152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72584" y="17647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358384" y="1719072"/>
            <a:ext cx="105156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04104" y="17647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初始范围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9944" y="1719072"/>
            <a:ext cx="146304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17647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迭代后建议窗口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26864" y="2267712"/>
            <a:ext cx="731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72584" y="230428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5358384" y="2267712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04104" y="230428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5.0 - 6.0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6409944" y="2267712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230428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5.35 - 5.60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4626864" y="2816352"/>
            <a:ext cx="731520" cy="54864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72584" y="285292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Load cond.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5358384" y="2816352"/>
            <a:ext cx="1051560" cy="54864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04104" y="285292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2 - 8 mS/cm</a:t>
            </a:r>
            <a:endParaRPr lang="en-US" sz="970" dirty="0"/>
          </a:p>
        </p:txBody>
      </p:sp>
      <p:sp>
        <p:nvSpPr>
          <p:cNvPr id="60" name="Shape 58"/>
          <p:cNvSpPr/>
          <p:nvPr/>
        </p:nvSpPr>
        <p:spPr>
          <a:xfrm>
            <a:off x="6409944" y="2816352"/>
            <a:ext cx="1463040" cy="54864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5664" y="285292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3.5 - 5.0 mS/cm</a:t>
            </a:r>
            <a:endParaRPr lang="en-US" sz="970" dirty="0"/>
          </a:p>
        </p:txBody>
      </p:sp>
      <p:sp>
        <p:nvSpPr>
          <p:cNvPr id="62" name="Shape 60"/>
          <p:cNvSpPr/>
          <p:nvPr/>
        </p:nvSpPr>
        <p:spPr>
          <a:xfrm>
            <a:off x="4626864" y="3364992"/>
            <a:ext cx="731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72584" y="340156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Gradient end</a:t>
            </a:r>
            <a:endParaRPr lang="en-US" sz="970" dirty="0"/>
          </a:p>
        </p:txBody>
      </p:sp>
      <p:sp>
        <p:nvSpPr>
          <p:cNvPr id="64" name="Shape 62"/>
          <p:cNvSpPr/>
          <p:nvPr/>
        </p:nvSpPr>
        <p:spPr>
          <a:xfrm>
            <a:off x="5358384" y="3364992"/>
            <a:ext cx="10515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04104" y="340156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25 - 60 mS/cm</a:t>
            </a:r>
            <a:endParaRPr lang="en-US" sz="970" dirty="0"/>
          </a:p>
        </p:txBody>
      </p:sp>
      <p:sp>
        <p:nvSpPr>
          <p:cNvPr id="66" name="Shape 64"/>
          <p:cNvSpPr/>
          <p:nvPr/>
        </p:nvSpPr>
        <p:spPr>
          <a:xfrm>
            <a:off x="6409944" y="3364992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55664" y="340156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38 - 48 mS/cm</a:t>
            </a:r>
            <a:endParaRPr lang="en-US" sz="970" dirty="0"/>
          </a:p>
        </p:txBody>
      </p:sp>
      <p:sp>
        <p:nvSpPr>
          <p:cNvPr id="68" name="Shape 66"/>
          <p:cNvSpPr/>
          <p:nvPr/>
        </p:nvSpPr>
        <p:spPr>
          <a:xfrm>
            <a:off x="4626864" y="3913632"/>
            <a:ext cx="731520" cy="54864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72584" y="395020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Gradient length</a:t>
            </a:r>
            <a:endParaRPr lang="en-US" sz="970" dirty="0"/>
          </a:p>
        </p:txBody>
      </p:sp>
      <p:sp>
        <p:nvSpPr>
          <p:cNvPr id="70" name="Shape 68"/>
          <p:cNvSpPr/>
          <p:nvPr/>
        </p:nvSpPr>
        <p:spPr>
          <a:xfrm>
            <a:off x="5358384" y="3913632"/>
            <a:ext cx="1051560" cy="54864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04104" y="3950208"/>
            <a:ext cx="96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10 - 30 CV</a:t>
            </a:r>
            <a:endParaRPr lang="en-US" sz="970" dirty="0"/>
          </a:p>
        </p:txBody>
      </p:sp>
      <p:sp>
        <p:nvSpPr>
          <p:cNvPr id="72" name="Shape 70"/>
          <p:cNvSpPr/>
          <p:nvPr/>
        </p:nvSpPr>
        <p:spPr>
          <a:xfrm>
            <a:off x="6409944" y="3913632"/>
            <a:ext cx="1463040" cy="548640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55664" y="395020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14 - 20 CV</a:t>
            </a:r>
            <a:endParaRPr lang="en-US" sz="970" dirty="0"/>
          </a:p>
        </p:txBody>
      </p:sp>
      <p:sp>
        <p:nvSpPr>
          <p:cNvPr id="74" name="Text 72"/>
          <p:cNvSpPr/>
          <p:nvPr/>
        </p:nvSpPr>
        <p:spPr>
          <a:xfrm>
            <a:off x="4614226" y="4553712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 / Interpretation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4626864" y="4974265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的价值不是一下子给出“唯一真值”，而是把宽泛搜索区迅速收缩到几组高分附近，便于做确认、稳健性与放大。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benefit is not a magical single truth, but a rapid contraction from a broad region to a few high-scoring neighborhoods ready for confirmation and scale-up.</a:t>
            </a:r>
            <a:endParaRPr lang="en-US" sz="1230" dirty="0"/>
          </a:p>
        </p:txBody>
      </p:sp>
      <p:sp>
        <p:nvSpPr>
          <p:cNvPr id="76" name="Shape 74"/>
          <p:cNvSpPr/>
          <p:nvPr/>
        </p:nvSpPr>
        <p:spPr>
          <a:xfrm>
            <a:off x="8247888" y="1325880"/>
            <a:ext cx="3364992" cy="2331720"/>
          </a:xfrm>
          <a:prstGeom prst="roundRect">
            <a:avLst>
              <a:gd name="adj" fmla="val 3137"/>
            </a:avLst>
          </a:prstGeom>
          <a:solidFill>
            <a:srgbClr val="FDFE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8750808" y="1645920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40926" y="1645920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731045" y="1645920"/>
            <a:ext cx="471830" cy="28346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221163" y="1645920"/>
            <a:ext cx="471830" cy="28346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711282" y="1645920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50808" y="1947672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240926" y="1947672"/>
            <a:ext cx="471830" cy="283464"/>
          </a:xfrm>
          <a:prstGeom prst="rect">
            <a:avLst/>
          </a:prstGeom>
          <a:solidFill>
            <a:srgbClr val="A7C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31045" y="1947672"/>
            <a:ext cx="471830" cy="283464"/>
          </a:xfrm>
          <a:prstGeom prst="rect">
            <a:avLst/>
          </a:prstGeom>
          <a:solidFill>
            <a:srgbClr val="6FA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221163" y="1947672"/>
            <a:ext cx="471830" cy="283464"/>
          </a:xfrm>
          <a:prstGeom prst="rect">
            <a:avLst/>
          </a:prstGeom>
          <a:solidFill>
            <a:srgbClr val="A7C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711282" y="1947672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750808" y="2249424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240926" y="2249424"/>
            <a:ext cx="471830" cy="283464"/>
          </a:xfrm>
          <a:prstGeom prst="rect">
            <a:avLst/>
          </a:prstGeom>
          <a:solidFill>
            <a:srgbClr val="A7C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31045" y="2249424"/>
            <a:ext cx="471830" cy="283464"/>
          </a:xfrm>
          <a:prstGeom prst="rect">
            <a:avLst/>
          </a:prstGeom>
          <a:solidFill>
            <a:srgbClr val="2F6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221163" y="2249424"/>
            <a:ext cx="471830" cy="283464"/>
          </a:xfrm>
          <a:prstGeom prst="rect">
            <a:avLst/>
          </a:prstGeom>
          <a:solidFill>
            <a:srgbClr val="6FA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711282" y="2249424"/>
            <a:ext cx="471830" cy="28346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50808" y="2551176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40926" y="2551176"/>
            <a:ext cx="471830" cy="28346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731045" y="2551176"/>
            <a:ext cx="471830" cy="283464"/>
          </a:xfrm>
          <a:prstGeom prst="rect">
            <a:avLst/>
          </a:prstGeom>
          <a:solidFill>
            <a:srgbClr val="6FA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221163" y="2551176"/>
            <a:ext cx="471830" cy="283464"/>
          </a:xfrm>
          <a:prstGeom prst="rect">
            <a:avLst/>
          </a:prstGeom>
          <a:solidFill>
            <a:srgbClr val="A7C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711282" y="2551176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50808" y="2852928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240926" y="2852928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731045" y="2852928"/>
            <a:ext cx="471830" cy="28346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221163" y="2852928"/>
            <a:ext cx="471830" cy="283464"/>
          </a:xfrm>
          <a:prstGeom prst="rect">
            <a:avLst/>
          </a:prstGeom>
          <a:solidFill>
            <a:srgbClr val="D7E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11282" y="2852928"/>
            <a:ext cx="471830" cy="283464"/>
          </a:xfrm>
          <a:prstGeom prst="rect">
            <a:avLst/>
          </a:prstGeom>
          <a:solidFill>
            <a:srgbClr val="EEF5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877349" y="235915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813341" y="254203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8412480" y="1371600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操作窗口热图（示意）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Illustrative sweet-spot map</a:t>
            </a:r>
            <a:endParaRPr lang="en-US" sz="1150" dirty="0"/>
          </a:p>
        </p:txBody>
      </p:sp>
      <p:sp>
        <p:nvSpPr>
          <p:cNvPr id="105" name="Text 103"/>
          <p:cNvSpPr/>
          <p:nvPr/>
        </p:nvSpPr>
        <p:spPr>
          <a:xfrm>
            <a:off x="9559503" y="349300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 →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 rot="16200000">
            <a:off x="8321040" y="2212848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Conductivity ↑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8375904" y="3977640"/>
            <a:ext cx="1196389" cy="384048"/>
          </a:xfrm>
          <a:prstGeom prst="rect">
            <a:avLst/>
          </a:prstGeom>
          <a:solidFill>
            <a:srgbClr val="EEF8F3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421624" y="4023360"/>
            <a:ext cx="11049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指标 / Metric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9572293" y="3977640"/>
            <a:ext cx="947141" cy="384048"/>
          </a:xfrm>
          <a:prstGeom prst="rect">
            <a:avLst/>
          </a:prstGeom>
          <a:solidFill>
            <a:srgbClr val="EEF8F3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618013" y="4023360"/>
            <a:ext cx="855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初始好点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10519435" y="3977640"/>
            <a:ext cx="947141" cy="384048"/>
          </a:xfrm>
          <a:prstGeom prst="rect">
            <a:avLst/>
          </a:prstGeom>
          <a:solidFill>
            <a:srgbClr val="EEF8F3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565155" y="4023360"/>
            <a:ext cx="855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收敛后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8375904" y="4361688"/>
            <a:ext cx="119638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421624" y="4398264"/>
            <a:ext cx="11049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Monomer purity</a:t>
            </a:r>
            <a:endParaRPr lang="en-US" sz="970" dirty="0"/>
          </a:p>
        </p:txBody>
      </p:sp>
      <p:sp>
        <p:nvSpPr>
          <p:cNvPr id="115" name="Shape 113"/>
          <p:cNvSpPr/>
          <p:nvPr/>
        </p:nvSpPr>
        <p:spPr>
          <a:xfrm>
            <a:off x="9572293" y="4361688"/>
            <a:ext cx="947141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618013" y="4398264"/>
            <a:ext cx="855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97.3%</a:t>
            </a:r>
            <a:endParaRPr lang="en-US" sz="970" dirty="0"/>
          </a:p>
        </p:txBody>
      </p:sp>
      <p:sp>
        <p:nvSpPr>
          <p:cNvPr id="117" name="Shape 115"/>
          <p:cNvSpPr/>
          <p:nvPr/>
        </p:nvSpPr>
        <p:spPr>
          <a:xfrm>
            <a:off x="10519435" y="4361688"/>
            <a:ext cx="947141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565155" y="4398264"/>
            <a:ext cx="855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98.6%</a:t>
            </a:r>
            <a:endParaRPr lang="en-US" sz="970" dirty="0"/>
          </a:p>
        </p:txBody>
      </p:sp>
      <p:sp>
        <p:nvSpPr>
          <p:cNvPr id="119" name="Shape 117"/>
          <p:cNvSpPr/>
          <p:nvPr/>
        </p:nvSpPr>
        <p:spPr>
          <a:xfrm>
            <a:off x="8375904" y="4745736"/>
            <a:ext cx="1196389" cy="38404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421624" y="4782312"/>
            <a:ext cx="11049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Yield</a:t>
            </a:r>
            <a:endParaRPr lang="en-US" sz="970" dirty="0"/>
          </a:p>
        </p:txBody>
      </p:sp>
      <p:sp>
        <p:nvSpPr>
          <p:cNvPr id="121" name="Shape 119"/>
          <p:cNvSpPr/>
          <p:nvPr/>
        </p:nvSpPr>
        <p:spPr>
          <a:xfrm>
            <a:off x="9572293" y="4745736"/>
            <a:ext cx="947141" cy="38404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618013" y="4782312"/>
            <a:ext cx="855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86.5%</a:t>
            </a:r>
            <a:endParaRPr lang="en-US" sz="970" dirty="0"/>
          </a:p>
        </p:txBody>
      </p:sp>
      <p:sp>
        <p:nvSpPr>
          <p:cNvPr id="123" name="Shape 121"/>
          <p:cNvSpPr/>
          <p:nvPr/>
        </p:nvSpPr>
        <p:spPr>
          <a:xfrm>
            <a:off x="10519435" y="4745736"/>
            <a:ext cx="947141" cy="38404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0565155" y="4782312"/>
            <a:ext cx="855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91.8%</a:t>
            </a:r>
            <a:endParaRPr lang="en-US" sz="970" dirty="0"/>
          </a:p>
        </p:txBody>
      </p:sp>
      <p:sp>
        <p:nvSpPr>
          <p:cNvPr id="125" name="Shape 123"/>
          <p:cNvSpPr/>
          <p:nvPr/>
        </p:nvSpPr>
        <p:spPr>
          <a:xfrm>
            <a:off x="8375904" y="5129784"/>
            <a:ext cx="119638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421624" y="5166360"/>
            <a:ext cx="11049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HCP</a:t>
            </a:r>
            <a:endParaRPr lang="en-US" sz="970" dirty="0"/>
          </a:p>
        </p:txBody>
      </p:sp>
      <p:sp>
        <p:nvSpPr>
          <p:cNvPr id="127" name="Shape 125"/>
          <p:cNvSpPr/>
          <p:nvPr/>
        </p:nvSpPr>
        <p:spPr>
          <a:xfrm>
            <a:off x="9572293" y="5129784"/>
            <a:ext cx="947141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618013" y="5166360"/>
            <a:ext cx="855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145 ppm</a:t>
            </a:r>
            <a:endParaRPr lang="en-US" sz="970" dirty="0"/>
          </a:p>
        </p:txBody>
      </p:sp>
      <p:sp>
        <p:nvSpPr>
          <p:cNvPr id="129" name="Shape 127"/>
          <p:cNvSpPr/>
          <p:nvPr/>
        </p:nvSpPr>
        <p:spPr>
          <a:xfrm>
            <a:off x="10519435" y="5129784"/>
            <a:ext cx="947141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565155" y="5166360"/>
            <a:ext cx="855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72 ppm</a:t>
            </a:r>
            <a:endParaRPr lang="en-US" sz="970" dirty="0"/>
          </a:p>
        </p:txBody>
      </p:sp>
      <p:sp>
        <p:nvSpPr>
          <p:cNvPr id="131" name="Shape 129"/>
          <p:cNvSpPr/>
          <p:nvPr/>
        </p:nvSpPr>
        <p:spPr>
          <a:xfrm>
            <a:off x="8375904" y="5513832"/>
            <a:ext cx="1196389" cy="38404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421624" y="5550408"/>
            <a:ext cx="11049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Cycle time</a:t>
            </a:r>
            <a:endParaRPr lang="en-US" sz="970" dirty="0"/>
          </a:p>
        </p:txBody>
      </p:sp>
      <p:sp>
        <p:nvSpPr>
          <p:cNvPr id="133" name="Shape 131"/>
          <p:cNvSpPr/>
          <p:nvPr/>
        </p:nvSpPr>
        <p:spPr>
          <a:xfrm>
            <a:off x="9572293" y="5513832"/>
            <a:ext cx="947141" cy="38404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618013" y="5550408"/>
            <a:ext cx="855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 min</a:t>
            </a:r>
            <a:endParaRPr lang="en-US" sz="970" dirty="0"/>
          </a:p>
        </p:txBody>
      </p:sp>
      <p:sp>
        <p:nvSpPr>
          <p:cNvPr id="135" name="Shape 133"/>
          <p:cNvSpPr/>
          <p:nvPr/>
        </p:nvSpPr>
        <p:spPr>
          <a:xfrm>
            <a:off x="10519435" y="5513832"/>
            <a:ext cx="947141" cy="384048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565155" y="5550408"/>
            <a:ext cx="855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min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 找到最优点后，还要做什么：验证、稳健性、放大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do after finding a best point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真正可用的结果 = 最优点 + 稳健窗口 + 放大一致性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3520440" cy="5120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28016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确认实验包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1517904"/>
            <a:ext cx="3118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package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324" y="18623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 PSO 最优点附近 3-5 个点，做重复注射确认结果一致性。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424281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3-5 points around the PSO best and repeat them to confirm reproducibility.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4088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8135" y="2577253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做一个小型 robustness ring：pH ±0.1，导电率 ±0.5 mS/cm，梯度 ±2 CV。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small robustness ring: pH ±0.1, conductivity ±0.5 mS/cm, gradient ±2 CV.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" y="2834640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880" y="317296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把最优点与平台工艺或 DoE 最优点正面对照。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519379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the PSO best against the platform recipe or a DoE optimum.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1115568"/>
            <a:ext cx="3520440" cy="512064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8848" y="1280160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最常见的失败模式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98848" y="1517904"/>
            <a:ext cx="3118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98848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82880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评分函数设计不对，把算法引到“假最优”。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530683" y="4059936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poor score definition can steer the algorithm to a fake optimum.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98848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3042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样品批间波动太大，掩盖了真实趋势。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530683" y="4535424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 batch variability can mask the true trend.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98848" y="2834640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7797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边界设得太宽或太窄，分别导致浪费或错失好点。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530683" y="501091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Bounds that are too wide waste runs; too narrow can miss the sweet spot.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98848" y="3310128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25526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只看单点最优，不看窗口稳健性。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4530683" y="548640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Focusing on a single point rather than a robust region is risky.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1115568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21040" y="1353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实用建议 / Practical safeguards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321040" y="1865376"/>
            <a:ext cx="91440" cy="91440"/>
          </a:xfrm>
          <a:prstGeom prst="ellipse">
            <a:avLst/>
          </a:prstGeom>
          <a:solidFill>
            <a:srgbClr val="2DAA84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181051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每轮都保留原始层析图谱和分析原始表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647993" y="4477883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raw chromatograms and analytics for every run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321040" y="246888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2414016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先小柱验证，再考虑放大到工艺柱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575698" y="4855912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on mini-columns before moving to process columns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21040" y="307238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58784" y="2871216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把不可操作区直接做成硬约束，不要让算法自己“悟”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8527784" y="5173275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non-operable regions as hard constraints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21040" y="36758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58784" y="3607420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如果实验极贵，可考虑 PSO 与 BO 混合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8494776" y="5515394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runs are very expensive, consider PSO-BO hybrids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21040" y="4279392"/>
            <a:ext cx="91440" cy="91440"/>
          </a:xfrm>
          <a:prstGeom prst="ellipse">
            <a:avLst/>
          </a:prstGeom>
          <a:solidFill>
            <a:srgbClr val="1D8CA1"/>
          </a:solidFill>
          <a:ln w="12700">
            <a:solidFill>
              <a:srgbClr val="1D8C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85632" y="4096512"/>
            <a:ext cx="2761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最终交付建议写成“操作区间”而不是单点配方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8558784" y="5839225"/>
            <a:ext cx="2761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an operating window, not only one recipe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11. 展望：PSO 不是终点，而是自动化优化链条中的一环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Outlook: PSO as part of a broader optimization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未来更强的不是单一算法，而是“高通量 + PSO/BO + 机理/数据模型 + 自动化”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4846320" cy="512064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61872"/>
            <a:ext cx="4425696" cy="384048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335024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推荐路线图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1463040"/>
            <a:ext cx="40965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future stack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87552" y="2084832"/>
            <a:ext cx="868680" cy="749808"/>
          </a:xfrm>
          <a:prstGeom prst="roundRect">
            <a:avLst>
              <a:gd name="adj" fmla="val 7317"/>
            </a:avLst>
          </a:prstGeom>
          <a:solidFill>
            <a:srgbClr val="EEF4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331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高通量实验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HTPD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01952" y="2450592"/>
            <a:ext cx="274320" cy="0"/>
          </a:xfrm>
          <a:prstGeom prst="line">
            <a:avLst/>
          </a:prstGeom>
          <a:noFill/>
          <a:ln w="12700">
            <a:solidFill>
              <a:srgbClr val="AAB7C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40280" y="2084832"/>
            <a:ext cx="868680" cy="749808"/>
          </a:xfrm>
          <a:prstGeom prst="roundRect">
            <a:avLst>
              <a:gd name="adj" fmla="val 7317"/>
            </a:avLst>
          </a:prstGeom>
          <a:solidFill>
            <a:srgbClr val="ECFDF3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331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PSO/BO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2450592"/>
            <a:ext cx="274320" cy="0"/>
          </a:xfrm>
          <a:prstGeom prst="line">
            <a:avLst/>
          </a:prstGeom>
          <a:noFill/>
          <a:ln w="12700">
            <a:solidFill>
              <a:srgbClr val="AAB7C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93008" y="2084832"/>
            <a:ext cx="868680" cy="749808"/>
          </a:xfrm>
          <a:prstGeom prst="roundRect">
            <a:avLst>
              <a:gd name="adj" fmla="val 7317"/>
            </a:avLst>
          </a:prstGeom>
          <a:solidFill>
            <a:srgbClr val="FFF7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2331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机理/代理模型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07408" y="2450592"/>
            <a:ext cx="274320" cy="0"/>
          </a:xfrm>
          <a:prstGeom prst="line">
            <a:avLst/>
          </a:prstGeom>
          <a:noFill/>
          <a:ln w="12700">
            <a:solidFill>
              <a:srgbClr val="AAB7C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45736" y="2084832"/>
            <a:ext cx="868680" cy="749808"/>
          </a:xfrm>
          <a:prstGeom prst="roundRect">
            <a:avLst>
              <a:gd name="adj" fmla="val 7317"/>
            </a:avLst>
          </a:prstGeom>
          <a:solidFill>
            <a:srgbClr val="FFF1F3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2331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自动化回路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2461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 / Interpretation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5256" y="4050793"/>
            <a:ext cx="4069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未来最实际的路径不是“只上 AI”，而是先把实验自动化与数据结构化，再用 PSO 或 BO 做闭环决策，最终叠加机理模型、数字孪生或序列-工艺关联模型。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most practical future path is not “AI only”, but automated experiments + structured data + closed-loop optimization via PSO or BO, followed by mechanistic, digital-twin, or sequence-to-process models.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559552" y="1115568"/>
            <a:ext cx="2743200" cy="512064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128016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未来怎么进化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68378" y="3419856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PSO may evolve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自适应参数：惯性和学习因子随轮次自动变化。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839002" y="3922776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inertia and learning factors over time.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2304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多目标 PSO：直接给出 purity-yield-speed 的 Pareto 前沿。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781759" y="4664927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Multi-objective PSO with a purity-yield-speed Pareto front.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60720" y="2834640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25312" y="27797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PSO + 代理模型：把历史数据变成更聪明的下一轮搜索。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5775960" y="5341583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PSO plus surrogate models to guide smarter next experiments.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49640" y="1115568"/>
            <a:ext cx="3108960" cy="5120640"/>
          </a:xfrm>
          <a:prstGeom prst="roundRect">
            <a:avLst>
              <a:gd name="adj" fmla="val 2353"/>
            </a:avLst>
          </a:prstGeom>
          <a:solidFill>
            <a:srgbClr val="FFF7E8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750808" y="1280160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对你当前项目的建议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87968" y="3507505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path for your project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50808" y="1883664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15400" y="18288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如果现在有一批小柱和标准分析手段，可以先做“轻量版 PSO”。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915400" y="41239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already have mini-columns and standard analytics, start with a lightweight PSO.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750808" y="2359152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42832" y="24526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先拿一个代表性单抗做示范，再扩到平台分子。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8915400" y="48280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on one representative mAb before rolling out platform-wide.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50808" y="2834640"/>
            <a:ext cx="91440" cy="914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15400" y="29667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把每轮原始数据沉淀下来，为下一步 BO/代理模型铺路。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9006840" y="5431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every round of raw data to enable BO/surrogate modeling later.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12. 总结：如果明天就开做，最短路径是什么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1323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Summary: the shortest practical path from tomorrow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0" y="420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把复杂问题拆成“定义边界 - 并行实验 - PSO 迭代 - 确认窗口”四步</a:t>
            </a:r>
            <a:endParaRPr lang="en-US" sz="106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107899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73936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3794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6192" y="17830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 8-16 个 scouting 条件，确定 pH / 导电率 / 梯度的可行边界。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36192" y="200253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8-16 scouting conditions to define feasible bounds for pH, conductivity, and gradient.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42616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ECFDF3"/>
          </a:solidFill>
          <a:ln w="12700">
            <a:solidFill>
              <a:srgbClr val="2DAA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0662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AA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36192" y="265176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搭一个 12 粒子 x 5 轮的轻量版 PSO；每轮同步拿到 purity、yield、HCP、HMW、cycle time。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36192" y="287121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 lightweight 12-particle x 5-iteration PSO and collect purity, yield, HCP, HMW, and cycle time every round.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511296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FFF7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7530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6E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36192" y="352044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把最优点周围做 3-5 个确认点，最终交付“稳健操作窗口”而不只是单点。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36192" y="373989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3-5 points around the optimum and deliver a robust operating window, not just a single point.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379976"/>
            <a:ext cx="420624" cy="292608"/>
          </a:xfrm>
          <a:prstGeom prst="roundRect">
            <a:avLst>
              <a:gd name="adj" fmla="val 18750"/>
            </a:avLst>
          </a:prstGeom>
          <a:solidFill>
            <a:srgbClr val="FFF1F3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4439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45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36192" y="438912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后续再决定是否升级为 PSO + BO / 代理模型 / 自动化闭环。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36192" y="46085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decide whether to upgrade into a PSO+BO, surrogate-model, or automated closed-loop workflow.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5230368"/>
            <a:ext cx="7909560" cy="457200"/>
          </a:xfrm>
          <a:prstGeom prst="roundRect">
            <a:avLst>
              <a:gd name="adj" fmla="val 12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04288" y="5367528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 / Final message:  对于单抗 CEX 这类黑箱、多目标、可并行实验的问题，PSO 很适合作为“快速找最佳操作区间”的第一套实战工具。</a:t>
            </a:r>
            <a:endParaRPr lang="en-US" sz="1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3809</Words>
  <Application>Microsoft Office PowerPoint</Application>
  <PresentationFormat>宽屏</PresentationFormat>
  <Paragraphs>546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Noto Sans CJK SC</vt:lpstr>
      <vt:lpstr>等线</vt:lpstr>
      <vt:lpstr>Aptos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PSO in mAb CEX - bilingual deck</dc:title>
  <dc:subject>PSO in mAb CEX process development</dc:subject>
  <dc:creator>OpenAI</dc:creator>
  <cp:lastModifiedBy>baisheng jin</cp:lastModifiedBy>
  <cp:revision>8</cp:revision>
  <dcterms:created xsi:type="dcterms:W3CDTF">2026-04-04T12:21:44Z</dcterms:created>
  <dcterms:modified xsi:type="dcterms:W3CDTF">2026-04-04T13:03:10Z</dcterms:modified>
</cp:coreProperties>
</file>