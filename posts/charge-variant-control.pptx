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5.xml" ContentType="application/vnd.openxmlformats-officedocument.presentationml.tags+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19"/>
  </p:handoutMasterIdLst>
  <p:sldIdLst>
    <p:sldId id="4550" r:id="rId2"/>
    <p:sldId id="257" r:id="rId3"/>
    <p:sldId id="258" r:id="rId4"/>
    <p:sldId id="259" r:id="rId5"/>
    <p:sldId id="260" r:id="rId6"/>
    <p:sldId id="261" r:id="rId7"/>
    <p:sldId id="262" r:id="rId8"/>
    <p:sldId id="263" r:id="rId9"/>
    <p:sldId id="264" r:id="rId10"/>
    <p:sldId id="265" r:id="rId11"/>
    <p:sldId id="5119" r:id="rId12"/>
    <p:sldId id="267" r:id="rId13"/>
    <p:sldId id="3110" r:id="rId14"/>
    <p:sldId id="4579" r:id="rId15"/>
    <p:sldId id="5118" r:id="rId16"/>
    <p:sldId id="266" r:id="rId17"/>
  </p:sldIdLst>
  <p:sldSz cx="12192000" cy="6858000"/>
  <p:notesSz cx="6858000" cy="9144000"/>
  <p:custDataLst>
    <p:tags r:id="rId20"/>
  </p:custData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Verdana" panose="020B0604030504040204"/>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Verdana" panose="020B0604030504040204"/>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Verdana" panose="020B0604030504040204"/>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Verdana" panose="020B0604030504040204"/>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Verdana" panose="020B0604030504040204"/>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Verdana" panose="020B0604030504040204"/>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Verdana" panose="020B0604030504040204"/>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Verdana" panose="020B0604030504040204"/>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Verdana" panose="020B0604030504040204"/>
      </a:defRPr>
    </a:lvl9pPr>
  </p:defaultTextStyle>
  <p:extLst>
    <p:ext uri="{EFAFB233-063F-42B5-8137-9DF3F51BA10A}">
      <p15:sldGuideLst xmlns:p15="http://schemas.microsoft.com/office/powerpoint/2012/main">
        <p15:guide id="1" orient="horz" pos="2138" userDrawn="1">
          <p15:clr>
            <a:srgbClr val="A4A3A4"/>
          </p15:clr>
        </p15:guide>
        <p15:guide id="2" pos="37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3" name="50200" initials="5" lastIdx="1" clrIdx="2"/>
  <p:cmAuthor id="4" name="A5571" initials="A"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0" autoAdjust="0"/>
    <p:restoredTop sz="94235" autoAdjust="0"/>
  </p:normalViewPr>
  <p:slideViewPr>
    <p:cSldViewPr snapToGrid="0" showGuides="1">
      <p:cViewPr varScale="1">
        <p:scale>
          <a:sx n="78" d="100"/>
          <a:sy n="78" d="100"/>
        </p:scale>
        <p:origin x="384" y="44"/>
      </p:cViewPr>
      <p:guideLst>
        <p:guide orient="horz" pos="2138"/>
        <p:guide pos="37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D:\&#36164;&#26009;&#25972;&#29702;\&#38451;&#31163;&#23376;&#25968;&#25454;\&#26032;&#24314;%20XLSX%20&#24037;&#20316;&#34920;.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r>
              <a:rPr lang="en-US"/>
              <a:t>Elution mass of five batches of NanoGel 50SP HP</a:t>
            </a:r>
          </a:p>
        </c:rich>
      </c:tx>
      <c:overlay val="0"/>
      <c:spPr>
        <a:noFill/>
        <a:ln>
          <a:noFill/>
        </a:ln>
        <a:effectLst/>
      </c:spPr>
    </c:title>
    <c:autoTitleDeleted val="0"/>
    <c:plotArea>
      <c:layout/>
      <c:barChart>
        <c:barDir val="col"/>
        <c:grouping val="clustered"/>
        <c:varyColors val="0"/>
        <c:ser>
          <c:idx val="0"/>
          <c:order val="0"/>
          <c:tx>
            <c:strRef>
              <c:f>'[新建 XLSX 工作表.xlsx]Sheet3'!$A$3</c:f>
              <c:strCache>
                <c:ptCount val="1"/>
                <c:pt idx="0">
                  <c:v>L08W05KC</c:v>
                </c:pt>
              </c:strCache>
            </c:strRef>
          </c:tx>
          <c:spPr>
            <a:solidFill>
              <a:schemeClr val="accent1"/>
            </a:solidFill>
            <a:ln>
              <a:noFill/>
            </a:ln>
            <a:effectLst/>
          </c:spPr>
          <c:invertIfNegative val="0"/>
          <c:cat>
            <c:multiLvlStrRef>
              <c:f>'[新建 XLSX 工作表.xlsx]Sheet3'!$B$1:$E$2</c:f>
              <c:multiLvlStrCache>
                <c:ptCount val="4"/>
                <c:lvl/>
                <c:lvl>
                  <c:pt idx="0">
                    <c:v>SEC(%)</c:v>
                  </c:pt>
                  <c:pt idx="1">
                    <c:v>CEX(%)非酶切</c:v>
                  </c:pt>
                  <c:pt idx="2">
                    <c:v>CEX(%)酶切</c:v>
                  </c:pt>
                  <c:pt idx="3">
                    <c:v>Yield（%）</c:v>
                  </c:pt>
                </c:lvl>
              </c:multiLvlStrCache>
            </c:multiLvlStrRef>
          </c:cat>
          <c:val>
            <c:numRef>
              <c:f>'[新建 XLSX 工作表.xlsx]Sheet3'!$B$3:$E$3</c:f>
              <c:numCache>
                <c:formatCode>General</c:formatCode>
                <c:ptCount val="4"/>
                <c:pt idx="0">
                  <c:v>98.5</c:v>
                </c:pt>
                <c:pt idx="1">
                  <c:v>57.8</c:v>
                </c:pt>
                <c:pt idx="2">
                  <c:v>64.3</c:v>
                </c:pt>
                <c:pt idx="3">
                  <c:v>69</c:v>
                </c:pt>
              </c:numCache>
            </c:numRef>
          </c:val>
          <c:extLst>
            <c:ext xmlns:c16="http://schemas.microsoft.com/office/drawing/2014/chart" uri="{C3380CC4-5D6E-409C-BE32-E72D297353CC}">
              <c16:uniqueId val="{00000000-8FBA-47EE-9F0C-AE119EC939A4}"/>
            </c:ext>
          </c:extLst>
        </c:ser>
        <c:ser>
          <c:idx val="1"/>
          <c:order val="1"/>
          <c:tx>
            <c:strRef>
              <c:f>'[新建 XLSX 工作表.xlsx]Sheet3'!$A$4</c:f>
              <c:strCache>
                <c:ptCount val="1"/>
                <c:pt idx="0">
                  <c:v>L08W07KC</c:v>
                </c:pt>
              </c:strCache>
            </c:strRef>
          </c:tx>
          <c:spPr>
            <a:solidFill>
              <a:schemeClr val="accent2"/>
            </a:solidFill>
            <a:ln>
              <a:noFill/>
            </a:ln>
            <a:effectLst/>
          </c:spPr>
          <c:invertIfNegative val="0"/>
          <c:cat>
            <c:multiLvlStrRef>
              <c:f>'[新建 XLSX 工作表.xlsx]Sheet3'!$B$1:$E$2</c:f>
              <c:multiLvlStrCache>
                <c:ptCount val="4"/>
                <c:lvl/>
                <c:lvl>
                  <c:pt idx="0">
                    <c:v>SEC(%)</c:v>
                  </c:pt>
                  <c:pt idx="1">
                    <c:v>CEX(%)非酶切</c:v>
                  </c:pt>
                  <c:pt idx="2">
                    <c:v>CEX(%)酶切</c:v>
                  </c:pt>
                  <c:pt idx="3">
                    <c:v>Yield（%）</c:v>
                  </c:pt>
                </c:lvl>
              </c:multiLvlStrCache>
            </c:multiLvlStrRef>
          </c:cat>
          <c:val>
            <c:numRef>
              <c:f>'[新建 XLSX 工作表.xlsx]Sheet3'!$B$4:$E$4</c:f>
              <c:numCache>
                <c:formatCode>General</c:formatCode>
                <c:ptCount val="4"/>
                <c:pt idx="0">
                  <c:v>98.6</c:v>
                </c:pt>
                <c:pt idx="1">
                  <c:v>57.5</c:v>
                </c:pt>
                <c:pt idx="2">
                  <c:v>64.8</c:v>
                </c:pt>
                <c:pt idx="3">
                  <c:v>67</c:v>
                </c:pt>
              </c:numCache>
            </c:numRef>
          </c:val>
          <c:extLst>
            <c:ext xmlns:c16="http://schemas.microsoft.com/office/drawing/2014/chart" uri="{C3380CC4-5D6E-409C-BE32-E72D297353CC}">
              <c16:uniqueId val="{00000001-8FBA-47EE-9F0C-AE119EC939A4}"/>
            </c:ext>
          </c:extLst>
        </c:ser>
        <c:ser>
          <c:idx val="2"/>
          <c:order val="2"/>
          <c:tx>
            <c:strRef>
              <c:f>'[新建 XLSX 工作表.xlsx]Sheet3'!$A$5</c:f>
              <c:strCache>
                <c:ptCount val="1"/>
                <c:pt idx="0">
                  <c:v>L08W11KC</c:v>
                </c:pt>
              </c:strCache>
            </c:strRef>
          </c:tx>
          <c:spPr>
            <a:solidFill>
              <a:schemeClr val="accent3"/>
            </a:solidFill>
            <a:ln>
              <a:noFill/>
            </a:ln>
            <a:effectLst/>
          </c:spPr>
          <c:invertIfNegative val="0"/>
          <c:cat>
            <c:multiLvlStrRef>
              <c:f>'[新建 XLSX 工作表.xlsx]Sheet3'!$B$1:$E$2</c:f>
              <c:multiLvlStrCache>
                <c:ptCount val="4"/>
                <c:lvl/>
                <c:lvl>
                  <c:pt idx="0">
                    <c:v>SEC(%)</c:v>
                  </c:pt>
                  <c:pt idx="1">
                    <c:v>CEX(%)非酶切</c:v>
                  </c:pt>
                  <c:pt idx="2">
                    <c:v>CEX(%)酶切</c:v>
                  </c:pt>
                  <c:pt idx="3">
                    <c:v>Yield（%）</c:v>
                  </c:pt>
                </c:lvl>
              </c:multiLvlStrCache>
            </c:multiLvlStrRef>
          </c:cat>
          <c:val>
            <c:numRef>
              <c:f>'[新建 XLSX 工作表.xlsx]Sheet3'!$B$5:$E$5</c:f>
              <c:numCache>
                <c:formatCode>General</c:formatCode>
                <c:ptCount val="4"/>
                <c:pt idx="0">
                  <c:v>98.4</c:v>
                </c:pt>
                <c:pt idx="1">
                  <c:v>53.3</c:v>
                </c:pt>
                <c:pt idx="2">
                  <c:v>66</c:v>
                </c:pt>
                <c:pt idx="3">
                  <c:v>78</c:v>
                </c:pt>
              </c:numCache>
            </c:numRef>
          </c:val>
          <c:extLst>
            <c:ext xmlns:c16="http://schemas.microsoft.com/office/drawing/2014/chart" uri="{C3380CC4-5D6E-409C-BE32-E72D297353CC}">
              <c16:uniqueId val="{00000002-8FBA-47EE-9F0C-AE119EC939A4}"/>
            </c:ext>
          </c:extLst>
        </c:ser>
        <c:ser>
          <c:idx val="3"/>
          <c:order val="3"/>
          <c:tx>
            <c:strRef>
              <c:f>'[新建 XLSX 工作表.xlsx]Sheet3'!$A$6</c:f>
              <c:strCache>
                <c:ptCount val="1"/>
                <c:pt idx="0">
                  <c:v>L08W15KC</c:v>
                </c:pt>
              </c:strCache>
            </c:strRef>
          </c:tx>
          <c:spPr>
            <a:solidFill>
              <a:schemeClr val="accent4"/>
            </a:solidFill>
            <a:ln>
              <a:noFill/>
            </a:ln>
            <a:effectLst/>
          </c:spPr>
          <c:invertIfNegative val="0"/>
          <c:cat>
            <c:multiLvlStrRef>
              <c:f>'[新建 XLSX 工作表.xlsx]Sheet3'!$B$1:$E$2</c:f>
              <c:multiLvlStrCache>
                <c:ptCount val="4"/>
                <c:lvl/>
                <c:lvl>
                  <c:pt idx="0">
                    <c:v>SEC(%)</c:v>
                  </c:pt>
                  <c:pt idx="1">
                    <c:v>CEX(%)非酶切</c:v>
                  </c:pt>
                  <c:pt idx="2">
                    <c:v>CEX(%)酶切</c:v>
                  </c:pt>
                  <c:pt idx="3">
                    <c:v>Yield（%）</c:v>
                  </c:pt>
                </c:lvl>
              </c:multiLvlStrCache>
            </c:multiLvlStrRef>
          </c:cat>
          <c:val>
            <c:numRef>
              <c:f>'[新建 XLSX 工作表.xlsx]Sheet3'!$B$6:$E$6</c:f>
              <c:numCache>
                <c:formatCode>General</c:formatCode>
                <c:ptCount val="4"/>
                <c:pt idx="0">
                  <c:v>98.6</c:v>
                </c:pt>
                <c:pt idx="1">
                  <c:v>55.3</c:v>
                </c:pt>
                <c:pt idx="2">
                  <c:v>65.900000000000006</c:v>
                </c:pt>
                <c:pt idx="3">
                  <c:v>74</c:v>
                </c:pt>
              </c:numCache>
            </c:numRef>
          </c:val>
          <c:extLst>
            <c:ext xmlns:c16="http://schemas.microsoft.com/office/drawing/2014/chart" uri="{C3380CC4-5D6E-409C-BE32-E72D297353CC}">
              <c16:uniqueId val="{00000003-8FBA-47EE-9F0C-AE119EC939A4}"/>
            </c:ext>
          </c:extLst>
        </c:ser>
        <c:ser>
          <c:idx val="4"/>
          <c:order val="4"/>
          <c:tx>
            <c:strRef>
              <c:f>'[新建 XLSX 工作表.xlsx]Sheet3'!$A$7</c:f>
              <c:strCache>
                <c:ptCount val="1"/>
                <c:pt idx="0">
                  <c:v>L08W17KC</c:v>
                </c:pt>
              </c:strCache>
            </c:strRef>
          </c:tx>
          <c:spPr>
            <a:solidFill>
              <a:schemeClr val="accent5"/>
            </a:solidFill>
            <a:ln>
              <a:noFill/>
            </a:ln>
            <a:effectLst/>
          </c:spPr>
          <c:invertIfNegative val="0"/>
          <c:cat>
            <c:multiLvlStrRef>
              <c:f>'[新建 XLSX 工作表.xlsx]Sheet3'!$B$1:$E$2</c:f>
              <c:multiLvlStrCache>
                <c:ptCount val="4"/>
                <c:lvl/>
                <c:lvl>
                  <c:pt idx="0">
                    <c:v>SEC(%)</c:v>
                  </c:pt>
                  <c:pt idx="1">
                    <c:v>CEX(%)非酶切</c:v>
                  </c:pt>
                  <c:pt idx="2">
                    <c:v>CEX(%)酶切</c:v>
                  </c:pt>
                  <c:pt idx="3">
                    <c:v>Yield（%）</c:v>
                  </c:pt>
                </c:lvl>
              </c:multiLvlStrCache>
            </c:multiLvlStrRef>
          </c:cat>
          <c:val>
            <c:numRef>
              <c:f>'[新建 XLSX 工作表.xlsx]Sheet3'!$B$7:$E$7</c:f>
              <c:numCache>
                <c:formatCode>General</c:formatCode>
                <c:ptCount val="4"/>
                <c:pt idx="0">
                  <c:v>98.6</c:v>
                </c:pt>
                <c:pt idx="1">
                  <c:v>57.8</c:v>
                </c:pt>
                <c:pt idx="2">
                  <c:v>64.7</c:v>
                </c:pt>
                <c:pt idx="3">
                  <c:v>70</c:v>
                </c:pt>
              </c:numCache>
            </c:numRef>
          </c:val>
          <c:extLst>
            <c:ext xmlns:c16="http://schemas.microsoft.com/office/drawing/2014/chart" uri="{C3380CC4-5D6E-409C-BE32-E72D297353CC}">
              <c16:uniqueId val="{00000004-8FBA-47EE-9F0C-AE119EC939A4}"/>
            </c:ext>
          </c:extLst>
        </c:ser>
        <c:dLbls>
          <c:showLegendKey val="0"/>
          <c:showVal val="0"/>
          <c:showCatName val="0"/>
          <c:showSerName val="0"/>
          <c:showPercent val="0"/>
          <c:showBubbleSize val="0"/>
        </c:dLbls>
        <c:gapWidth val="219"/>
        <c:overlap val="-27"/>
        <c:axId val="146876823"/>
        <c:axId val="337177927"/>
      </c:barChart>
      <c:catAx>
        <c:axId val="146876823"/>
        <c:scaling>
          <c:orientation val="minMax"/>
        </c:scaling>
        <c:delete val="0"/>
        <c:axPos val="b"/>
        <c:numFmt formatCode="General" sourceLinked="0"/>
        <c:majorTickMark val="none"/>
        <c:minorTickMark val="none"/>
        <c:tickLblPos val="nextTo"/>
        <c:spPr>
          <a:noFill/>
          <a:ln w="9525" cap="flat" cmpd="sng" algn="ctr">
            <a:solidFill>
              <a:schemeClr val="tx1"/>
            </a:solidFill>
            <a:round/>
          </a:ln>
          <a:effectLst/>
        </c:spPr>
        <c:txPr>
          <a:bodyPr rot="-60000000" spcFirstLastPara="0"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endParaRPr lang="zh-CN"/>
          </a:p>
        </c:txPr>
        <c:crossAx val="337177927"/>
        <c:crosses val="autoZero"/>
        <c:auto val="1"/>
        <c:lblAlgn val="ctr"/>
        <c:lblOffset val="100"/>
        <c:noMultiLvlLbl val="0"/>
      </c:catAx>
      <c:valAx>
        <c:axId val="337177927"/>
        <c:scaling>
          <c:orientation val="minMax"/>
          <c:max val="110"/>
        </c:scaling>
        <c:delete val="0"/>
        <c:axPos val="l"/>
        <c:numFmt formatCode="General" sourceLinked="1"/>
        <c:majorTickMark val="out"/>
        <c:minorTickMark val="none"/>
        <c:tickLblPos val="nextTo"/>
        <c:spPr>
          <a:noFill/>
          <a:ln>
            <a:solidFill>
              <a:schemeClr val="tx1"/>
            </a:solidFill>
          </a:ln>
          <a:effectLst/>
        </c:spPr>
        <c:txPr>
          <a:bodyPr rot="-60000000" spcFirstLastPara="0"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endParaRPr lang="zh-CN"/>
          </a:p>
        </c:txPr>
        <c:crossAx val="146876823"/>
        <c:crosses val="autoZero"/>
        <c:crossBetween val="between"/>
        <c:majorUnit val="10"/>
      </c:valAx>
      <c:spPr>
        <a:noFill/>
        <a:ln>
          <a:noFill/>
        </a:ln>
        <a:effectLst/>
      </c:spPr>
    </c:plotArea>
    <c:legend>
      <c:legendPos val="b"/>
      <c:overlay val="0"/>
      <c:spPr>
        <a:noFill/>
        <a:ln>
          <a:noFill/>
        </a:ln>
        <a:effectLst/>
      </c:spPr>
      <c:txPr>
        <a:bodyPr rot="0" spcFirstLastPara="0"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endParaRPr lang="zh-CN"/>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2026/3/26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6" name="Shape 96"/>
          <p:cNvSpPr>
            <a:spLocks noGrp="1" noRot="1" noChangeAspect="1"/>
          </p:cNvSpPr>
          <p:nvPr>
            <p:ph type="sldImg"/>
          </p:nvPr>
        </p:nvSpPr>
        <p:spPr>
          <a:xfrm>
            <a:off x="1143000" y="685800"/>
            <a:ext cx="4572000" cy="3429000"/>
          </a:xfrm>
          <a:prstGeom prst="rect">
            <a:avLst/>
          </a:prstGeom>
        </p:spPr>
        <p:txBody>
          <a:bodyPr/>
          <a:lstStyle/>
          <a:p>
            <a:endParaRPr/>
          </a:p>
        </p:txBody>
      </p:sp>
      <p:sp>
        <p:nvSpPr>
          <p:cNvPr id="97" name="Shape 9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Verdana" panose="020B0604030504040204"/>
      </a:defRPr>
    </a:lvl1pPr>
    <a:lvl2pPr indent="228600" latinLnBrk="0">
      <a:defRPr sz="1200">
        <a:latin typeface="+mn-lt"/>
        <a:ea typeface="+mn-ea"/>
        <a:cs typeface="+mn-cs"/>
        <a:sym typeface="Verdana" panose="020B0604030504040204"/>
      </a:defRPr>
    </a:lvl2pPr>
    <a:lvl3pPr indent="457200" latinLnBrk="0">
      <a:defRPr sz="1200">
        <a:latin typeface="+mn-lt"/>
        <a:ea typeface="+mn-ea"/>
        <a:cs typeface="+mn-cs"/>
        <a:sym typeface="Verdana" panose="020B0604030504040204"/>
      </a:defRPr>
    </a:lvl3pPr>
    <a:lvl4pPr indent="685800" latinLnBrk="0">
      <a:defRPr sz="1200">
        <a:latin typeface="+mn-lt"/>
        <a:ea typeface="+mn-ea"/>
        <a:cs typeface="+mn-cs"/>
        <a:sym typeface="Verdana" panose="020B0604030504040204"/>
      </a:defRPr>
    </a:lvl4pPr>
    <a:lvl5pPr indent="914400" latinLnBrk="0">
      <a:defRPr sz="1200">
        <a:latin typeface="+mn-lt"/>
        <a:ea typeface="+mn-ea"/>
        <a:cs typeface="+mn-cs"/>
        <a:sym typeface="Verdana" panose="020B0604030504040204"/>
      </a:defRPr>
    </a:lvl5pPr>
    <a:lvl6pPr indent="1143000" latinLnBrk="0">
      <a:defRPr sz="1200">
        <a:latin typeface="+mn-lt"/>
        <a:ea typeface="+mn-ea"/>
        <a:cs typeface="+mn-cs"/>
        <a:sym typeface="Verdana" panose="020B0604030504040204"/>
      </a:defRPr>
    </a:lvl6pPr>
    <a:lvl7pPr indent="1371600" latinLnBrk="0">
      <a:defRPr sz="1200">
        <a:latin typeface="+mn-lt"/>
        <a:ea typeface="+mn-ea"/>
        <a:cs typeface="+mn-cs"/>
        <a:sym typeface="Verdana" panose="020B0604030504040204"/>
      </a:defRPr>
    </a:lvl7pPr>
    <a:lvl8pPr indent="1600200" latinLnBrk="0">
      <a:defRPr sz="1200">
        <a:latin typeface="+mn-lt"/>
        <a:ea typeface="+mn-ea"/>
        <a:cs typeface="+mn-cs"/>
        <a:sym typeface="Verdana" panose="020B0604030504040204"/>
      </a:defRPr>
    </a:lvl8pPr>
    <a:lvl9pPr indent="1828800" latinLnBrk="0">
      <a:defRPr sz="1200">
        <a:latin typeface="+mn-lt"/>
        <a:ea typeface="+mn-ea"/>
        <a:cs typeface="+mn-cs"/>
        <a:sym typeface="Verdana" panose="020B060403050404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42875" y="768350"/>
            <a:ext cx="6818313"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CDCF504-06EF-4C10-8DA8-3C54F2A11D7E}"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02948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封面A">
    <p:bg>
      <p:bgPr>
        <a:blipFill dpi="0" rotWithShape="1">
          <a:blip r:embed="rId2">
            <a:lum/>
            <a:extLst>
              <a:ext uri="{96DAC541-7B7A-43D3-8B79-37D633B846F1}">
                <asvg:svgBlip xmlns:asvg="http://schemas.microsoft.com/office/drawing/2016/SVG/main" r:embed="rId3"/>
              </a:ext>
            </a:extLst>
          </a:blip>
          <a:srcRect/>
          <a:stretch>
            <a:fillRect l="-1000" r="-1000"/>
          </a:stretch>
        </a:blipFill>
        <a:effectLst/>
      </p:bgPr>
    </p:bg>
    <p:spTree>
      <p:nvGrpSpPr>
        <p:cNvPr id="1" name=""/>
        <p:cNvGrpSpPr/>
        <p:nvPr/>
      </p:nvGrpSpPr>
      <p:grpSpPr>
        <a:xfrm>
          <a:off x="0" y="0"/>
          <a:ext cx="0" cy="0"/>
          <a:chOff x="0" y="0"/>
          <a:chExt cx="0" cy="0"/>
        </a:xfrm>
      </p:grpSpPr>
      <p:sp>
        <p:nvSpPr>
          <p:cNvPr id="2" name="文本占位符 10"/>
          <p:cNvSpPr>
            <a:spLocks noGrp="1"/>
          </p:cNvSpPr>
          <p:nvPr>
            <p:ph type="body" sz="quarter" idx="12" hasCustomPrompt="1"/>
          </p:nvPr>
        </p:nvSpPr>
        <p:spPr>
          <a:xfrm>
            <a:off x="572268" y="5659425"/>
            <a:ext cx="3320656" cy="252000"/>
          </a:xfrm>
          <a:prstGeom prst="rect">
            <a:avLst/>
          </a:prstGeom>
        </p:spPr>
        <p:txBody>
          <a:bodyPr/>
          <a:lstStyle>
            <a:lvl1pPr marL="0" indent="0">
              <a:buNone/>
              <a:defRPr sz="1400" b="0">
                <a:solidFill>
                  <a:srgbClr val="B2B2B2"/>
                </a:solidFill>
                <a:latin typeface="阿里巴巴普惠体 2.0 45 Light" panose="00020600040101010101" pitchFamily="18" charset="-122"/>
                <a:ea typeface="阿里巴巴普惠体 2.0 45 Light" panose="00020600040101010101" pitchFamily="18" charset="-122"/>
                <a:cs typeface="阿里巴巴普惠体 2.0 45 Light" panose="00020600040101010101" pitchFamily="18" charset="-122"/>
              </a:defRPr>
            </a:lvl1pPr>
          </a:lstStyle>
          <a:p>
            <a:pPr lvl="0"/>
            <a:r>
              <a:rPr lang="zh-CN" altLang="en-US" dirty="0"/>
              <a:t>职务</a:t>
            </a:r>
            <a:r>
              <a:rPr lang="en-US" altLang="zh-CN" dirty="0"/>
              <a:t>/</a:t>
            </a:r>
            <a:r>
              <a:rPr lang="zh-CN" altLang="en-US" dirty="0"/>
              <a:t>部门</a:t>
            </a:r>
          </a:p>
        </p:txBody>
      </p:sp>
      <p:sp>
        <p:nvSpPr>
          <p:cNvPr id="3" name="文本占位符 10"/>
          <p:cNvSpPr>
            <a:spLocks noGrp="1"/>
          </p:cNvSpPr>
          <p:nvPr>
            <p:ph type="body" sz="quarter" idx="13" hasCustomPrompt="1"/>
          </p:nvPr>
        </p:nvSpPr>
        <p:spPr>
          <a:xfrm>
            <a:off x="572268" y="5996589"/>
            <a:ext cx="3320656" cy="252000"/>
          </a:xfrm>
          <a:prstGeom prst="rect">
            <a:avLst/>
          </a:prstGeom>
        </p:spPr>
        <p:txBody>
          <a:bodyPr/>
          <a:lstStyle>
            <a:lvl1pPr marL="0" indent="0">
              <a:buNone/>
              <a:defRPr sz="1400" b="0">
                <a:solidFill>
                  <a:srgbClr val="B2B2B2"/>
                </a:solidFill>
                <a:latin typeface="阿里巴巴普惠体 2.0 45 Light" panose="00020600040101010101" pitchFamily="18" charset="-122"/>
                <a:ea typeface="阿里巴巴普惠体 2.0 45 Light" panose="00020600040101010101" pitchFamily="18" charset="-122"/>
                <a:cs typeface="阿里巴巴普惠体 2.0 45 Light" panose="00020600040101010101" pitchFamily="18" charset="-122"/>
              </a:defRPr>
            </a:lvl1pPr>
          </a:lstStyle>
          <a:p>
            <a:pPr lvl="0"/>
            <a:r>
              <a:rPr lang="zh-CN" altLang="en-US" dirty="0"/>
              <a:t>公司名称</a:t>
            </a:r>
          </a:p>
        </p:txBody>
      </p:sp>
      <p:sp>
        <p:nvSpPr>
          <p:cNvPr id="4" name="文本占位符 10"/>
          <p:cNvSpPr>
            <a:spLocks noGrp="1"/>
          </p:cNvSpPr>
          <p:nvPr>
            <p:ph type="body" sz="quarter" idx="14" hasCustomPrompt="1"/>
          </p:nvPr>
        </p:nvSpPr>
        <p:spPr>
          <a:xfrm>
            <a:off x="572268" y="6333752"/>
            <a:ext cx="3320656" cy="252000"/>
          </a:xfrm>
          <a:prstGeom prst="rect">
            <a:avLst/>
          </a:prstGeom>
        </p:spPr>
        <p:txBody>
          <a:bodyPr/>
          <a:lstStyle>
            <a:lvl1pPr marL="0" indent="0">
              <a:buNone/>
              <a:defRPr sz="1400" b="0">
                <a:solidFill>
                  <a:srgbClr val="B2B2B2"/>
                </a:solidFill>
                <a:latin typeface="阿里巴巴普惠体 2.0 45 Light" panose="00020600040101010101" pitchFamily="18" charset="-122"/>
                <a:ea typeface="阿里巴巴普惠体 2.0 45 Light" panose="00020600040101010101" pitchFamily="18" charset="-122"/>
                <a:cs typeface="阿里巴巴普惠体 2.0 45 Light" panose="00020600040101010101" pitchFamily="18" charset="-122"/>
              </a:defRPr>
            </a:lvl1pPr>
          </a:lstStyle>
          <a:p>
            <a:pPr lvl="0"/>
            <a:r>
              <a:rPr lang="zh-CN" altLang="en-US" dirty="0"/>
              <a:t>日期</a:t>
            </a:r>
          </a:p>
        </p:txBody>
      </p:sp>
      <p:sp>
        <p:nvSpPr>
          <p:cNvPr id="5" name="文本占位符 10"/>
          <p:cNvSpPr>
            <a:spLocks noGrp="1"/>
          </p:cNvSpPr>
          <p:nvPr>
            <p:ph type="body" sz="quarter" idx="15" hasCustomPrompt="1"/>
          </p:nvPr>
        </p:nvSpPr>
        <p:spPr>
          <a:xfrm>
            <a:off x="572268" y="5322261"/>
            <a:ext cx="3320656" cy="252000"/>
          </a:xfrm>
          <a:prstGeom prst="rect">
            <a:avLst/>
          </a:prstGeom>
        </p:spPr>
        <p:txBody>
          <a:bodyPr/>
          <a:lstStyle>
            <a:lvl1pPr marL="0" indent="0">
              <a:buNone/>
              <a:defRPr sz="1400" b="0">
                <a:solidFill>
                  <a:srgbClr val="B2B2B2"/>
                </a:solidFill>
                <a:latin typeface="阿里巴巴普惠体 2.0 45 Light" panose="00020600040101010101" pitchFamily="18" charset="-122"/>
                <a:ea typeface="阿里巴巴普惠体 2.0 45 Light" panose="00020600040101010101" pitchFamily="18" charset="-122"/>
                <a:cs typeface="阿里巴巴普惠体 2.0 45 Light" panose="00020600040101010101" pitchFamily="18" charset="-122"/>
              </a:defRPr>
            </a:lvl1pPr>
          </a:lstStyle>
          <a:p>
            <a:pPr lvl="0"/>
            <a:r>
              <a:rPr lang="zh-CN" altLang="en-US" dirty="0"/>
              <a:t>姓名</a:t>
            </a:r>
          </a:p>
        </p:txBody>
      </p:sp>
      <p:sp>
        <p:nvSpPr>
          <p:cNvPr id="7" name="标题 5"/>
          <p:cNvSpPr>
            <a:spLocks noGrp="1"/>
          </p:cNvSpPr>
          <p:nvPr>
            <p:ph type="title" hasCustomPrompt="1"/>
          </p:nvPr>
        </p:nvSpPr>
        <p:spPr>
          <a:xfrm>
            <a:off x="572268" y="2566568"/>
            <a:ext cx="9692866" cy="952780"/>
          </a:xfrm>
          <a:prstGeom prst="rect">
            <a:avLst/>
          </a:prstGeom>
        </p:spPr>
        <p:txBody>
          <a:bodyPr anchor="b"/>
          <a:lstStyle>
            <a:lvl1pPr marL="0" marR="0" indent="0" algn="l" defTabSz="914400" rtl="0" fontAlgn="auto" latinLnBrk="0" hangingPunct="0">
              <a:lnSpc>
                <a:spcPct val="100000"/>
              </a:lnSpc>
              <a:spcBef>
                <a:spcPts val="0"/>
              </a:spcBef>
              <a:spcAft>
                <a:spcPts val="0"/>
              </a:spcAft>
              <a:buClrTx/>
              <a:buSzTx/>
              <a:buFontTx/>
              <a:buNone/>
              <a:defRPr kumimoji="0" lang="zh-CN" altLang="en-US" sz="5400" b="0" i="0" u="none" strike="noStrike" cap="none" spc="0" normalizeH="0" baseline="0" dirty="0">
                <a:ln>
                  <a:noFill/>
                </a:ln>
                <a:solidFill>
                  <a:srgbClr val="A7A7A7"/>
                </a:solidFill>
                <a:effectLst/>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Verdana" panose="020B0604030504040204"/>
              </a:defRPr>
            </a:lvl1pPr>
          </a:lstStyle>
          <a:p>
            <a:r>
              <a:rPr lang="zh-CN" altLang="en-US" dirty="0"/>
              <a:t>单击此处编辑标题样式</a:t>
            </a:r>
          </a:p>
        </p:txBody>
      </p:sp>
      <p:sp>
        <p:nvSpPr>
          <p:cNvPr id="8" name="文本占位符 10"/>
          <p:cNvSpPr>
            <a:spLocks noGrp="1"/>
          </p:cNvSpPr>
          <p:nvPr>
            <p:ph type="body" sz="quarter" idx="11" hasCustomPrompt="1"/>
          </p:nvPr>
        </p:nvSpPr>
        <p:spPr>
          <a:xfrm>
            <a:off x="572268" y="3825969"/>
            <a:ext cx="9692866" cy="376144"/>
          </a:xfrm>
          <a:prstGeom prst="rect">
            <a:avLst/>
          </a:prstGeom>
        </p:spPr>
        <p:txBody>
          <a:bodyPr/>
          <a:lstStyle>
            <a:lvl1pPr marL="0" indent="0">
              <a:buNone/>
              <a:defRPr sz="2200" b="1">
                <a:solidFill>
                  <a:srgbClr val="B2B2B2"/>
                </a:soli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defRPr>
            </a:lvl1pPr>
          </a:lstStyle>
          <a:p>
            <a:pPr lvl="0"/>
            <a:r>
              <a:rPr lang="zh-CN" altLang="en-US" dirty="0"/>
              <a:t>单击此处编辑副标题</a:t>
            </a:r>
          </a:p>
        </p:txBody>
      </p:sp>
      <p:sp>
        <p:nvSpPr>
          <p:cNvPr id="11" name="文本框 10"/>
          <p:cNvSpPr txBox="1"/>
          <p:nvPr userDrawn="1"/>
        </p:nvSpPr>
        <p:spPr>
          <a:xfrm>
            <a:off x="10225841" y="6310187"/>
            <a:ext cx="1657505" cy="1846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200" b="0" i="0" u="none" strike="noStrike" cap="none" spc="0" normalizeH="0" baseline="0" dirty="0">
                <a:ln>
                  <a:noFill/>
                </a:ln>
                <a:solidFill>
                  <a:srgbClr val="000000"/>
                </a:solidFill>
                <a:effectLst/>
                <a:uFillTx/>
                <a:latin typeface="阿里巴巴普惠体 2.0 45 Light" panose="00020600040101010101" pitchFamily="18" charset="-122"/>
                <a:ea typeface="阿里巴巴普惠体 2.0 45 Light" panose="00020600040101010101" pitchFamily="18" charset="-122"/>
                <a:cs typeface="阿里巴巴普惠体 2.0 45 Light" panose="00020600040101010101" pitchFamily="18" charset="-122"/>
                <a:sym typeface="Verdana" panose="020B0604030504040204"/>
              </a:rPr>
              <a:t>以创新，赢尊重，得未来</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分隔页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0" y="2897981"/>
            <a:ext cx="12192000" cy="1062038"/>
          </a:xfrm>
          <a:prstGeom prst="rect">
            <a:avLst/>
          </a:prstGeom>
        </p:spPr>
        <p:txBody>
          <a:bodyPr anchor="b"/>
          <a:lstStyle>
            <a:lvl1pPr algn="ctr">
              <a:defRPr sz="6000">
                <a:solidFill>
                  <a:schemeClr val="bg1"/>
                </a:solidFill>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defRPr>
            </a:lvl1pPr>
          </a:lstStyle>
          <a:p>
            <a:r>
              <a:rPr lang="zh-CN" altLang="en-US" dirty="0"/>
              <a:t>单击此处编辑标题</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内页A">
    <p:spTree>
      <p:nvGrpSpPr>
        <p:cNvPr id="1" name=""/>
        <p:cNvGrpSpPr/>
        <p:nvPr/>
      </p:nvGrpSpPr>
      <p:grpSpPr>
        <a:xfrm>
          <a:off x="0" y="0"/>
          <a:ext cx="0" cy="0"/>
          <a:chOff x="0" y="0"/>
          <a:chExt cx="0" cy="0"/>
        </a:xfrm>
      </p:grpSpPr>
      <p:pic>
        <p:nvPicPr>
          <p:cNvPr id="2" name="图像" descr="图像"/>
          <p:cNvPicPr>
            <a:picLocks noChangeAspect="1"/>
          </p:cNvPicPr>
          <p:nvPr userDrawn="1"/>
        </p:nvPicPr>
        <p:blipFill rotWithShape="1">
          <a:blip r:embed="rId4">
            <a:clrChange>
              <a:clrFrom>
                <a:srgbClr val="FFFFFF"/>
              </a:clrFrom>
              <a:clrTo>
                <a:srgbClr val="FFFFFF">
                  <a:alpha val="0"/>
                </a:srgbClr>
              </a:clrTo>
            </a:clrChange>
          </a:blip>
          <a:srcRect t="87864" b="6570"/>
          <a:stretch>
            <a:fillRect/>
          </a:stretch>
        </p:blipFill>
        <p:spPr>
          <a:xfrm>
            <a:off x="0" y="532736"/>
            <a:ext cx="12192000" cy="381663"/>
          </a:xfrm>
          <a:prstGeom prst="rect">
            <a:avLst/>
          </a:prstGeom>
          <a:ln w="12700">
            <a:miter lim="400000"/>
            <a:headEnd/>
            <a:tailEnd/>
          </a:ln>
        </p:spPr>
      </p:pic>
      <p:sp>
        <p:nvSpPr>
          <p:cNvPr id="3" name="标题 3"/>
          <p:cNvSpPr>
            <a:spLocks noGrp="1"/>
          </p:cNvSpPr>
          <p:nvPr>
            <p:ph type="title"/>
          </p:nvPr>
        </p:nvSpPr>
        <p:spPr>
          <a:xfrm>
            <a:off x="392879" y="282095"/>
            <a:ext cx="10515600" cy="429369"/>
          </a:xfrm>
          <a:prstGeom prst="rect">
            <a:avLst/>
          </a:prstGeom>
        </p:spPr>
        <p:txBody>
          <a:bodyPr/>
          <a:lstStyle>
            <a:lvl1pPr marL="0" marR="0" indent="0" algn="l" defTabSz="914400" rtl="0" fontAlgn="auto" latinLnBrk="0" hangingPunct="0">
              <a:lnSpc>
                <a:spcPct val="100000"/>
              </a:lnSpc>
              <a:spcBef>
                <a:spcPts val="0"/>
              </a:spcBef>
              <a:spcAft>
                <a:spcPts val="0"/>
              </a:spcAft>
              <a:buClrTx/>
              <a:buSzTx/>
              <a:buFontTx/>
              <a:buNone/>
              <a:defRPr kumimoji="0" lang="zh-CN" altLang="en-US" sz="2400" b="0" i="0" u="none" strike="noStrike" cap="none" spc="0" normalizeH="0" baseline="0" dirty="0">
                <a:ln>
                  <a:noFill/>
                </a:ln>
                <a:solidFill>
                  <a:schemeClr val="accent5"/>
                </a:solidFill>
                <a:effectLst/>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Verdana" panose="020B0604030504040204"/>
              </a:defRPr>
            </a:lvl1pPr>
          </a:lstStyle>
          <a:p>
            <a:r>
              <a:rPr lang="zh-CN" altLang="en-US" dirty="0"/>
              <a:t>单击此处编辑母版标题样式</a:t>
            </a:r>
          </a:p>
        </p:txBody>
      </p:sp>
      <p:grpSp>
        <p:nvGrpSpPr>
          <p:cNvPr id="7" name="组合 6"/>
          <p:cNvGrpSpPr/>
          <p:nvPr userDrawn="1"/>
        </p:nvGrpSpPr>
        <p:grpSpPr>
          <a:xfrm>
            <a:off x="11796395" y="1726565"/>
            <a:ext cx="395605" cy="3842385"/>
            <a:chOff x="18577" y="2719"/>
            <a:chExt cx="623" cy="6051"/>
          </a:xfrm>
        </p:grpSpPr>
        <p:sp>
          <p:nvSpPr>
            <p:cNvPr id="4" name="剪去同侧角的矩形 3"/>
            <p:cNvSpPr/>
            <p:nvPr userDrawn="1">
              <p:custDataLst>
                <p:tags r:id="rId1"/>
              </p:custDataLst>
            </p:nvPr>
          </p:nvSpPr>
          <p:spPr>
            <a:xfrm rot="16200000">
              <a:off x="15863" y="5433"/>
              <a:ext cx="6051" cy="623"/>
            </a:xfrm>
            <a:prstGeom prst="snip2SameRect">
              <a:avLst>
                <a:gd name="adj1" fmla="val 50000"/>
                <a:gd name="adj2" fmla="val 0"/>
              </a:avLst>
            </a:prstGeom>
            <a:solidFill>
              <a:schemeClr val="accent2">
                <a:lumMod val="40000"/>
                <a:lumOff val="60000"/>
              </a:schemeClr>
            </a:solidFill>
            <a:ln w="12700" cap="flat">
              <a:solidFill>
                <a:schemeClr val="accent2">
                  <a:lumMod val="20000"/>
                  <a:lumOff val="80000"/>
                </a:schemeClr>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Verdana" panose="020B0604030504040204"/>
              </a:endParaRPr>
            </a:p>
          </p:txBody>
        </p:sp>
        <p:sp>
          <p:nvSpPr>
            <p:cNvPr id="6" name="文本框 5"/>
            <p:cNvSpPr txBox="1"/>
            <p:nvPr userDrawn="1">
              <p:custDataLst>
                <p:tags r:id="rId2"/>
              </p:custDataLst>
            </p:nvPr>
          </p:nvSpPr>
          <p:spPr>
            <a:xfrm>
              <a:off x="18577" y="5013"/>
              <a:ext cx="581" cy="36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eaVert" wrap="square" lIns="0" tIns="0" rIns="0" bIns="0" numCol="1" spcCol="38100" rtlCol="0" anchor="t" forceAA="0">
              <a:spAutoFit/>
            </a:bodyPr>
            <a:lstStyle/>
            <a:p>
              <a:pPr algn="l"/>
              <a:r>
                <a:rPr lang="zh-CN" altLang="en-US" sz="2400" dirty="0">
                  <a:solidFill>
                    <a:schemeClr val="bg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离子</a:t>
              </a:r>
            </a:p>
          </p:txBody>
        </p:sp>
      </p:gr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内页A">
    <p:spTree>
      <p:nvGrpSpPr>
        <p:cNvPr id="1" name=""/>
        <p:cNvGrpSpPr/>
        <p:nvPr/>
      </p:nvGrpSpPr>
      <p:grpSpPr>
        <a:xfrm>
          <a:off x="0" y="0"/>
          <a:ext cx="0" cy="0"/>
          <a:chOff x="0" y="0"/>
          <a:chExt cx="0" cy="0"/>
        </a:xfrm>
      </p:grpSpPr>
      <p:pic>
        <p:nvPicPr>
          <p:cNvPr id="2" name="图像" descr="图像"/>
          <p:cNvPicPr>
            <a:picLocks noChangeAspect="1"/>
          </p:cNvPicPr>
          <p:nvPr userDrawn="1"/>
        </p:nvPicPr>
        <p:blipFill rotWithShape="1">
          <a:blip r:embed="rId2">
            <a:clrChange>
              <a:clrFrom>
                <a:srgbClr val="FFFFFF"/>
              </a:clrFrom>
              <a:clrTo>
                <a:srgbClr val="FFFFFF">
                  <a:alpha val="0"/>
                </a:srgbClr>
              </a:clrTo>
            </a:clrChange>
          </a:blip>
          <a:srcRect t="87864" b="6570"/>
          <a:stretch>
            <a:fillRect/>
          </a:stretch>
        </p:blipFill>
        <p:spPr>
          <a:xfrm>
            <a:off x="0" y="532736"/>
            <a:ext cx="12192000" cy="381663"/>
          </a:xfrm>
          <a:prstGeom prst="rect">
            <a:avLst/>
          </a:prstGeom>
          <a:ln w="12700">
            <a:miter lim="400000"/>
            <a:headEnd/>
            <a:tailEnd/>
          </a:ln>
        </p:spPr>
      </p:pic>
      <p:sp>
        <p:nvSpPr>
          <p:cNvPr id="3" name="标题 3"/>
          <p:cNvSpPr>
            <a:spLocks noGrp="1"/>
          </p:cNvSpPr>
          <p:nvPr>
            <p:ph type="title"/>
          </p:nvPr>
        </p:nvSpPr>
        <p:spPr>
          <a:xfrm>
            <a:off x="392879" y="282095"/>
            <a:ext cx="10515600" cy="429369"/>
          </a:xfrm>
          <a:prstGeom prst="rect">
            <a:avLst/>
          </a:prstGeom>
        </p:spPr>
        <p:txBody>
          <a:bodyPr/>
          <a:lstStyle>
            <a:lvl1pPr marL="0" marR="0" indent="0" algn="l" defTabSz="914400" rtl="0" fontAlgn="auto" latinLnBrk="0" hangingPunct="0">
              <a:lnSpc>
                <a:spcPct val="100000"/>
              </a:lnSpc>
              <a:spcBef>
                <a:spcPts val="0"/>
              </a:spcBef>
              <a:spcAft>
                <a:spcPts val="0"/>
              </a:spcAft>
              <a:buClrTx/>
              <a:buSzTx/>
              <a:buFontTx/>
              <a:buNone/>
              <a:defRPr kumimoji="0" lang="zh-CN" altLang="en-US" sz="2400" b="0" i="0" u="none" strike="noStrike" cap="none" spc="0" normalizeH="0" baseline="0" dirty="0">
                <a:ln>
                  <a:noFill/>
                </a:ln>
                <a:solidFill>
                  <a:schemeClr val="accent5"/>
                </a:solidFill>
                <a:effectLst/>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Verdana" panose="020B0604030504040204"/>
              </a:defRPr>
            </a:lvl1pPr>
          </a:lstStyle>
          <a:p>
            <a:r>
              <a:rPr lang="zh-CN" altLang="en-US" dirty="0"/>
              <a:t>单击此处编辑母版标题样式</a:t>
            </a:r>
          </a:p>
        </p:txBody>
      </p:sp>
      <p:grpSp>
        <p:nvGrpSpPr>
          <p:cNvPr id="7" name="组合 6"/>
          <p:cNvGrpSpPr/>
          <p:nvPr userDrawn="1"/>
        </p:nvGrpSpPr>
        <p:grpSpPr>
          <a:xfrm>
            <a:off x="11796395" y="1726565"/>
            <a:ext cx="394970" cy="3841750"/>
            <a:chOff x="18577" y="2719"/>
            <a:chExt cx="622" cy="6050"/>
          </a:xfrm>
        </p:grpSpPr>
        <p:sp>
          <p:nvSpPr>
            <p:cNvPr id="4" name="剪去同侧角的矩形 3"/>
            <p:cNvSpPr/>
            <p:nvPr userDrawn="1"/>
          </p:nvSpPr>
          <p:spPr>
            <a:xfrm rot="16200000">
              <a:off x="15863" y="5433"/>
              <a:ext cx="6051" cy="623"/>
            </a:xfrm>
            <a:prstGeom prst="snip2SameRect">
              <a:avLst>
                <a:gd name="adj1" fmla="val 50000"/>
                <a:gd name="adj2" fmla="val 0"/>
              </a:avLst>
            </a:prstGeom>
            <a:solidFill>
              <a:schemeClr val="accent1">
                <a:lumMod val="40000"/>
                <a:lumOff val="60000"/>
              </a:schemeClr>
            </a:solidFill>
            <a:ln w="12700" cap="flat">
              <a:solidFill>
                <a:schemeClr val="accent1">
                  <a:lumMod val="20000"/>
                  <a:lumOff val="80000"/>
                </a:schemeClr>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Verdana" panose="020B0604030504040204"/>
              </a:endParaRPr>
            </a:p>
          </p:txBody>
        </p:sp>
        <p:sp>
          <p:nvSpPr>
            <p:cNvPr id="6" name="文本框 5"/>
            <p:cNvSpPr txBox="1"/>
            <p:nvPr userDrawn="1"/>
          </p:nvSpPr>
          <p:spPr>
            <a:xfrm>
              <a:off x="18577" y="5013"/>
              <a:ext cx="581" cy="36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eaVert" wrap="square" lIns="0" tIns="0" rIns="0" bIns="0" numCol="1" spcCol="38100" rtlCol="0" anchor="t" forceAA="0">
              <a:spAutoFit/>
            </a:bodyPr>
            <a:lstStyle/>
            <a:p>
              <a:pPr algn="l"/>
              <a:r>
                <a:rPr lang="zh-CN" altLang="en-US" sz="2400" dirty="0">
                  <a:solidFill>
                    <a:schemeClr val="bg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亲和</a:t>
              </a:r>
            </a:p>
          </p:txBody>
        </p:sp>
      </p:gr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内页A">
    <p:spTree>
      <p:nvGrpSpPr>
        <p:cNvPr id="1" name=""/>
        <p:cNvGrpSpPr/>
        <p:nvPr/>
      </p:nvGrpSpPr>
      <p:grpSpPr>
        <a:xfrm>
          <a:off x="0" y="0"/>
          <a:ext cx="0" cy="0"/>
          <a:chOff x="0" y="0"/>
          <a:chExt cx="0" cy="0"/>
        </a:xfrm>
      </p:grpSpPr>
      <p:pic>
        <p:nvPicPr>
          <p:cNvPr id="2" name="图像" descr="图像"/>
          <p:cNvPicPr>
            <a:picLocks noChangeAspect="1"/>
          </p:cNvPicPr>
          <p:nvPr userDrawn="1"/>
        </p:nvPicPr>
        <p:blipFill rotWithShape="1">
          <a:blip r:embed="rId2">
            <a:clrChange>
              <a:clrFrom>
                <a:srgbClr val="FFFFFF"/>
              </a:clrFrom>
              <a:clrTo>
                <a:srgbClr val="FFFFFF">
                  <a:alpha val="0"/>
                </a:srgbClr>
              </a:clrTo>
            </a:clrChange>
          </a:blip>
          <a:srcRect t="87864" b="6570"/>
          <a:stretch>
            <a:fillRect/>
          </a:stretch>
        </p:blipFill>
        <p:spPr>
          <a:xfrm>
            <a:off x="0" y="532736"/>
            <a:ext cx="12192000" cy="381663"/>
          </a:xfrm>
          <a:prstGeom prst="rect">
            <a:avLst/>
          </a:prstGeom>
          <a:ln w="12700">
            <a:miter lim="400000"/>
            <a:headEnd/>
            <a:tailEnd/>
          </a:ln>
        </p:spPr>
      </p:pic>
      <p:sp>
        <p:nvSpPr>
          <p:cNvPr id="3" name="标题 3"/>
          <p:cNvSpPr>
            <a:spLocks noGrp="1"/>
          </p:cNvSpPr>
          <p:nvPr>
            <p:ph type="title"/>
          </p:nvPr>
        </p:nvSpPr>
        <p:spPr>
          <a:xfrm>
            <a:off x="392879" y="282095"/>
            <a:ext cx="10515600" cy="429369"/>
          </a:xfrm>
          <a:prstGeom prst="rect">
            <a:avLst/>
          </a:prstGeom>
        </p:spPr>
        <p:txBody>
          <a:bodyPr/>
          <a:lstStyle>
            <a:lvl1pPr marL="0" marR="0" indent="0" algn="l" defTabSz="914400" rtl="0" fontAlgn="auto" latinLnBrk="0" hangingPunct="0">
              <a:lnSpc>
                <a:spcPct val="100000"/>
              </a:lnSpc>
              <a:spcBef>
                <a:spcPts val="0"/>
              </a:spcBef>
              <a:spcAft>
                <a:spcPts val="0"/>
              </a:spcAft>
              <a:buClrTx/>
              <a:buSzTx/>
              <a:buFontTx/>
              <a:buNone/>
              <a:defRPr kumimoji="0" lang="zh-CN" altLang="en-US" sz="2400" b="0" i="0" u="none" strike="noStrike" cap="none" spc="0" normalizeH="0" baseline="0" dirty="0">
                <a:ln>
                  <a:noFill/>
                </a:ln>
                <a:solidFill>
                  <a:schemeClr val="accent5"/>
                </a:solidFill>
                <a:effectLst/>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Verdana" panose="020B0604030504040204"/>
              </a:defRPr>
            </a:lvl1pPr>
          </a:lstStyle>
          <a:p>
            <a:r>
              <a:rPr lang="zh-CN" altLang="en-US" dirty="0"/>
              <a:t>单击此处编辑母版标题样式</a:t>
            </a:r>
          </a:p>
        </p:txBody>
      </p:sp>
      <p:grpSp>
        <p:nvGrpSpPr>
          <p:cNvPr id="7" name="组合 6"/>
          <p:cNvGrpSpPr/>
          <p:nvPr userDrawn="1"/>
        </p:nvGrpSpPr>
        <p:grpSpPr>
          <a:xfrm>
            <a:off x="11796395" y="1726565"/>
            <a:ext cx="395605" cy="3842385"/>
            <a:chOff x="18577" y="2719"/>
            <a:chExt cx="623" cy="6051"/>
          </a:xfrm>
          <a:solidFill>
            <a:schemeClr val="accent3">
              <a:lumMod val="40000"/>
              <a:lumOff val="60000"/>
            </a:schemeClr>
          </a:solidFill>
        </p:grpSpPr>
        <p:sp>
          <p:nvSpPr>
            <p:cNvPr id="4" name="剪去同侧角的矩形 3"/>
            <p:cNvSpPr/>
            <p:nvPr userDrawn="1"/>
          </p:nvSpPr>
          <p:spPr>
            <a:xfrm rot="16200000">
              <a:off x="15863" y="5433"/>
              <a:ext cx="6051" cy="623"/>
            </a:xfrm>
            <a:prstGeom prst="snip2SameRect">
              <a:avLst>
                <a:gd name="adj1" fmla="val 50000"/>
                <a:gd name="adj2" fmla="val 0"/>
              </a:avLst>
            </a:prstGeom>
            <a:grpFill/>
            <a:ln w="12700" cap="flat">
              <a:solidFill>
                <a:schemeClr val="accent3">
                  <a:lumMod val="20000"/>
                  <a:lumOff val="80000"/>
                </a:schemeClr>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Verdana" panose="020B0604030504040204"/>
              </a:endParaRPr>
            </a:p>
          </p:txBody>
        </p:sp>
        <p:sp>
          <p:nvSpPr>
            <p:cNvPr id="6" name="文本框 5"/>
            <p:cNvSpPr txBox="1"/>
            <p:nvPr userDrawn="1"/>
          </p:nvSpPr>
          <p:spPr>
            <a:xfrm>
              <a:off x="18577" y="5013"/>
              <a:ext cx="581" cy="2338"/>
            </a:xfrm>
            <a:prstGeom prst="rect">
              <a:avLst/>
            </a:prstGeom>
            <a:grp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eaVert" wrap="square" lIns="0" tIns="0" rIns="0" bIns="0" numCol="1" spcCol="38100" rtlCol="0" anchor="t" forceAA="0">
              <a:spAutoFit/>
            </a:bodyPr>
            <a:lstStyle/>
            <a:p>
              <a:pPr algn="l"/>
              <a:r>
                <a:rPr lang="zh-CN" altLang="en-US" sz="2400" dirty="0">
                  <a:ln>
                    <a:noFill/>
                  </a:ln>
                  <a:solidFill>
                    <a:schemeClr val="bg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疏水</a:t>
              </a:r>
            </a:p>
          </p:txBody>
        </p:sp>
      </p:gr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内页A">
    <p:spTree>
      <p:nvGrpSpPr>
        <p:cNvPr id="1" name=""/>
        <p:cNvGrpSpPr/>
        <p:nvPr/>
      </p:nvGrpSpPr>
      <p:grpSpPr>
        <a:xfrm>
          <a:off x="0" y="0"/>
          <a:ext cx="0" cy="0"/>
          <a:chOff x="0" y="0"/>
          <a:chExt cx="0" cy="0"/>
        </a:xfrm>
      </p:grpSpPr>
      <p:pic>
        <p:nvPicPr>
          <p:cNvPr id="2" name="图像" descr="图像"/>
          <p:cNvPicPr>
            <a:picLocks noChangeAspect="1"/>
          </p:cNvPicPr>
          <p:nvPr userDrawn="1"/>
        </p:nvPicPr>
        <p:blipFill rotWithShape="1">
          <a:blip r:embed="rId3">
            <a:clrChange>
              <a:clrFrom>
                <a:srgbClr val="FFFFFF"/>
              </a:clrFrom>
              <a:clrTo>
                <a:srgbClr val="FFFFFF">
                  <a:alpha val="0"/>
                </a:srgbClr>
              </a:clrTo>
            </a:clrChange>
          </a:blip>
          <a:srcRect t="87864" b="6570"/>
          <a:stretch>
            <a:fillRect/>
          </a:stretch>
        </p:blipFill>
        <p:spPr>
          <a:xfrm>
            <a:off x="0" y="532736"/>
            <a:ext cx="12192000" cy="381663"/>
          </a:xfrm>
          <a:prstGeom prst="rect">
            <a:avLst/>
          </a:prstGeom>
          <a:ln w="12700">
            <a:miter lim="400000"/>
            <a:headEnd/>
            <a:tailEnd/>
          </a:ln>
        </p:spPr>
      </p:pic>
      <p:sp>
        <p:nvSpPr>
          <p:cNvPr id="3" name="标题 3"/>
          <p:cNvSpPr>
            <a:spLocks noGrp="1"/>
          </p:cNvSpPr>
          <p:nvPr>
            <p:ph type="title"/>
          </p:nvPr>
        </p:nvSpPr>
        <p:spPr>
          <a:xfrm>
            <a:off x="392879" y="282095"/>
            <a:ext cx="10515600" cy="429369"/>
          </a:xfrm>
          <a:prstGeom prst="rect">
            <a:avLst/>
          </a:prstGeom>
        </p:spPr>
        <p:txBody>
          <a:bodyPr/>
          <a:lstStyle>
            <a:lvl1pPr marL="0" marR="0" indent="0" algn="l" defTabSz="914400" rtl="0" fontAlgn="auto" latinLnBrk="0" hangingPunct="0">
              <a:lnSpc>
                <a:spcPct val="100000"/>
              </a:lnSpc>
              <a:spcBef>
                <a:spcPts val="0"/>
              </a:spcBef>
              <a:spcAft>
                <a:spcPts val="0"/>
              </a:spcAft>
              <a:buClrTx/>
              <a:buSzTx/>
              <a:buFontTx/>
              <a:buNone/>
              <a:defRPr kumimoji="0" lang="zh-CN" altLang="en-US" sz="2400" b="0" i="0" u="none" strike="noStrike" cap="none" spc="0" normalizeH="0" baseline="0" dirty="0">
                <a:ln>
                  <a:noFill/>
                </a:ln>
                <a:solidFill>
                  <a:schemeClr val="accent5"/>
                </a:solidFill>
                <a:effectLst/>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Verdana" panose="020B0604030504040204"/>
              </a:defRPr>
            </a:lvl1pPr>
          </a:lstStyle>
          <a:p>
            <a:r>
              <a:rPr lang="zh-CN" altLang="en-US" dirty="0"/>
              <a:t>单击此处编辑母版标题样式</a:t>
            </a:r>
          </a:p>
        </p:txBody>
      </p:sp>
      <p:sp>
        <p:nvSpPr>
          <p:cNvPr id="4" name="剪去同侧角的矩形 3"/>
          <p:cNvSpPr/>
          <p:nvPr userDrawn="1"/>
        </p:nvSpPr>
        <p:spPr>
          <a:xfrm rot="16200000">
            <a:off x="10058134" y="3449955"/>
            <a:ext cx="3842385" cy="395605"/>
          </a:xfrm>
          <a:prstGeom prst="snip2SameRect">
            <a:avLst>
              <a:gd name="adj1" fmla="val 50000"/>
              <a:gd name="adj2" fmla="val 0"/>
            </a:avLst>
          </a:prstGeom>
          <a:solidFill>
            <a:schemeClr val="accent3">
              <a:lumMod val="40000"/>
              <a:lumOff val="60000"/>
            </a:schemeClr>
          </a:solidFill>
          <a:ln w="12700" cap="flat">
            <a:solidFill>
              <a:schemeClr val="accent3">
                <a:lumMod val="20000"/>
                <a:lumOff val="80000"/>
              </a:schemeClr>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Verdana" panose="020B0604030504040204"/>
            </a:endParaRPr>
          </a:p>
        </p:txBody>
      </p:sp>
      <p:sp>
        <p:nvSpPr>
          <p:cNvPr id="8" name="剪去同侧角的矩形 3">
            <a:extLst>
              <a:ext uri="{FF2B5EF4-FFF2-40B4-BE49-F238E27FC236}">
                <a16:creationId xmlns:a16="http://schemas.microsoft.com/office/drawing/2014/main" id="{A286F986-1971-8B58-411A-9FF202907F00}"/>
              </a:ext>
            </a:extLst>
          </p:cNvPr>
          <p:cNvSpPr/>
          <p:nvPr userDrawn="1">
            <p:custDataLst>
              <p:tags r:id="rId1"/>
            </p:custDataLst>
          </p:nvPr>
        </p:nvSpPr>
        <p:spPr>
          <a:xfrm rot="16200000">
            <a:off x="10058135" y="3449955"/>
            <a:ext cx="3842385" cy="395605"/>
          </a:xfrm>
          <a:prstGeom prst="snip2SameRect">
            <a:avLst>
              <a:gd name="adj1" fmla="val 50000"/>
              <a:gd name="adj2" fmla="val 0"/>
            </a:avLst>
          </a:prstGeom>
          <a:solidFill>
            <a:schemeClr val="accent2">
              <a:lumMod val="40000"/>
              <a:lumOff val="60000"/>
              <a:alpha val="50000"/>
            </a:schemeClr>
          </a:solidFill>
          <a:ln w="12700" cap="flat">
            <a:solidFill>
              <a:schemeClr val="accent2">
                <a:lumMod val="20000"/>
                <a:lumOff val="80000"/>
              </a:schemeClr>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Verdana" panose="020B0604030504040204"/>
            </a:endParaRPr>
          </a:p>
        </p:txBody>
      </p:sp>
      <p:sp>
        <p:nvSpPr>
          <p:cNvPr id="11" name="文本框 10">
            <a:extLst>
              <a:ext uri="{FF2B5EF4-FFF2-40B4-BE49-F238E27FC236}">
                <a16:creationId xmlns:a16="http://schemas.microsoft.com/office/drawing/2014/main" id="{668FFEA0-558F-75CB-0758-E14E6FD6522E}"/>
              </a:ext>
            </a:extLst>
          </p:cNvPr>
          <p:cNvSpPr txBox="1"/>
          <p:nvPr userDrawn="1"/>
        </p:nvSpPr>
        <p:spPr>
          <a:xfrm>
            <a:off x="11759225" y="2913364"/>
            <a:ext cx="395605" cy="156966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algn="l"/>
            <a:r>
              <a:rPr lang="zh-CN" altLang="en-US" sz="2400" dirty="0">
                <a:ln>
                  <a:noFill/>
                </a:ln>
                <a:solidFill>
                  <a:schemeClr val="bg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复合模式</a:t>
            </a:r>
          </a:p>
        </p:txBody>
      </p:sp>
    </p:spTree>
    <p:extLst>
      <p:ext uri="{BB962C8B-B14F-4D97-AF65-F5344CB8AC3E}">
        <p14:creationId xmlns:p14="http://schemas.microsoft.com/office/powerpoint/2010/main" val="241559169"/>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内页A">
    <p:spTree>
      <p:nvGrpSpPr>
        <p:cNvPr id="1" name=""/>
        <p:cNvGrpSpPr/>
        <p:nvPr/>
      </p:nvGrpSpPr>
      <p:grpSpPr>
        <a:xfrm>
          <a:off x="0" y="0"/>
          <a:ext cx="0" cy="0"/>
          <a:chOff x="0" y="0"/>
          <a:chExt cx="0" cy="0"/>
        </a:xfrm>
      </p:grpSpPr>
      <p:pic>
        <p:nvPicPr>
          <p:cNvPr id="2" name="图像" descr="图像"/>
          <p:cNvPicPr>
            <a:picLocks noChangeAspect="1"/>
          </p:cNvPicPr>
          <p:nvPr userDrawn="1"/>
        </p:nvPicPr>
        <p:blipFill rotWithShape="1">
          <a:blip r:embed="rId2">
            <a:clrChange>
              <a:clrFrom>
                <a:srgbClr val="FFFFFF"/>
              </a:clrFrom>
              <a:clrTo>
                <a:srgbClr val="FFFFFF">
                  <a:alpha val="0"/>
                </a:srgbClr>
              </a:clrTo>
            </a:clrChange>
          </a:blip>
          <a:srcRect t="87864" b="6570"/>
          <a:stretch>
            <a:fillRect/>
          </a:stretch>
        </p:blipFill>
        <p:spPr>
          <a:xfrm>
            <a:off x="0" y="532736"/>
            <a:ext cx="12192000" cy="381663"/>
          </a:xfrm>
          <a:prstGeom prst="rect">
            <a:avLst/>
          </a:prstGeom>
          <a:ln w="12700">
            <a:miter lim="400000"/>
            <a:headEnd/>
            <a:tailEnd/>
          </a:ln>
        </p:spPr>
      </p:pic>
      <p:sp>
        <p:nvSpPr>
          <p:cNvPr id="3" name="标题 3"/>
          <p:cNvSpPr>
            <a:spLocks noGrp="1"/>
          </p:cNvSpPr>
          <p:nvPr>
            <p:ph type="title"/>
          </p:nvPr>
        </p:nvSpPr>
        <p:spPr>
          <a:xfrm>
            <a:off x="392879" y="282095"/>
            <a:ext cx="10515600" cy="429369"/>
          </a:xfrm>
          <a:prstGeom prst="rect">
            <a:avLst/>
          </a:prstGeom>
        </p:spPr>
        <p:txBody>
          <a:bodyPr/>
          <a:lstStyle>
            <a:lvl1pPr marL="0" marR="0" indent="0" algn="l" defTabSz="914400" rtl="0" fontAlgn="auto" latinLnBrk="0" hangingPunct="0">
              <a:lnSpc>
                <a:spcPct val="100000"/>
              </a:lnSpc>
              <a:spcBef>
                <a:spcPts val="0"/>
              </a:spcBef>
              <a:spcAft>
                <a:spcPts val="0"/>
              </a:spcAft>
              <a:buClrTx/>
              <a:buSzTx/>
              <a:buFontTx/>
              <a:buNone/>
              <a:defRPr kumimoji="0" lang="zh-CN" altLang="en-US" sz="2400" b="0" i="0" u="none" strike="noStrike" cap="none" spc="0" normalizeH="0" baseline="0" dirty="0">
                <a:ln>
                  <a:noFill/>
                </a:ln>
                <a:solidFill>
                  <a:schemeClr val="accent5"/>
                </a:solidFill>
                <a:effectLst/>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Verdana" panose="020B0604030504040204"/>
              </a:defRPr>
            </a:lvl1pPr>
          </a:lstStyle>
          <a:p>
            <a:r>
              <a:rPr lang="zh-CN" altLang="en-US" dirty="0"/>
              <a:t>单击此处编辑母版标题样式</a:t>
            </a: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内页A">
    <p:spTree>
      <p:nvGrpSpPr>
        <p:cNvPr id="1" name=""/>
        <p:cNvGrpSpPr/>
        <p:nvPr/>
      </p:nvGrpSpPr>
      <p:grpSpPr>
        <a:xfrm>
          <a:off x="0" y="0"/>
          <a:ext cx="0" cy="0"/>
          <a:chOff x="0" y="0"/>
          <a:chExt cx="0" cy="0"/>
        </a:xfrm>
      </p:grpSpPr>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封底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3"/>
          <p:cNvSpPr>
            <a:spLocks noGrp="1"/>
          </p:cNvSpPr>
          <p:nvPr>
            <p:ph type="title" hasCustomPrompt="1"/>
          </p:nvPr>
        </p:nvSpPr>
        <p:spPr>
          <a:xfrm>
            <a:off x="5414837" y="3096295"/>
            <a:ext cx="5080885" cy="639510"/>
          </a:xfrm>
          <a:prstGeom prst="rect">
            <a:avLst/>
          </a:prstGeom>
        </p:spPr>
        <p:txBody>
          <a:bodyPr/>
          <a:lstStyle>
            <a:lvl1pPr algn="ctr">
              <a:defRPr b="1">
                <a:solidFill>
                  <a:schemeClr val="bg1"/>
                </a:solidFill>
                <a:latin typeface="阿里巴巴普惠体 2.0 105 Heavy" panose="00020600040101010101" pitchFamily="18" charset="-122"/>
                <a:ea typeface="阿里巴巴普惠体 2.0 105 Heavy" panose="00020600040101010101" pitchFamily="18" charset="-122"/>
              </a:defRPr>
            </a:lvl1pPr>
          </a:lstStyle>
          <a:p>
            <a:r>
              <a:rPr lang="zh-CN" altLang="en-US" dirty="0"/>
              <a:t>单击此处编辑致谢</a:t>
            </a: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单表">
    <p:spTree>
      <p:nvGrpSpPr>
        <p:cNvPr id="1" name=""/>
        <p:cNvGrpSpPr/>
        <p:nvPr/>
      </p:nvGrpSpPr>
      <p:grpSpPr>
        <a:xfrm>
          <a:off x="0" y="0"/>
          <a:ext cx="0" cy="0"/>
          <a:chOff x="0" y="0"/>
          <a:chExt cx="0" cy="0"/>
        </a:xfrm>
      </p:grpSpPr>
      <p:sp>
        <p:nvSpPr>
          <p:cNvPr id="5" name="表格占位符 4"/>
          <p:cNvSpPr>
            <a:spLocks noGrp="1"/>
          </p:cNvSpPr>
          <p:nvPr>
            <p:ph type="tbl" sz="quarter" idx="13"/>
          </p:nvPr>
        </p:nvSpPr>
        <p:spPr>
          <a:xfrm>
            <a:off x="2002367" y="757767"/>
            <a:ext cx="8174567" cy="4633384"/>
          </a:xfrm>
          <a:prstGeom prst="rect">
            <a:avLst/>
          </a:prstGeom>
        </p:spPr>
        <p:txBody>
          <a:bodyPr/>
          <a:lstStyle/>
          <a:p>
            <a:endParaRPr lang="zh-CN" altLang="en-US"/>
          </a:p>
        </p:txBody>
      </p:sp>
      <p:sp>
        <p:nvSpPr>
          <p:cNvPr id="2" name="标题 1"/>
          <p:cNvSpPr>
            <a:spLocks noGrp="1"/>
          </p:cNvSpPr>
          <p:nvPr>
            <p:ph type="title"/>
          </p:nvPr>
        </p:nvSpPr>
        <p:spPr>
          <a:xfrm>
            <a:off x="838201" y="229943"/>
            <a:ext cx="8919411" cy="481263"/>
          </a:xfrm>
          <a:prstGeom prst="rect">
            <a:avLst/>
          </a:prstGeom>
        </p:spPr>
        <p:txBody>
          <a:bodyPr anchor="ctr"/>
          <a:lstStyle>
            <a:lvl1pPr>
              <a:lnSpc>
                <a:spcPct val="100000"/>
              </a:lnSpc>
              <a:defRPr sz="2665">
                <a:latin typeface="思源黑体 CN Heavy" panose="020B0A00000000000000" pitchFamily="34" charset="-122"/>
                <a:ea typeface="思源黑体 CN Heavy" panose="020B0A00000000000000" pitchFamily="34" charset="-122"/>
              </a:defRPr>
            </a:lvl1pPr>
          </a:lstStyle>
          <a:p>
            <a:r>
              <a:rPr lang="zh-CN" altLang="en-US" dirty="0"/>
              <a:t>单击此处编辑母版标题样式</a:t>
            </a:r>
          </a:p>
        </p:txBody>
      </p:sp>
      <p:sp>
        <p:nvSpPr>
          <p:cNvPr id="7" name="文本占位符 6"/>
          <p:cNvSpPr>
            <a:spLocks noGrp="1"/>
          </p:cNvSpPr>
          <p:nvPr>
            <p:ph type="body" sz="quarter" idx="12"/>
          </p:nvPr>
        </p:nvSpPr>
        <p:spPr>
          <a:xfrm>
            <a:off x="838201" y="5454317"/>
            <a:ext cx="10886017" cy="1270535"/>
          </a:xfrm>
          <a:prstGeom prst="rect">
            <a:avLst/>
          </a:prstGeom>
        </p:spPr>
        <p:txBody>
          <a:bodyPr/>
          <a:lstStyle>
            <a:lvl1pPr marL="228600" indent="-228600">
              <a:lnSpc>
                <a:spcPct val="150000"/>
              </a:lnSpc>
              <a:spcBef>
                <a:spcPts val="0"/>
              </a:spcBef>
              <a:spcAft>
                <a:spcPts val="800"/>
              </a:spcAft>
              <a:buFont typeface="Wingdings" panose="05000000000000000000" pitchFamily="2" charset="2"/>
              <a:buChar char="Ø"/>
              <a:defRPr sz="1335"/>
            </a:lvl1pPr>
            <a:lvl2pPr marL="457200" indent="0">
              <a:buFont typeface="Wingdings" panose="05000000000000000000" pitchFamily="2" charset="2"/>
              <a:buNone/>
              <a:defRPr/>
            </a:lvl2pPr>
            <a:lvl3pPr marL="1143000" indent="-228600">
              <a:buFont typeface="Wingdings" panose="05000000000000000000" pitchFamily="2" charset="2"/>
              <a:buChar char="Ø"/>
              <a:defRPr/>
            </a:lvl3pPr>
            <a:lvl4pPr marL="1600200" indent="-228600">
              <a:buFont typeface="Wingdings" panose="05000000000000000000" pitchFamily="2" charset="2"/>
              <a:buChar char="Ø"/>
              <a:defRPr/>
            </a:lvl4pPr>
            <a:lvl5pPr marL="2057400" indent="-228600">
              <a:buFont typeface="Wingdings" panose="05000000000000000000" pitchFamily="2" charset="2"/>
              <a:buChar char="Ø"/>
              <a:defRPr/>
            </a:lvl5pPr>
          </a:lstStyle>
          <a:p>
            <a:pPr lvl="0"/>
            <a:r>
              <a:rPr lang="zh-CN" altLang="en-US" dirty="0"/>
              <a:t>单击此处编辑母版文本样式</a:t>
            </a:r>
            <a:endParaRPr lang="en-US" altLang="zh-CN" dirty="0"/>
          </a:p>
          <a:p>
            <a:pPr marL="228600" marR="0" lvl="0" indent="-228600" algn="l" defTabSz="914400" rtl="0" eaLnBrk="1" fontAlgn="auto" latinLnBrk="0" hangingPunct="1">
              <a:lnSpc>
                <a:spcPct val="150000"/>
              </a:lnSpc>
              <a:spcBef>
                <a:spcPts val="0"/>
              </a:spcBef>
              <a:spcAft>
                <a:spcPts val="800"/>
              </a:spcAft>
              <a:buClrTx/>
              <a:buSzTx/>
              <a:buFont typeface="Wingdings" panose="05000000000000000000" pitchFamily="2" charset="2"/>
              <a:buChar char="Ø"/>
              <a:defRPr/>
            </a:pPr>
            <a:r>
              <a:rPr lang="zh-CN" altLang="en-US" dirty="0"/>
              <a:t>单击此处编辑母版文本样式</a:t>
            </a:r>
            <a:endParaRPr lang="en-US" altLang="zh-CN" dirty="0"/>
          </a:p>
          <a:p>
            <a:pPr lvl="0"/>
            <a:endParaRPr lang="zh-CN" altLang="en-US" dirty="0"/>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9"/>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200" indent="0" algn="ctr">
              <a:buNone/>
              <a:defRPr>
                <a:solidFill>
                  <a:schemeClr val="tx1">
                    <a:tint val="75000"/>
                  </a:schemeClr>
                </a:solidFill>
              </a:defRPr>
            </a:lvl8pPr>
            <a:lvl9pPr marL="48768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2"/>
            <a:ext cx="2844800" cy="365125"/>
          </a:xfrm>
        </p:spPr>
        <p:txBody>
          <a:bodyPr/>
          <a:lstStyle/>
          <a:p>
            <a:endParaRPr lang="zh-CN" altLang="en-US"/>
          </a:p>
        </p:txBody>
      </p:sp>
      <p:sp>
        <p:nvSpPr>
          <p:cNvPr id="5" name="页脚占位符 4"/>
          <p:cNvSpPr>
            <a:spLocks noGrp="1"/>
          </p:cNvSpPr>
          <p:nvPr>
            <p:ph type="ftr" sz="quarter" idx="11"/>
          </p:nvPr>
        </p:nvSpPr>
        <p:spPr>
          <a:xfrm>
            <a:off x="4165600" y="6356352"/>
            <a:ext cx="3860800" cy="365125"/>
          </a:xfrm>
        </p:spPr>
        <p:txBody>
          <a:bodyPr/>
          <a:lstStyle/>
          <a:p>
            <a:endParaRPr lang="zh-CN" altLang="en-US"/>
          </a:p>
        </p:txBody>
      </p:sp>
      <p:sp>
        <p:nvSpPr>
          <p:cNvPr id="6" name="灯片编号占位符 5"/>
          <p:cNvSpPr>
            <a:spLocks noGrp="1"/>
          </p:cNvSpPr>
          <p:nvPr>
            <p:ph type="sldNum" sz="quarter" idx="12"/>
          </p:nvPr>
        </p:nvSpPr>
        <p:spPr>
          <a:xfrm>
            <a:off x="8737600" y="6356352"/>
            <a:ext cx="2844800" cy="365125"/>
          </a:xfrm>
        </p:spPr>
        <p:txBody>
          <a:bodyPr/>
          <a:lstStyle/>
          <a:p>
            <a:fld id="{0C913308-F349-4B6D-A68A-DD1791B4A57B}" type="slidenum">
              <a:rPr lang="zh-CN" altLang="en-US" smtClean="0"/>
              <a:t>‹#›</a:t>
            </a:fld>
            <a:endParaRPr lang="zh-CN" altLang="en-US" dirty="0"/>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7"/>
            <a:ext cx="10972800" cy="1143000"/>
          </a:xfrm>
        </p:spPr>
        <p:txBody>
          <a:bodyPr/>
          <a:lstStyle/>
          <a:p>
            <a:r>
              <a:rPr lang="zh-CN" altLang="en-US"/>
              <a:t>单击此处编辑母版标题样式</a:t>
            </a:r>
          </a:p>
        </p:txBody>
      </p:sp>
      <p:sp>
        <p:nvSpPr>
          <p:cNvPr id="3" name="内容占位符 2"/>
          <p:cNvSpPr>
            <a:spLocks noGrp="1"/>
          </p:cNvSpPr>
          <p:nvPr>
            <p:ph idx="1"/>
          </p:nvPr>
        </p:nvSpPr>
        <p:spPr>
          <a:xfrm>
            <a:off x="609600" y="1600201"/>
            <a:ext cx="10972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2"/>
            <a:ext cx="2844800" cy="365125"/>
          </a:xfrm>
        </p:spPr>
        <p:txBody>
          <a:bodyPr/>
          <a:lstStyle/>
          <a:p>
            <a:endParaRPr lang="zh-CN" altLang="en-US"/>
          </a:p>
        </p:txBody>
      </p:sp>
      <p:sp>
        <p:nvSpPr>
          <p:cNvPr id="5" name="页脚占位符 4"/>
          <p:cNvSpPr>
            <a:spLocks noGrp="1"/>
          </p:cNvSpPr>
          <p:nvPr>
            <p:ph type="ftr" sz="quarter" idx="11"/>
          </p:nvPr>
        </p:nvSpPr>
        <p:spPr>
          <a:xfrm>
            <a:off x="4165600" y="6356352"/>
            <a:ext cx="3860800" cy="365125"/>
          </a:xfrm>
        </p:spPr>
        <p:txBody>
          <a:bodyPr/>
          <a:lstStyle/>
          <a:p>
            <a:endParaRPr lang="zh-CN" altLang="en-US"/>
          </a:p>
        </p:txBody>
      </p:sp>
      <p:sp>
        <p:nvSpPr>
          <p:cNvPr id="6" name="灯片编号占位符 5"/>
          <p:cNvSpPr>
            <a:spLocks noGrp="1"/>
          </p:cNvSpPr>
          <p:nvPr>
            <p:ph type="sldNum" sz="quarter" idx="12"/>
          </p:nvPr>
        </p:nvSpPr>
        <p:spPr>
          <a:xfrm>
            <a:off x="8737600" y="6356352"/>
            <a:ext cx="2844800" cy="365125"/>
          </a:xfrm>
        </p:spPr>
        <p:txBody>
          <a:bodyPr/>
          <a:lstStyle/>
          <a:p>
            <a:fld id="{0C913308-F349-4B6D-A68A-DD1791B4A57B}" type="slidenum">
              <a:rPr lang="zh-CN" altLang="en-US" smtClean="0"/>
              <a:t>‹#›</a:t>
            </a:fld>
            <a:endParaRPr lang="zh-CN" altLang="en-US"/>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04800" y="177800"/>
            <a:ext cx="6096000" cy="614363"/>
          </a:xfrm>
        </p:spPr>
        <p:txBody>
          <a:bodyPr>
            <a:normAutofit/>
          </a:bodyPr>
          <a:lstStyle>
            <a:lvl1pPr algn="l">
              <a:defRPr sz="3735">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nvPr>
        </p:nvSpPr>
        <p:spPr>
          <a:xfrm>
            <a:off x="609600" y="6356352"/>
            <a:ext cx="2844800" cy="365125"/>
          </a:xfrm>
        </p:spPr>
        <p:txBody>
          <a:bodyPr/>
          <a:lstStyle/>
          <a:p>
            <a:endParaRPr lang="zh-CN" altLang="en-US"/>
          </a:p>
        </p:txBody>
      </p:sp>
      <p:sp>
        <p:nvSpPr>
          <p:cNvPr id="4" name="页脚占位符 3"/>
          <p:cNvSpPr>
            <a:spLocks noGrp="1"/>
          </p:cNvSpPr>
          <p:nvPr>
            <p:ph type="ftr" sz="quarter" idx="11"/>
          </p:nvPr>
        </p:nvSpPr>
        <p:spPr>
          <a:xfrm>
            <a:off x="4165600" y="6356352"/>
            <a:ext cx="3860800" cy="365125"/>
          </a:xfrm>
        </p:spPr>
        <p:txBody>
          <a:bodyPr/>
          <a:lstStyle/>
          <a:p>
            <a:endParaRPr lang="zh-CN" altLang="en-US"/>
          </a:p>
        </p:txBody>
      </p:sp>
      <p:sp>
        <p:nvSpPr>
          <p:cNvPr id="5" name="灯片编号占位符 4"/>
          <p:cNvSpPr>
            <a:spLocks noGrp="1"/>
          </p:cNvSpPr>
          <p:nvPr>
            <p:ph type="sldNum" sz="quarter" idx="12"/>
          </p:nvPr>
        </p:nvSpPr>
        <p:spPr>
          <a:xfrm>
            <a:off x="8737600" y="6356352"/>
            <a:ext cx="2844800" cy="365125"/>
          </a:xfrm>
        </p:spPr>
        <p:txBody>
          <a:bodyPr/>
          <a:lstStyle/>
          <a:p>
            <a:fld id="{0C913308-F349-4B6D-A68A-DD1791B4A57B}" type="slidenum">
              <a:rPr lang="zh-CN" altLang="en-US" smtClean="0"/>
              <a:t>‹#›</a:t>
            </a:fld>
            <a:endParaRPr lang="zh-CN" altLang="en-US"/>
          </a:p>
        </p:txBody>
      </p:sp>
      <p:sp>
        <p:nvSpPr>
          <p:cNvPr id="6" name="矩形 5"/>
          <p:cNvSpPr/>
          <p:nvPr userDrawn="1"/>
        </p:nvSpPr>
        <p:spPr>
          <a:xfrm>
            <a:off x="0" y="211336"/>
            <a:ext cx="85060"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charset="-122"/>
            </a:endParaRPr>
          </a:p>
        </p:txBody>
      </p:sp>
      <p:sp>
        <p:nvSpPr>
          <p:cNvPr id="7" name="矩形 6"/>
          <p:cNvSpPr/>
          <p:nvPr userDrawn="1"/>
        </p:nvSpPr>
        <p:spPr>
          <a:xfrm>
            <a:off x="118140" y="211336"/>
            <a:ext cx="186660" cy="57606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charset="-122"/>
            </a:endParaRPr>
          </a:p>
        </p:txBody>
      </p:sp>
      <p:grpSp>
        <p:nvGrpSpPr>
          <p:cNvPr id="9" name="组合 8"/>
          <p:cNvGrpSpPr/>
          <p:nvPr userDrawn="1"/>
        </p:nvGrpSpPr>
        <p:grpSpPr>
          <a:xfrm>
            <a:off x="10190256" y="0"/>
            <a:ext cx="2001744" cy="934621"/>
            <a:chOff x="7642692" y="1"/>
            <a:chExt cx="1501308" cy="700966"/>
          </a:xfrm>
        </p:grpSpPr>
        <p:sp>
          <p:nvSpPr>
            <p:cNvPr id="10" name="矩形 9"/>
            <p:cNvSpPr/>
            <p:nvPr/>
          </p:nvSpPr>
          <p:spPr>
            <a:xfrm>
              <a:off x="7740352" y="1"/>
              <a:ext cx="1403648" cy="7009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pic>
          <p:nvPicPr>
            <p:cNvPr id="11" name="图片 10" descr="图片包含 游戏机, 画, 标志&#10;&#10;描述已自动生成"/>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42692" y="133350"/>
              <a:ext cx="1272708" cy="509083"/>
            </a:xfrm>
            <a:prstGeom prst="rect">
              <a:avLst/>
            </a:prstGeom>
          </p:spPr>
        </p:pic>
      </p:gr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2"/>
            <a:ext cx="2844800" cy="365125"/>
          </a:xfrm>
        </p:spPr>
        <p:txBody>
          <a:bodyPr/>
          <a:lstStyle/>
          <a:p>
            <a:endParaRPr lang="zh-CN" altLang="en-US"/>
          </a:p>
        </p:txBody>
      </p:sp>
      <p:sp>
        <p:nvSpPr>
          <p:cNvPr id="3" name="页脚占位符 2"/>
          <p:cNvSpPr>
            <a:spLocks noGrp="1"/>
          </p:cNvSpPr>
          <p:nvPr>
            <p:ph type="ftr" sz="quarter" idx="11"/>
          </p:nvPr>
        </p:nvSpPr>
        <p:spPr>
          <a:xfrm>
            <a:off x="4165600" y="6356352"/>
            <a:ext cx="3860800" cy="365125"/>
          </a:xfrm>
        </p:spPr>
        <p:txBody>
          <a:bodyPr/>
          <a:lstStyle/>
          <a:p>
            <a:endParaRPr lang="zh-CN" altLang="en-US"/>
          </a:p>
        </p:txBody>
      </p:sp>
      <p:sp>
        <p:nvSpPr>
          <p:cNvPr id="4" name="灯片编号占位符 3"/>
          <p:cNvSpPr>
            <a:spLocks noGrp="1"/>
          </p:cNvSpPr>
          <p:nvPr>
            <p:ph type="sldNum" sz="quarter" idx="12"/>
          </p:nvPr>
        </p:nvSpPr>
        <p:spPr>
          <a:xfrm>
            <a:off x="8737600" y="6356352"/>
            <a:ext cx="2844800" cy="365125"/>
          </a:xfrm>
        </p:spPr>
        <p:txBody>
          <a:bodyPr/>
          <a:lstStyle/>
          <a:p>
            <a:fld id="{0C913308-F349-4B6D-A68A-DD1791B4A57B}" type="slidenum">
              <a:rPr lang="zh-CN" altLang="en-US" smtClean="0"/>
              <a:t>‹#›</a:t>
            </a:fld>
            <a:endParaRPr lang="zh-CN" altLang="en-US"/>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39611" y="211843"/>
            <a:ext cx="10080000" cy="540000"/>
          </a:xfrm>
          <a:prstGeom prst="rect">
            <a:avLst/>
          </a:prstGeom>
        </p:spPr>
        <p:txBody>
          <a:bodyPr>
            <a:normAutofit/>
          </a:bodyPr>
          <a:lstStyle>
            <a:lvl1pPr>
              <a:defRPr lang="zh-CN" altLang="en-US" sz="2800" b="1" kern="1200" dirty="0">
                <a:solidFill>
                  <a:srgbClr val="0070C0"/>
                </a:solidFill>
                <a:latin typeface="+mn-lt"/>
                <a:ea typeface="+mj-ea"/>
                <a:cs typeface="+mn-cs"/>
              </a:defRPr>
            </a:lvl1pPr>
          </a:lstStyle>
          <a:p>
            <a:pPr marL="0" lvl="0" indent="0" algn="l" defTabSz="685800" rtl="0" eaLnBrk="1" latinLnBrk="0" hangingPunct="1">
              <a:lnSpc>
                <a:spcPct val="90000"/>
              </a:lnSpc>
              <a:spcBef>
                <a:spcPts val="750"/>
              </a:spcBef>
              <a:buFont typeface="Arial" panose="020B0604020202020204" pitchFamily="34" charset="0"/>
              <a:buNone/>
            </a:pPr>
            <a:r>
              <a:rPr lang="zh-CN" altLang="en-US" dirty="0"/>
              <a:t>单击此处添加标题</a:t>
            </a: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0_自定义版式">
    <p:spTree>
      <p:nvGrpSpPr>
        <p:cNvPr id="1" name=""/>
        <p:cNvGrpSpPr/>
        <p:nvPr/>
      </p:nvGrpSpPr>
      <p:grpSpPr>
        <a:xfrm>
          <a:off x="0" y="0"/>
          <a:ext cx="0" cy="0"/>
          <a:chOff x="0" y="0"/>
          <a:chExt cx="0" cy="0"/>
        </a:xfrm>
      </p:grpSpPr>
      <p:sp>
        <p:nvSpPr>
          <p:cNvPr id="12" name="标题 11"/>
          <p:cNvSpPr>
            <a:spLocks noGrp="1"/>
          </p:cNvSpPr>
          <p:nvPr>
            <p:ph type="title"/>
          </p:nvPr>
        </p:nvSpPr>
        <p:spPr>
          <a:xfrm>
            <a:off x="406400" y="211337"/>
            <a:ext cx="8308285" cy="563660"/>
          </a:xfrm>
        </p:spPr>
        <p:txBody>
          <a:bodyPr>
            <a:noAutofit/>
          </a:bodyPr>
          <a:lstStyle>
            <a:lvl1pPr algn="l">
              <a:defRPr sz="3735" b="1">
                <a:latin typeface="微软雅黑" panose="020B0503020204020204" charset="-122"/>
                <a:ea typeface="微软雅黑" panose="020B0503020204020204" charset="-122"/>
              </a:defRPr>
            </a:lvl1pPr>
          </a:lstStyle>
          <a:p>
            <a:r>
              <a:rPr lang="zh-CN" altLang="en-US" dirty="0"/>
              <a:t>单击此处编辑母版标题样式</a:t>
            </a:r>
          </a:p>
        </p:txBody>
      </p:sp>
      <p:grpSp>
        <p:nvGrpSpPr>
          <p:cNvPr id="2" name="组合 2"/>
          <p:cNvGrpSpPr/>
          <p:nvPr userDrawn="1"/>
        </p:nvGrpSpPr>
        <p:grpSpPr>
          <a:xfrm>
            <a:off x="0" y="211336"/>
            <a:ext cx="304800" cy="576064"/>
            <a:chOff x="304800" y="158502"/>
            <a:chExt cx="228600" cy="432048"/>
          </a:xfrm>
        </p:grpSpPr>
        <p:sp>
          <p:nvSpPr>
            <p:cNvPr id="7" name="矩形 6"/>
            <p:cNvSpPr/>
            <p:nvPr userDrawn="1"/>
          </p:nvSpPr>
          <p:spPr>
            <a:xfrm>
              <a:off x="304800" y="158502"/>
              <a:ext cx="63795" cy="43204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8" name="矩形 7"/>
            <p:cNvSpPr/>
            <p:nvPr userDrawn="1"/>
          </p:nvSpPr>
          <p:spPr>
            <a:xfrm>
              <a:off x="393405" y="158502"/>
              <a:ext cx="139995" cy="4320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pic>
        <p:nvPicPr>
          <p:cNvPr id="3" name="图片 2"/>
          <p:cNvPicPr>
            <a:picLocks noChangeAspect="1"/>
          </p:cNvPicPr>
          <p:nvPr userDrawn="1"/>
        </p:nvPicPr>
        <p:blipFill>
          <a:blip r:embed="rId2"/>
          <a:stretch>
            <a:fillRect/>
          </a:stretch>
        </p:blipFill>
        <p:spPr>
          <a:xfrm>
            <a:off x="10226081" y="68627"/>
            <a:ext cx="1882253" cy="755600"/>
          </a:xfrm>
          <a:prstGeom prst="rect">
            <a:avLst/>
          </a:prstGeom>
        </p:spPr>
      </p:pic>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自定义版式">
    <p:spTree>
      <p:nvGrpSpPr>
        <p:cNvPr id="1" name=""/>
        <p:cNvGrpSpPr/>
        <p:nvPr/>
      </p:nvGrpSpPr>
      <p:grpSpPr>
        <a:xfrm>
          <a:off x="0" y="0"/>
          <a:ext cx="0" cy="0"/>
          <a:chOff x="0" y="0"/>
          <a:chExt cx="0" cy="0"/>
        </a:xfrm>
      </p:grpSpPr>
      <p:cxnSp>
        <p:nvCxnSpPr>
          <p:cNvPr id="3" name="直接连接符 2"/>
          <p:cNvCxnSpPr/>
          <p:nvPr userDrawn="1"/>
        </p:nvCxnSpPr>
        <p:spPr>
          <a:xfrm>
            <a:off x="737825" y="861651"/>
            <a:ext cx="10608000" cy="0"/>
          </a:xfrm>
          <a:prstGeom prst="line">
            <a:avLst/>
          </a:prstGeom>
          <a:ln w="571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4" name="Picture 4" descr="C:\Users\admin\Desktop\常用\扣底.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885721" y="188641"/>
            <a:ext cx="2460104" cy="5760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52" y="530581"/>
            <a:ext cx="12186096" cy="394652"/>
          </a:xfrm>
          <a:prstGeom prst="rect">
            <a:avLst/>
          </a:prstGeom>
        </p:spPr>
      </p:pic>
      <p:sp>
        <p:nvSpPr>
          <p:cNvPr id="3" name="标题 3"/>
          <p:cNvSpPr>
            <a:spLocks noGrp="1"/>
          </p:cNvSpPr>
          <p:nvPr>
            <p:ph type="title"/>
          </p:nvPr>
        </p:nvSpPr>
        <p:spPr>
          <a:xfrm>
            <a:off x="392879" y="282095"/>
            <a:ext cx="10515600" cy="429369"/>
          </a:xfrm>
          <a:prstGeom prst="rect">
            <a:avLst/>
          </a:prstGeom>
        </p:spPr>
        <p:txBody>
          <a:bodyPr/>
          <a:lstStyle>
            <a:lvl1pPr marL="0" marR="0" indent="0" algn="l" defTabSz="914400" rtl="0" fontAlgn="auto" latinLnBrk="0" hangingPunct="0">
              <a:lnSpc>
                <a:spcPct val="100000"/>
              </a:lnSpc>
              <a:spcBef>
                <a:spcPts val="0"/>
              </a:spcBef>
              <a:spcAft>
                <a:spcPts val="0"/>
              </a:spcAft>
              <a:buClrTx/>
              <a:buSzTx/>
              <a:buFontTx/>
              <a:buNone/>
              <a:defRPr kumimoji="0" lang="zh-CN" altLang="en-US" sz="2400" b="0" i="0" u="none" strike="noStrike" cap="none" spc="0" normalizeH="0" baseline="0" dirty="0">
                <a:ln>
                  <a:noFill/>
                </a:ln>
                <a:solidFill>
                  <a:schemeClr val="accent1"/>
                </a:solidFill>
                <a:effectLst/>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sym typeface="Verdana" panose="020B0604030504040204"/>
              </a:defRPr>
            </a:lvl1pPr>
          </a:lstStyle>
          <a:p>
            <a:r>
              <a:rPr lang="zh-CN" altLang="en-US" dirty="0"/>
              <a:t>单击此处编辑母版标题样式</a:t>
            </a:r>
          </a:p>
        </p:txBody>
      </p:sp>
    </p:spTree>
    <p:extLst>
      <p:ext uri="{BB962C8B-B14F-4D97-AF65-F5344CB8AC3E}">
        <p14:creationId xmlns:p14="http://schemas.microsoft.com/office/powerpoint/2010/main" val="964989383"/>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399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1">
            <a:lum/>
            <a:extLst>
              <a:ext uri="{96DAC541-7B7A-43D3-8B79-37D633B846F1}">
                <asvg:svgBlip xmlns:asvg="http://schemas.microsoft.com/office/drawing/2016/SVG/main" r:embed="rId22"/>
              </a:ext>
            </a:extLst>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74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745" r:id="rId18"/>
    <p:sldLayoutId id="2147483746" r:id="rId19"/>
  </p:sldLayoutIdLst>
  <p:transition spd="med"/>
  <p:txStyles>
    <p:titleStyle>
      <a:lvl1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mn-lt"/>
          <a:ea typeface="+mn-ea"/>
          <a:cs typeface="+mn-cs"/>
          <a:sym typeface="Verdana" panose="020B0604030504040204"/>
        </a:defRPr>
      </a:lvl1pPr>
      <a:lvl2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mn-lt"/>
          <a:ea typeface="+mn-ea"/>
          <a:cs typeface="+mn-cs"/>
          <a:sym typeface="Verdana" panose="020B0604030504040204"/>
        </a:defRPr>
      </a:lvl2pPr>
      <a:lvl3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mn-lt"/>
          <a:ea typeface="+mn-ea"/>
          <a:cs typeface="+mn-cs"/>
          <a:sym typeface="Verdana" panose="020B0604030504040204"/>
        </a:defRPr>
      </a:lvl3pPr>
      <a:lvl4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mn-lt"/>
          <a:ea typeface="+mn-ea"/>
          <a:cs typeface="+mn-cs"/>
          <a:sym typeface="Verdana" panose="020B0604030504040204"/>
        </a:defRPr>
      </a:lvl4pPr>
      <a:lvl5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mn-lt"/>
          <a:ea typeface="+mn-ea"/>
          <a:cs typeface="+mn-cs"/>
          <a:sym typeface="Verdana" panose="020B0604030504040204"/>
        </a:defRPr>
      </a:lvl5pPr>
      <a:lvl6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mn-lt"/>
          <a:ea typeface="+mn-ea"/>
          <a:cs typeface="+mn-cs"/>
          <a:sym typeface="Verdana" panose="020B0604030504040204"/>
        </a:defRPr>
      </a:lvl6pPr>
      <a:lvl7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mn-lt"/>
          <a:ea typeface="+mn-ea"/>
          <a:cs typeface="+mn-cs"/>
          <a:sym typeface="Verdana" panose="020B0604030504040204"/>
        </a:defRPr>
      </a:lvl7pPr>
      <a:lvl8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mn-lt"/>
          <a:ea typeface="+mn-ea"/>
          <a:cs typeface="+mn-cs"/>
          <a:sym typeface="Verdana" panose="020B0604030504040204"/>
        </a:defRPr>
      </a:lvl8pPr>
      <a:lvl9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mn-lt"/>
          <a:ea typeface="+mn-ea"/>
          <a:cs typeface="+mn-cs"/>
          <a:sym typeface="Verdana" panose="020B0604030504040204"/>
        </a:defRPr>
      </a:lvl9pPr>
    </p:titleStyle>
    <p:bodyStyle>
      <a:lvl1pPr marL="228600" marR="0" indent="-228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n-lt"/>
          <a:ea typeface="+mn-ea"/>
          <a:cs typeface="+mn-cs"/>
          <a:sym typeface="Verdana" panose="020B0604030504040204"/>
        </a:defRPr>
      </a:lvl1pPr>
      <a:lvl2pPr marL="723900" marR="0" indent="-2667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n-lt"/>
          <a:ea typeface="+mn-ea"/>
          <a:cs typeface="+mn-cs"/>
          <a:sym typeface="Verdana" panose="020B0604030504040204"/>
        </a:defRPr>
      </a:lvl2pPr>
      <a:lvl3pPr marL="1234440" marR="0" indent="-32004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n-lt"/>
          <a:ea typeface="+mn-ea"/>
          <a:cs typeface="+mn-cs"/>
          <a:sym typeface="Verdana" panose="020B0604030504040204"/>
        </a:defRPr>
      </a:lvl3pPr>
      <a:lvl4pPr marL="1727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n-lt"/>
          <a:ea typeface="+mn-ea"/>
          <a:cs typeface="+mn-cs"/>
          <a:sym typeface="Verdana" panose="020B0604030504040204"/>
        </a:defRPr>
      </a:lvl4pPr>
      <a:lvl5pPr marL="21844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n-lt"/>
          <a:ea typeface="+mn-ea"/>
          <a:cs typeface="+mn-cs"/>
          <a:sym typeface="Verdana" panose="020B0604030504040204"/>
        </a:defRPr>
      </a:lvl5pPr>
      <a:lvl6pPr marL="26416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n-lt"/>
          <a:ea typeface="+mn-ea"/>
          <a:cs typeface="+mn-cs"/>
          <a:sym typeface="Verdana" panose="020B0604030504040204"/>
        </a:defRPr>
      </a:lvl6pPr>
      <a:lvl7pPr marL="30988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n-lt"/>
          <a:ea typeface="+mn-ea"/>
          <a:cs typeface="+mn-cs"/>
          <a:sym typeface="Verdana" panose="020B0604030504040204"/>
        </a:defRPr>
      </a:lvl7pPr>
      <a:lvl8pPr marL="35560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n-lt"/>
          <a:ea typeface="+mn-ea"/>
          <a:cs typeface="+mn-cs"/>
          <a:sym typeface="Verdana" panose="020B0604030504040204"/>
        </a:defRPr>
      </a:lvl8pPr>
      <a:lvl9pPr marL="4013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n-lt"/>
          <a:ea typeface="+mn-ea"/>
          <a:cs typeface="+mn-cs"/>
          <a:sym typeface="Verdana" panose="020B0604030504040204"/>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Verdana" panose="020B060403050404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Verdana" panose="020B060403050404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Verdana" panose="020B060403050404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Verdana" panose="020B060403050404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Verdana" panose="020B060403050404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Verdana" panose="020B060403050404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Verdana" panose="020B060403050404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Verdana" panose="020B060403050404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Verdana" panose="020B060403050404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23.png"/><Relationship Id="rId4" Type="http://schemas.openxmlformats.org/officeDocument/2006/relationships/image" Target="../media/image22.emf"/></Relationships>
</file>

<file path=ppt/slides/_rels/slide1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5.xml"/><Relationship Id="rId1" Type="http://schemas.openxmlformats.org/officeDocument/2006/relationships/tags" Target="../tags/tag5.xml"/><Relationship Id="rId5" Type="http://schemas.openxmlformats.org/officeDocument/2006/relationships/chart" Target="../charts/chart1.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2"/>
          </p:nvPr>
        </p:nvSpPr>
        <p:spPr/>
        <p:txBody>
          <a:bodyPr wrap="square">
            <a:normAutofit fontScale="92500" lnSpcReduction="20000"/>
          </a:bodyPr>
          <a:lstStyle/>
          <a:p>
            <a:r>
              <a:rPr lang="zh-CN" altLang="en-US">
                <a:solidFill>
                  <a:schemeClr val="tx1"/>
                </a:solidFill>
              </a:rPr>
              <a:t>Biological Applications Department</a:t>
            </a:r>
          </a:p>
        </p:txBody>
      </p:sp>
      <p:sp>
        <p:nvSpPr>
          <p:cNvPr id="9" name="文本占位符 8"/>
          <p:cNvSpPr>
            <a:spLocks noGrp="1"/>
          </p:cNvSpPr>
          <p:nvPr>
            <p:ph type="body" sz="quarter" idx="13"/>
          </p:nvPr>
        </p:nvSpPr>
        <p:spPr/>
        <p:txBody>
          <a:bodyPr wrap="square">
            <a:normAutofit fontScale="70000" lnSpcReduction="20000"/>
          </a:bodyPr>
          <a:lstStyle/>
          <a:p>
            <a:pPr algn="l">
              <a:lnSpc>
                <a:spcPct val="120000"/>
              </a:lnSpc>
            </a:pPr>
            <a:r>
              <a:rPr lang="zh-CN" altLang="en-US" dirty="0">
                <a:latin typeface="+mj-lt"/>
                <a:ea typeface="+mj-lt"/>
                <a:cs typeface="+mn-ea"/>
                <a:sym typeface="+mn-lt"/>
              </a:rPr>
              <a:t>NanoMicro Technology Company</a:t>
            </a:r>
            <a:endParaRPr lang="en-US" altLang="zh-CN" b="1" dirty="0">
              <a:latin typeface="+mj-lt"/>
              <a:ea typeface="+mj-lt"/>
              <a:cs typeface="+mn-ea"/>
              <a:sym typeface="+mn-lt"/>
            </a:endParaRPr>
          </a:p>
          <a:p>
            <a:pPr algn="l">
              <a:lnSpc>
                <a:spcPct val="120000"/>
              </a:lnSpc>
            </a:pPr>
            <a:endParaRPr lang="zh-CN" altLang="en-US">
              <a:latin typeface="+mj-lt"/>
              <a:ea typeface="+mj-lt"/>
            </a:endParaRPr>
          </a:p>
        </p:txBody>
      </p:sp>
      <p:sp>
        <p:nvSpPr>
          <p:cNvPr id="10" name="文本占位符 9"/>
          <p:cNvSpPr>
            <a:spLocks noGrp="1"/>
          </p:cNvSpPr>
          <p:nvPr>
            <p:ph type="body" sz="quarter" idx="14"/>
          </p:nvPr>
        </p:nvSpPr>
        <p:spPr/>
        <p:txBody>
          <a:bodyPr wrap="square">
            <a:normAutofit fontScale="92500" lnSpcReduction="20000"/>
          </a:bodyPr>
          <a:lstStyle/>
          <a:p>
            <a:fld id="{9CA69E9F-49C1-42BE-B7BD-581948A4D801}" type="datetime1">
              <a:rPr lang="en-US" altLang="zh-CN" smtClean="0">
                <a:cs typeface="+mn-ea"/>
                <a:sym typeface="+mn-lt"/>
              </a:rPr>
              <a:t>3/26/2026</a:t>
            </a:fld>
            <a:endParaRPr lang="zh-CN" altLang="en-US"/>
          </a:p>
        </p:txBody>
      </p:sp>
      <p:sp>
        <p:nvSpPr>
          <p:cNvPr id="11" name="文本占位符 10"/>
          <p:cNvSpPr>
            <a:spLocks noGrp="1"/>
          </p:cNvSpPr>
          <p:nvPr>
            <p:ph type="body" sz="quarter" idx="15"/>
          </p:nvPr>
        </p:nvSpPr>
        <p:spPr>
          <a:xfrm>
            <a:off x="623392" y="5310600"/>
            <a:ext cx="3320656" cy="252000"/>
          </a:xfrm>
        </p:spPr>
        <p:txBody>
          <a:bodyPr wrap="square">
            <a:normAutofit fontScale="92500" lnSpcReduction="20000"/>
          </a:bodyPr>
          <a:lstStyle/>
          <a:p>
            <a:r>
              <a:rPr lang="zh-CN" altLang="en-US" dirty="0">
                <a:solidFill>
                  <a:schemeClr val="tx1"/>
                </a:solidFill>
              </a:rPr>
              <a:t>Jin Baisheng</a:t>
            </a:r>
          </a:p>
        </p:txBody>
      </p:sp>
      <p:sp>
        <p:nvSpPr>
          <p:cNvPr id="12" name="标题 11"/>
          <p:cNvSpPr>
            <a:spLocks noGrp="1"/>
          </p:cNvSpPr>
          <p:nvPr>
            <p:ph type="title"/>
          </p:nvPr>
        </p:nvSpPr>
        <p:spPr>
          <a:xfrm>
            <a:off x="1241002" y="2193432"/>
            <a:ext cx="8774430" cy="2390775"/>
          </a:xfrm>
        </p:spPr>
        <p:txBody>
          <a:bodyPr wrap="square">
            <a:normAutofit/>
          </a:bodyPr>
          <a:lstStyle/>
          <a:p>
            <a:pPr algn="ctr">
              <a:lnSpc>
                <a:spcPts val="5733"/>
              </a:lnSpc>
            </a:pPr>
            <a:r>
              <a:rPr lang="en-US" altLang="zh-CN" sz="4400" b="1" dirty="0">
                <a:solidFill>
                  <a:srgbClr val="0F172A"/>
                </a:solidFill>
                <a:latin typeface="Montserrat" pitchFamily="34" charset="0"/>
                <a:ea typeface="Montserrat" pitchFamily="34" charset="-122"/>
                <a:cs typeface="Montserrat" pitchFamily="34" charset="-120"/>
              </a:rPr>
              <a:t>Antibody Charge Variants: Characterization and Control Strategies</a:t>
            </a:r>
            <a:endParaRPr lang="en-US" altLang="zh-CN" sz="4400" dirty="0"/>
          </a:p>
        </p:txBody>
      </p:sp>
      <p:sp>
        <p:nvSpPr>
          <p:cNvPr id="3" name="矩形 2"/>
          <p:cNvSpPr/>
          <p:nvPr/>
        </p:nvSpPr>
        <p:spPr>
          <a:xfrm>
            <a:off x="239349" y="260648"/>
            <a:ext cx="2400267" cy="11521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2400">
              <a:cs typeface="+mn-ea"/>
              <a:sym typeface="+mn-lt"/>
            </a:endParaRPr>
          </a:p>
        </p:txBody>
      </p:sp>
      <p:pic>
        <p:nvPicPr>
          <p:cNvPr id="8" name="图片 7" descr="图片包含 游戏机, 画, 标志&#10;&#10;描述已自动生成"/>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3392" y="506064"/>
            <a:ext cx="2266781" cy="906712"/>
          </a:xfrm>
          <a:prstGeom prst="rect">
            <a:avLst/>
          </a:prstGeom>
        </p:spPr>
      </p:pic>
      <p:sp>
        <p:nvSpPr>
          <p:cNvPr id="2" name="Text Box 1"/>
          <p:cNvSpPr txBox="1"/>
          <p:nvPr/>
        </p:nvSpPr>
        <p:spPr>
          <a:xfrm>
            <a:off x="10774045" y="6427470"/>
            <a:ext cx="4064000" cy="3689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rmAutofit/>
          </a:bodyPr>
          <a:lstStyle/>
          <a:p>
            <a:pPr algn="l"/>
            <a:endParaRPr lang="en-US" sz="2400" dirty="0">
              <a:solidFill>
                <a:srgbClr val="A7A7A7"/>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1970672" y="571501"/>
            <a:ext cx="8250656" cy="355931"/>
          </a:xfrm>
          <a:prstGeom prst="rect">
            <a:avLst/>
          </a:prstGeom>
          <a:noFill/>
          <a:ln/>
        </p:spPr>
        <p:txBody>
          <a:bodyPr wrap="none" lIns="0" tIns="0" rIns="0" bIns="0" rtlCol="0" anchor="t">
            <a:spAutoFit/>
          </a:bodyPr>
          <a:lstStyle/>
          <a:p>
            <a:pPr algn="ctr">
              <a:lnSpc>
                <a:spcPts val="2933"/>
              </a:lnSpc>
            </a:pPr>
            <a:r>
              <a:rPr lang="en-US" sz="2136" b="1" dirty="0">
                <a:solidFill>
                  <a:srgbClr val="0F172A"/>
                </a:solidFill>
                <a:latin typeface="Montserrat" pitchFamily="34" charset="0"/>
                <a:ea typeface="Montserrat" pitchFamily="34" charset="-122"/>
                <a:cs typeface="Montserrat" pitchFamily="34" charset="-120"/>
              </a:rPr>
              <a:t>Charge Heterogeneity is a Critical Quality Attribute (CQA)</a:t>
            </a:r>
            <a:endParaRPr lang="en-US" sz="2136" dirty="0"/>
          </a:p>
        </p:txBody>
      </p:sp>
      <p:sp>
        <p:nvSpPr>
          <p:cNvPr id="4" name="Text 1"/>
          <p:cNvSpPr/>
          <p:nvPr/>
        </p:nvSpPr>
        <p:spPr>
          <a:xfrm>
            <a:off x="2129370" y="1133475"/>
            <a:ext cx="7933261" cy="233654"/>
          </a:xfrm>
          <a:prstGeom prst="rect">
            <a:avLst/>
          </a:prstGeom>
          <a:noFill/>
          <a:ln/>
        </p:spPr>
        <p:txBody>
          <a:bodyPr wrap="none" lIns="0" tIns="0" rIns="0" bIns="0" rtlCol="0" anchor="t">
            <a:spAutoFit/>
          </a:bodyPr>
          <a:lstStyle/>
          <a:p>
            <a:pPr algn="ctr">
              <a:lnSpc>
                <a:spcPts val="1867"/>
              </a:lnSpc>
            </a:pPr>
            <a:r>
              <a:rPr lang="en-US" sz="1400" dirty="0">
                <a:solidFill>
                  <a:srgbClr val="0D9488"/>
                </a:solidFill>
                <a:latin typeface="Open Sans" pitchFamily="34" charset="0"/>
                <a:ea typeface="Open Sans" pitchFamily="34" charset="-122"/>
                <a:cs typeface="Open Sans" pitchFamily="34" charset="-120"/>
              </a:rPr>
              <a:t>Charge variants significantly impact antibody stability, biological activity, and pharmacokinetics.</a:t>
            </a:r>
            <a:endParaRPr lang="en-US" sz="1400" dirty="0"/>
          </a:p>
        </p:txBody>
      </p:sp>
      <p:sp>
        <p:nvSpPr>
          <p:cNvPr id="5" name="Text 2"/>
          <p:cNvSpPr/>
          <p:nvPr/>
        </p:nvSpPr>
        <p:spPr>
          <a:xfrm>
            <a:off x="1333500" y="1774031"/>
            <a:ext cx="9525000" cy="1324850"/>
          </a:xfrm>
          <a:prstGeom prst="rect">
            <a:avLst/>
          </a:prstGeom>
          <a:noFill/>
          <a:ln/>
        </p:spPr>
        <p:txBody>
          <a:bodyPr wrap="square" lIns="0" tIns="0" rIns="0" bIns="0" rtlCol="0" anchor="t">
            <a:spAutoFit/>
          </a:bodyPr>
          <a:lstStyle/>
          <a:p>
            <a:pPr algn="just">
              <a:lnSpc>
                <a:spcPts val="2133"/>
              </a:lnSpc>
            </a:pPr>
            <a:r>
              <a:rPr lang="en-US" sz="1256" dirty="0">
                <a:solidFill>
                  <a:srgbClr val="334155"/>
                </a:solidFill>
                <a:latin typeface="Open Sans" pitchFamily="34" charset="0"/>
                <a:ea typeface="Open Sans" pitchFamily="34" charset="-122"/>
                <a:cs typeface="Open Sans" pitchFamily="34" charset="-120"/>
              </a:rPr>
              <a:t>Charge heterogeneity is a fundamental characteristic of monoclonal antibodies (mAbs) that must be rigorously controlled to ensure therapeutic efficacy and safety. Regulatory agencies, including the </a:t>
            </a:r>
            <a:r>
              <a:rPr lang="en-US" sz="1180" b="1" dirty="0">
                <a:solidFill>
                  <a:srgbClr val="334155"/>
                </a:solidFill>
                <a:latin typeface="Open Sans" pitchFamily="34" charset="0"/>
                <a:ea typeface="Open Sans" pitchFamily="34" charset="-122"/>
                <a:cs typeface="Open Sans" pitchFamily="34" charset="-120"/>
              </a:rPr>
              <a:t>FDA</a:t>
            </a:r>
            <a:r>
              <a:rPr lang="en-US" sz="1256" dirty="0">
                <a:solidFill>
                  <a:srgbClr val="334155"/>
                </a:solidFill>
                <a:latin typeface="Open Sans" pitchFamily="34" charset="0"/>
                <a:ea typeface="Open Sans" pitchFamily="34" charset="-122"/>
                <a:cs typeface="Open Sans" pitchFamily="34" charset="-120"/>
              </a:rPr>
              <a:t> and </a:t>
            </a:r>
            <a:r>
              <a:rPr lang="en-US" sz="1180" b="1" dirty="0">
                <a:solidFill>
                  <a:srgbClr val="334155"/>
                </a:solidFill>
                <a:latin typeface="Open Sans" pitchFamily="34" charset="0"/>
                <a:ea typeface="Open Sans" pitchFamily="34" charset="-122"/>
                <a:cs typeface="Open Sans" pitchFamily="34" charset="-120"/>
              </a:rPr>
              <a:t>EMA</a:t>
            </a:r>
            <a:r>
              <a:rPr lang="en-US" sz="1256" dirty="0">
                <a:solidFill>
                  <a:srgbClr val="334155"/>
                </a:solidFill>
                <a:latin typeface="Open Sans" pitchFamily="34" charset="0"/>
                <a:ea typeface="Open Sans" pitchFamily="34" charset="-122"/>
                <a:cs typeface="Open Sans" pitchFamily="34" charset="-120"/>
              </a:rPr>
              <a:t>, classify charge variants as </a:t>
            </a:r>
            <a:r>
              <a:rPr lang="en-US" sz="1180" b="1" dirty="0">
                <a:solidFill>
                  <a:srgbClr val="334155"/>
                </a:solidFill>
                <a:latin typeface="Open Sans" pitchFamily="34" charset="0"/>
                <a:ea typeface="Open Sans" pitchFamily="34" charset="-122"/>
                <a:cs typeface="Open Sans" pitchFamily="34" charset="-120"/>
              </a:rPr>
              <a:t>Critical Quality Attributes (CQAs)</a:t>
            </a:r>
            <a:r>
              <a:rPr lang="en-US" sz="1256" dirty="0">
                <a:solidFill>
                  <a:srgbClr val="334155"/>
                </a:solidFill>
                <a:latin typeface="Open Sans" pitchFamily="34" charset="0"/>
                <a:ea typeface="Open Sans" pitchFamily="34" charset="-122"/>
                <a:cs typeface="Open Sans" pitchFamily="34" charset="-120"/>
              </a:rPr>
              <a:t>, requiring manufacturers to establish robust characterization and control strategies. These variants typically represent </a:t>
            </a:r>
            <a:r>
              <a:rPr lang="en-US" sz="1180" b="1" dirty="0">
                <a:solidFill>
                  <a:srgbClr val="334155"/>
                </a:solidFill>
                <a:latin typeface="Open Sans" pitchFamily="34" charset="0"/>
                <a:ea typeface="Open Sans" pitchFamily="34" charset="-122"/>
                <a:cs typeface="Open Sans" pitchFamily="34" charset="-120"/>
              </a:rPr>
              <a:t>5-30%</a:t>
            </a:r>
            <a:r>
              <a:rPr lang="en-US" sz="1256" dirty="0">
                <a:solidFill>
                  <a:srgbClr val="334155"/>
                </a:solidFill>
                <a:latin typeface="Open Sans" pitchFamily="34" charset="0"/>
                <a:ea typeface="Open Sans" pitchFamily="34" charset="-122"/>
                <a:cs typeface="Open Sans" pitchFamily="34" charset="-120"/>
              </a:rPr>
              <a:t> of the total product and arise from various post-translational modifications (PTMs) during cell culture, purification, or storage.</a:t>
            </a:r>
            <a:endParaRPr lang="en-US" sz="1256" dirty="0"/>
          </a:p>
        </p:txBody>
      </p:sp>
      <p:sp>
        <p:nvSpPr>
          <p:cNvPr id="6" name="Shape 3"/>
          <p:cNvSpPr/>
          <p:nvPr/>
        </p:nvSpPr>
        <p:spPr>
          <a:xfrm>
            <a:off x="1338263" y="3721745"/>
            <a:ext cx="1952663" cy="523875"/>
          </a:xfrm>
          <a:prstGeom prst="rect">
            <a:avLst/>
          </a:prstGeom>
          <a:solidFill>
            <a:srgbClr val="0F172A"/>
          </a:solidFill>
          <a:ln w="9144">
            <a:solidFill>
              <a:srgbClr val="E2E8F0"/>
            </a:solidFill>
            <a:prstDash val="solid"/>
          </a:ln>
        </p:spPr>
      </p:sp>
      <p:sp>
        <p:nvSpPr>
          <p:cNvPr id="7" name="Text 4"/>
          <p:cNvSpPr/>
          <p:nvPr/>
        </p:nvSpPr>
        <p:spPr>
          <a:xfrm>
            <a:off x="1338263" y="3702357"/>
            <a:ext cx="1952663" cy="562655"/>
          </a:xfrm>
          <a:prstGeom prst="rect">
            <a:avLst/>
          </a:prstGeom>
          <a:noFill/>
          <a:ln/>
        </p:spPr>
        <p:txBody>
          <a:bodyPr wrap="square" lIns="181356" tIns="181356" rIns="181356" bIns="181356" rtlCol="0" anchor="ctr">
            <a:spAutoFit/>
          </a:bodyPr>
          <a:lstStyle/>
          <a:p>
            <a:pPr>
              <a:lnSpc>
                <a:spcPts val="1600"/>
              </a:lnSpc>
            </a:pPr>
            <a:r>
              <a:rPr lang="en-US" sz="1180" b="1" dirty="0">
                <a:solidFill>
                  <a:srgbClr val="F8FAFC"/>
                </a:solidFill>
                <a:latin typeface="Montserrat" pitchFamily="34" charset="0"/>
                <a:ea typeface="Montserrat" pitchFamily="34" charset="-122"/>
                <a:cs typeface="Montserrat" pitchFamily="34" charset="-120"/>
              </a:rPr>
              <a:t>Attribute</a:t>
            </a:r>
            <a:endParaRPr lang="en-US" sz="1180" dirty="0"/>
          </a:p>
        </p:txBody>
      </p:sp>
      <p:sp>
        <p:nvSpPr>
          <p:cNvPr id="8" name="Shape 5"/>
          <p:cNvSpPr/>
          <p:nvPr/>
        </p:nvSpPr>
        <p:spPr>
          <a:xfrm>
            <a:off x="3290926" y="3721745"/>
            <a:ext cx="7562813" cy="523875"/>
          </a:xfrm>
          <a:prstGeom prst="rect">
            <a:avLst/>
          </a:prstGeom>
          <a:solidFill>
            <a:srgbClr val="0F172A"/>
          </a:solidFill>
          <a:ln w="9144">
            <a:solidFill>
              <a:srgbClr val="E2E8F0"/>
            </a:solidFill>
            <a:prstDash val="solid"/>
          </a:ln>
        </p:spPr>
      </p:sp>
      <p:sp>
        <p:nvSpPr>
          <p:cNvPr id="9" name="Text 6"/>
          <p:cNvSpPr/>
          <p:nvPr/>
        </p:nvSpPr>
        <p:spPr>
          <a:xfrm>
            <a:off x="3290926" y="3702357"/>
            <a:ext cx="7562813" cy="562655"/>
          </a:xfrm>
          <a:prstGeom prst="rect">
            <a:avLst/>
          </a:prstGeom>
          <a:noFill/>
          <a:ln/>
        </p:spPr>
        <p:txBody>
          <a:bodyPr wrap="square" lIns="181356" tIns="181356" rIns="181356" bIns="181356" rtlCol="0" anchor="ctr">
            <a:spAutoFit/>
          </a:bodyPr>
          <a:lstStyle/>
          <a:p>
            <a:pPr>
              <a:lnSpc>
                <a:spcPts val="1600"/>
              </a:lnSpc>
            </a:pPr>
            <a:r>
              <a:rPr lang="en-US" sz="1180" b="1" dirty="0">
                <a:solidFill>
                  <a:srgbClr val="F8FAFC"/>
                </a:solidFill>
                <a:latin typeface="Montserrat" pitchFamily="34" charset="0"/>
                <a:ea typeface="Montserrat" pitchFamily="34" charset="-122"/>
                <a:cs typeface="Montserrat" pitchFamily="34" charset="-120"/>
              </a:rPr>
              <a:t>Impact on Product Quality</a:t>
            </a:r>
            <a:endParaRPr lang="en-US" sz="1180" dirty="0"/>
          </a:p>
        </p:txBody>
      </p:sp>
      <p:sp>
        <p:nvSpPr>
          <p:cNvPr id="10" name="Shape 7"/>
          <p:cNvSpPr/>
          <p:nvPr/>
        </p:nvSpPr>
        <p:spPr>
          <a:xfrm>
            <a:off x="1338263" y="4236095"/>
            <a:ext cx="1952663" cy="521493"/>
          </a:xfrm>
          <a:prstGeom prst="rect">
            <a:avLst/>
          </a:prstGeom>
          <a:solidFill>
            <a:srgbClr val="FFFFFF"/>
          </a:solidFill>
          <a:ln w="9144">
            <a:solidFill>
              <a:srgbClr val="E2E8F0"/>
            </a:solidFill>
            <a:prstDash val="solid"/>
          </a:ln>
        </p:spPr>
      </p:sp>
      <p:sp>
        <p:nvSpPr>
          <p:cNvPr id="11" name="Text 8"/>
          <p:cNvSpPr/>
          <p:nvPr/>
        </p:nvSpPr>
        <p:spPr>
          <a:xfrm>
            <a:off x="1490664" y="4390877"/>
            <a:ext cx="556243" cy="182229"/>
          </a:xfrm>
          <a:prstGeom prst="rect">
            <a:avLst/>
          </a:prstGeom>
          <a:noFill/>
          <a:ln/>
        </p:spPr>
        <p:txBody>
          <a:bodyPr wrap="non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Stability</a:t>
            </a:r>
            <a:endParaRPr lang="en-US" sz="1045" dirty="0"/>
          </a:p>
        </p:txBody>
      </p:sp>
      <p:sp>
        <p:nvSpPr>
          <p:cNvPr id="12" name="Shape 9"/>
          <p:cNvSpPr/>
          <p:nvPr/>
        </p:nvSpPr>
        <p:spPr>
          <a:xfrm>
            <a:off x="3290926" y="4236095"/>
            <a:ext cx="7562813" cy="521493"/>
          </a:xfrm>
          <a:prstGeom prst="rect">
            <a:avLst/>
          </a:prstGeom>
          <a:solidFill>
            <a:srgbClr val="FFFFFF"/>
          </a:solidFill>
          <a:ln w="9144">
            <a:solidFill>
              <a:srgbClr val="E2E8F0"/>
            </a:solidFill>
            <a:prstDash val="solid"/>
          </a:ln>
        </p:spPr>
      </p:sp>
      <p:sp>
        <p:nvSpPr>
          <p:cNvPr id="13" name="Text 10"/>
          <p:cNvSpPr/>
          <p:nvPr/>
        </p:nvSpPr>
        <p:spPr>
          <a:xfrm>
            <a:off x="3290926" y="4221350"/>
            <a:ext cx="7562813" cy="550985"/>
          </a:xfrm>
          <a:prstGeom prst="rect">
            <a:avLst/>
          </a:prstGeom>
          <a:noFill/>
          <a:ln/>
        </p:spPr>
        <p:txBody>
          <a:bodyPr wrap="square" lIns="181356" tIns="181356" rIns="181356" bIns="181356" rtlCol="0" anchor="ctr">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Altered charge distribution can lead to increased aggregation or fragmentation.</a:t>
            </a:r>
            <a:endParaRPr lang="en-US" sz="1112" dirty="0"/>
          </a:p>
        </p:txBody>
      </p:sp>
      <p:sp>
        <p:nvSpPr>
          <p:cNvPr id="14" name="Shape 11"/>
          <p:cNvSpPr/>
          <p:nvPr/>
        </p:nvSpPr>
        <p:spPr>
          <a:xfrm>
            <a:off x="1338263" y="4748064"/>
            <a:ext cx="1952663" cy="521493"/>
          </a:xfrm>
          <a:prstGeom prst="rect">
            <a:avLst/>
          </a:prstGeom>
          <a:solidFill>
            <a:srgbClr val="F1F5F9"/>
          </a:solidFill>
          <a:ln w="9144">
            <a:solidFill>
              <a:srgbClr val="E2E8F0"/>
            </a:solidFill>
            <a:prstDash val="solid"/>
          </a:ln>
        </p:spPr>
      </p:sp>
      <p:sp>
        <p:nvSpPr>
          <p:cNvPr id="15" name="Text 12"/>
          <p:cNvSpPr/>
          <p:nvPr/>
        </p:nvSpPr>
        <p:spPr>
          <a:xfrm>
            <a:off x="1490663" y="4902846"/>
            <a:ext cx="514564" cy="182229"/>
          </a:xfrm>
          <a:prstGeom prst="rect">
            <a:avLst/>
          </a:prstGeom>
          <a:noFill/>
          <a:ln/>
        </p:spPr>
        <p:txBody>
          <a:bodyPr wrap="non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Activity</a:t>
            </a:r>
            <a:endParaRPr lang="en-US" sz="1045" dirty="0"/>
          </a:p>
        </p:txBody>
      </p:sp>
      <p:sp>
        <p:nvSpPr>
          <p:cNvPr id="16" name="Shape 13"/>
          <p:cNvSpPr/>
          <p:nvPr/>
        </p:nvSpPr>
        <p:spPr>
          <a:xfrm>
            <a:off x="3290926" y="4748064"/>
            <a:ext cx="7562813" cy="521493"/>
          </a:xfrm>
          <a:prstGeom prst="rect">
            <a:avLst/>
          </a:prstGeom>
          <a:solidFill>
            <a:srgbClr val="F1F5F9"/>
          </a:solidFill>
          <a:ln w="9144">
            <a:solidFill>
              <a:srgbClr val="E2E8F0"/>
            </a:solidFill>
            <a:prstDash val="solid"/>
          </a:ln>
        </p:spPr>
      </p:sp>
      <p:sp>
        <p:nvSpPr>
          <p:cNvPr id="17" name="Text 14"/>
          <p:cNvSpPr/>
          <p:nvPr/>
        </p:nvSpPr>
        <p:spPr>
          <a:xfrm>
            <a:off x="3290926" y="4733320"/>
            <a:ext cx="7562813" cy="550985"/>
          </a:xfrm>
          <a:prstGeom prst="rect">
            <a:avLst/>
          </a:prstGeom>
          <a:noFill/>
          <a:ln/>
        </p:spPr>
        <p:txBody>
          <a:bodyPr wrap="square" lIns="181356" tIns="181356" rIns="181356" bIns="181356" rtlCol="0" anchor="ctr">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Modifications in the CDR regions may reduce antigen-binding affinity.</a:t>
            </a:r>
            <a:endParaRPr lang="en-US" sz="1112" dirty="0"/>
          </a:p>
        </p:txBody>
      </p:sp>
      <p:sp>
        <p:nvSpPr>
          <p:cNvPr id="18" name="Shape 15"/>
          <p:cNvSpPr/>
          <p:nvPr/>
        </p:nvSpPr>
        <p:spPr>
          <a:xfrm>
            <a:off x="1338263" y="5260032"/>
            <a:ext cx="1952663" cy="521493"/>
          </a:xfrm>
          <a:prstGeom prst="rect">
            <a:avLst/>
          </a:prstGeom>
          <a:solidFill>
            <a:srgbClr val="FFFFFF"/>
          </a:solidFill>
          <a:ln w="9144">
            <a:solidFill>
              <a:srgbClr val="E2E8F0"/>
            </a:solidFill>
            <a:prstDash val="solid"/>
          </a:ln>
        </p:spPr>
      </p:sp>
      <p:sp>
        <p:nvSpPr>
          <p:cNvPr id="19" name="Text 16"/>
          <p:cNvSpPr/>
          <p:nvPr/>
        </p:nvSpPr>
        <p:spPr>
          <a:xfrm>
            <a:off x="1490663" y="5414814"/>
            <a:ext cx="1203856" cy="182229"/>
          </a:xfrm>
          <a:prstGeom prst="rect">
            <a:avLst/>
          </a:prstGeom>
          <a:noFill/>
          <a:ln/>
        </p:spPr>
        <p:txBody>
          <a:bodyPr wrap="non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Pharmacokinetics</a:t>
            </a:r>
            <a:endParaRPr lang="en-US" sz="1045" dirty="0"/>
          </a:p>
        </p:txBody>
      </p:sp>
      <p:sp>
        <p:nvSpPr>
          <p:cNvPr id="20" name="Shape 17"/>
          <p:cNvSpPr/>
          <p:nvPr/>
        </p:nvSpPr>
        <p:spPr>
          <a:xfrm>
            <a:off x="3286051" y="5260032"/>
            <a:ext cx="7567687" cy="521493"/>
          </a:xfrm>
          <a:prstGeom prst="rect">
            <a:avLst/>
          </a:prstGeom>
          <a:solidFill>
            <a:srgbClr val="FFFFFF"/>
          </a:solidFill>
          <a:ln w="9144">
            <a:solidFill>
              <a:srgbClr val="E2E8F0"/>
            </a:solidFill>
            <a:prstDash val="solid"/>
          </a:ln>
        </p:spPr>
      </p:sp>
      <p:sp>
        <p:nvSpPr>
          <p:cNvPr id="21" name="Text 18"/>
          <p:cNvSpPr/>
          <p:nvPr/>
        </p:nvSpPr>
        <p:spPr>
          <a:xfrm>
            <a:off x="3286051" y="5245288"/>
            <a:ext cx="7567687" cy="550985"/>
          </a:xfrm>
          <a:prstGeom prst="rect">
            <a:avLst/>
          </a:prstGeom>
          <a:noFill/>
          <a:ln/>
        </p:spPr>
        <p:txBody>
          <a:bodyPr wrap="square" lIns="181356" tIns="181356" rIns="181356" bIns="181356" rtlCol="0" anchor="ctr">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Changes in pI can significantly affect the serum half-life and clearance rates.</a:t>
            </a:r>
            <a:endParaRPr lang="en-US" sz="1112" dirty="0"/>
          </a:p>
        </p:txBody>
      </p:sp>
      <p:sp>
        <p:nvSpPr>
          <p:cNvPr id="22" name="Shape 19"/>
          <p:cNvSpPr/>
          <p:nvPr/>
        </p:nvSpPr>
        <p:spPr>
          <a:xfrm>
            <a:off x="1338264" y="5772002"/>
            <a:ext cx="1942913" cy="521493"/>
          </a:xfrm>
          <a:prstGeom prst="rect">
            <a:avLst/>
          </a:prstGeom>
          <a:solidFill>
            <a:srgbClr val="F1F5F9"/>
          </a:solidFill>
          <a:ln w="9144">
            <a:solidFill>
              <a:srgbClr val="E2E8F0"/>
            </a:solidFill>
            <a:prstDash val="solid"/>
          </a:ln>
        </p:spPr>
      </p:sp>
      <p:sp>
        <p:nvSpPr>
          <p:cNvPr id="23" name="Text 20"/>
          <p:cNvSpPr/>
          <p:nvPr/>
        </p:nvSpPr>
        <p:spPr>
          <a:xfrm>
            <a:off x="1485900" y="5929165"/>
            <a:ext cx="1096454" cy="182229"/>
          </a:xfrm>
          <a:prstGeom prst="rect">
            <a:avLst/>
          </a:prstGeom>
          <a:noFill/>
          <a:ln/>
        </p:spPr>
        <p:txBody>
          <a:bodyPr wrap="non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Immunogenicity</a:t>
            </a:r>
            <a:endParaRPr lang="en-US" sz="1045" dirty="0"/>
          </a:p>
        </p:txBody>
      </p:sp>
      <p:sp>
        <p:nvSpPr>
          <p:cNvPr id="24" name="Shape 21"/>
          <p:cNvSpPr/>
          <p:nvPr/>
        </p:nvSpPr>
        <p:spPr>
          <a:xfrm>
            <a:off x="3277382" y="5772002"/>
            <a:ext cx="7576356" cy="521493"/>
          </a:xfrm>
          <a:prstGeom prst="rect">
            <a:avLst/>
          </a:prstGeom>
          <a:solidFill>
            <a:srgbClr val="F1F5F9"/>
          </a:solidFill>
          <a:ln w="9144">
            <a:solidFill>
              <a:srgbClr val="E2E8F0"/>
            </a:solidFill>
            <a:prstDash val="solid"/>
          </a:ln>
        </p:spPr>
      </p:sp>
      <p:sp>
        <p:nvSpPr>
          <p:cNvPr id="25" name="Text 22"/>
          <p:cNvSpPr/>
          <p:nvPr/>
        </p:nvSpPr>
        <p:spPr>
          <a:xfrm>
            <a:off x="3277382" y="5757257"/>
            <a:ext cx="7576356" cy="550985"/>
          </a:xfrm>
          <a:prstGeom prst="rect">
            <a:avLst/>
          </a:prstGeom>
          <a:noFill/>
          <a:ln/>
        </p:spPr>
        <p:txBody>
          <a:bodyPr wrap="square" lIns="181356" tIns="181356" rIns="181356" bIns="181356" rtlCol="0" anchor="ctr">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Certain variants may increase the risk of eliciting an immune response in patients.</a:t>
            </a:r>
            <a:endParaRPr lang="en-US" sz="1112" dirty="0"/>
          </a:p>
        </p:txBody>
      </p:sp>
      <p:sp>
        <p:nvSpPr>
          <p:cNvPr id="27" name="标题 26">
            <a:extLst>
              <a:ext uri="{FF2B5EF4-FFF2-40B4-BE49-F238E27FC236}">
                <a16:creationId xmlns:a16="http://schemas.microsoft.com/office/drawing/2014/main" id="{9EC5B9AF-1F80-7FD6-CC72-6FC5BFFEEF2E}"/>
              </a:ext>
            </a:extLst>
          </p:cNvPr>
          <p:cNvSpPr>
            <a:spLocks noGrp="1"/>
          </p:cNvSpPr>
          <p:nvPr>
            <p:ph type="title"/>
          </p:nvPr>
        </p:nvSpPr>
        <p:spPr/>
        <p:txBody>
          <a:bodyPr/>
          <a:lstStyle/>
          <a:p>
            <a:endParaRPr lang="zh-CN" altLang="en-US"/>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2344172" y="571501"/>
            <a:ext cx="7503657" cy="355931"/>
          </a:xfrm>
          <a:prstGeom prst="rect">
            <a:avLst/>
          </a:prstGeom>
          <a:noFill/>
          <a:ln/>
        </p:spPr>
        <p:txBody>
          <a:bodyPr wrap="none" lIns="0" tIns="0" rIns="0" bIns="0" rtlCol="0" anchor="t">
            <a:spAutoFit/>
          </a:bodyPr>
          <a:lstStyle/>
          <a:p>
            <a:pPr algn="ctr">
              <a:lnSpc>
                <a:spcPts val="2933"/>
              </a:lnSpc>
            </a:pPr>
            <a:r>
              <a:rPr lang="en-US" sz="2136" b="1" dirty="0">
                <a:solidFill>
                  <a:srgbClr val="0F172A"/>
                </a:solidFill>
                <a:latin typeface="Montserrat" pitchFamily="34" charset="0"/>
                <a:ea typeface="Montserrat" pitchFamily="34" charset="-122"/>
                <a:cs typeface="Montserrat" pitchFamily="34" charset="-120"/>
              </a:rPr>
              <a:t>Defining Acidic and Basic Peaks in Chromatography</a:t>
            </a:r>
            <a:endParaRPr lang="en-US" sz="2136" dirty="0"/>
          </a:p>
        </p:txBody>
      </p:sp>
      <p:sp>
        <p:nvSpPr>
          <p:cNvPr id="4" name="Text 1"/>
          <p:cNvSpPr/>
          <p:nvPr/>
        </p:nvSpPr>
        <p:spPr>
          <a:xfrm>
            <a:off x="2482030" y="1133475"/>
            <a:ext cx="7227941" cy="233654"/>
          </a:xfrm>
          <a:prstGeom prst="rect">
            <a:avLst/>
          </a:prstGeom>
          <a:noFill/>
          <a:ln/>
        </p:spPr>
        <p:txBody>
          <a:bodyPr wrap="none" lIns="0" tIns="0" rIns="0" bIns="0" rtlCol="0" anchor="t">
            <a:spAutoFit/>
          </a:bodyPr>
          <a:lstStyle/>
          <a:p>
            <a:pPr algn="ctr">
              <a:lnSpc>
                <a:spcPts val="1867"/>
              </a:lnSpc>
            </a:pPr>
            <a:r>
              <a:rPr lang="en-US" sz="1400" dirty="0">
                <a:solidFill>
                  <a:srgbClr val="0D9488"/>
                </a:solidFill>
                <a:latin typeface="Open Sans" pitchFamily="34" charset="0"/>
                <a:ea typeface="Open Sans" pitchFamily="34" charset="-122"/>
                <a:cs typeface="Open Sans" pitchFamily="34" charset="-120"/>
              </a:rPr>
              <a:t>Charge variants are classified by their isoelectric point (pI) relative to the main isoform.</a:t>
            </a:r>
            <a:endParaRPr lang="en-US" sz="1400" dirty="0"/>
          </a:p>
        </p:txBody>
      </p:sp>
      <p:sp>
        <p:nvSpPr>
          <p:cNvPr id="5" name="Text 2"/>
          <p:cNvSpPr/>
          <p:nvPr/>
        </p:nvSpPr>
        <p:spPr>
          <a:xfrm>
            <a:off x="857251" y="1964531"/>
            <a:ext cx="4762500" cy="954172"/>
          </a:xfrm>
          <a:prstGeom prst="rect">
            <a:avLst/>
          </a:prstGeom>
          <a:noFill/>
          <a:ln/>
        </p:spPr>
        <p:txBody>
          <a:bodyPr wrap="square" lIns="0" tIns="0" rIns="0" bIns="0" rtlCol="0" anchor="t">
            <a:spAutoFit/>
          </a:bodyPr>
          <a:lstStyle/>
          <a:p>
            <a:pPr algn="just">
              <a:lnSpc>
                <a:spcPts val="1867"/>
              </a:lnSpc>
            </a:pPr>
            <a:r>
              <a:rPr lang="en-US" sz="1112" dirty="0">
                <a:solidFill>
                  <a:srgbClr val="334155"/>
                </a:solidFill>
                <a:latin typeface="Open Sans" pitchFamily="34" charset="0"/>
                <a:ea typeface="Open Sans" pitchFamily="34" charset="-122"/>
                <a:cs typeface="Open Sans" pitchFamily="34" charset="-120"/>
              </a:rPr>
              <a:t>In ion-exchange chromatography, charge variants are identified by their elution position relative to the main antibody isoform. The </a:t>
            </a:r>
            <a:r>
              <a:rPr lang="en-US" sz="1045" b="1" dirty="0">
                <a:solidFill>
                  <a:srgbClr val="334155"/>
                </a:solidFill>
                <a:latin typeface="Open Sans" pitchFamily="34" charset="0"/>
                <a:ea typeface="Open Sans" pitchFamily="34" charset="-122"/>
                <a:cs typeface="Open Sans" pitchFamily="34" charset="-120"/>
              </a:rPr>
              <a:t>isoelectric point (pI)</a:t>
            </a:r>
            <a:r>
              <a:rPr lang="en-US" sz="1112" dirty="0">
                <a:solidFill>
                  <a:srgbClr val="334155"/>
                </a:solidFill>
                <a:latin typeface="Open Sans" pitchFamily="34" charset="0"/>
                <a:ea typeface="Open Sans" pitchFamily="34" charset="-122"/>
                <a:cs typeface="Open Sans" pitchFamily="34" charset="-120"/>
              </a:rPr>
              <a:t> determines the net charge of the molecule at a given pH, which in turn dictates its interaction with the stationary phase.</a:t>
            </a:r>
            <a:endParaRPr lang="en-US" sz="1112" dirty="0"/>
          </a:p>
        </p:txBody>
      </p:sp>
      <p:sp>
        <p:nvSpPr>
          <p:cNvPr id="6" name="Shape 3"/>
          <p:cNvSpPr/>
          <p:nvPr/>
        </p:nvSpPr>
        <p:spPr>
          <a:xfrm>
            <a:off x="862013" y="3378883"/>
            <a:ext cx="1268945" cy="423863"/>
          </a:xfrm>
          <a:prstGeom prst="rect">
            <a:avLst/>
          </a:prstGeom>
          <a:solidFill>
            <a:srgbClr val="0F172A"/>
          </a:solidFill>
          <a:ln w="9144">
            <a:solidFill>
              <a:srgbClr val="E2E8F0"/>
            </a:solidFill>
            <a:prstDash val="solid"/>
          </a:ln>
        </p:spPr>
      </p:sp>
      <p:sp>
        <p:nvSpPr>
          <p:cNvPr id="7" name="Text 4"/>
          <p:cNvSpPr/>
          <p:nvPr/>
        </p:nvSpPr>
        <p:spPr>
          <a:xfrm>
            <a:off x="862013" y="3362386"/>
            <a:ext cx="1268945" cy="456856"/>
          </a:xfrm>
          <a:prstGeom prst="rect">
            <a:avLst/>
          </a:prstGeom>
          <a:noFill/>
          <a:ln/>
        </p:spPr>
        <p:txBody>
          <a:bodyPr wrap="square" lIns="136144" tIns="136144" rIns="136144" bIns="136144" rtlCol="0" anchor="ctr">
            <a:spAutoFit/>
          </a:bodyPr>
          <a:lstStyle/>
          <a:p>
            <a:pPr>
              <a:lnSpc>
                <a:spcPts val="1467"/>
              </a:lnSpc>
            </a:pPr>
            <a:r>
              <a:rPr lang="en-US" sz="1045" b="1" dirty="0">
                <a:solidFill>
                  <a:srgbClr val="F8FAFC"/>
                </a:solidFill>
                <a:latin typeface="Montserrat" pitchFamily="34" charset="0"/>
                <a:ea typeface="Montserrat" pitchFamily="34" charset="-122"/>
                <a:cs typeface="Montserrat" pitchFamily="34" charset="-120"/>
              </a:rPr>
              <a:t>Variant Type</a:t>
            </a:r>
            <a:endParaRPr lang="en-US" sz="1045" dirty="0"/>
          </a:p>
        </p:txBody>
      </p:sp>
      <p:sp>
        <p:nvSpPr>
          <p:cNvPr id="8" name="Shape 5"/>
          <p:cNvSpPr/>
          <p:nvPr/>
        </p:nvSpPr>
        <p:spPr>
          <a:xfrm>
            <a:off x="2127276" y="3378883"/>
            <a:ext cx="1763873" cy="423863"/>
          </a:xfrm>
          <a:prstGeom prst="rect">
            <a:avLst/>
          </a:prstGeom>
          <a:solidFill>
            <a:srgbClr val="0F172A"/>
          </a:solidFill>
          <a:ln w="9144">
            <a:solidFill>
              <a:srgbClr val="E2E8F0"/>
            </a:solidFill>
            <a:prstDash val="solid"/>
          </a:ln>
        </p:spPr>
      </p:sp>
      <p:sp>
        <p:nvSpPr>
          <p:cNvPr id="9" name="Text 6"/>
          <p:cNvSpPr/>
          <p:nvPr/>
        </p:nvSpPr>
        <p:spPr>
          <a:xfrm>
            <a:off x="2127276" y="3362386"/>
            <a:ext cx="1763873" cy="456856"/>
          </a:xfrm>
          <a:prstGeom prst="rect">
            <a:avLst/>
          </a:prstGeom>
          <a:noFill/>
          <a:ln/>
        </p:spPr>
        <p:txBody>
          <a:bodyPr wrap="square" lIns="136144" tIns="136144" rIns="136144" bIns="136144" rtlCol="0" anchor="ctr">
            <a:spAutoFit/>
          </a:bodyPr>
          <a:lstStyle/>
          <a:p>
            <a:pPr>
              <a:lnSpc>
                <a:spcPts val="1467"/>
              </a:lnSpc>
            </a:pPr>
            <a:r>
              <a:rPr lang="en-US" sz="1045" b="1" dirty="0">
                <a:solidFill>
                  <a:srgbClr val="F8FAFC"/>
                </a:solidFill>
                <a:latin typeface="Montserrat" pitchFamily="34" charset="0"/>
                <a:ea typeface="Montserrat" pitchFamily="34" charset="-122"/>
                <a:cs typeface="Montserrat" pitchFamily="34" charset="-120"/>
              </a:rPr>
              <a:t>pI Relative to Main</a:t>
            </a:r>
            <a:endParaRPr lang="en-US" sz="1045" dirty="0"/>
          </a:p>
        </p:txBody>
      </p:sp>
      <p:sp>
        <p:nvSpPr>
          <p:cNvPr id="10" name="Shape 7"/>
          <p:cNvSpPr/>
          <p:nvPr/>
        </p:nvSpPr>
        <p:spPr>
          <a:xfrm>
            <a:off x="3887503" y="3378883"/>
            <a:ext cx="1727485" cy="423863"/>
          </a:xfrm>
          <a:prstGeom prst="rect">
            <a:avLst/>
          </a:prstGeom>
          <a:solidFill>
            <a:srgbClr val="0F172A"/>
          </a:solidFill>
          <a:ln w="9144">
            <a:solidFill>
              <a:srgbClr val="E2E8F0"/>
            </a:solidFill>
            <a:prstDash val="solid"/>
          </a:ln>
        </p:spPr>
      </p:sp>
      <p:sp>
        <p:nvSpPr>
          <p:cNvPr id="11" name="Text 8"/>
          <p:cNvSpPr/>
          <p:nvPr/>
        </p:nvSpPr>
        <p:spPr>
          <a:xfrm>
            <a:off x="3887503" y="3362386"/>
            <a:ext cx="1727485" cy="456856"/>
          </a:xfrm>
          <a:prstGeom prst="rect">
            <a:avLst/>
          </a:prstGeom>
          <a:noFill/>
          <a:ln/>
        </p:spPr>
        <p:txBody>
          <a:bodyPr wrap="square" lIns="136144" tIns="136144" rIns="136144" bIns="136144" rtlCol="0" anchor="ctr">
            <a:spAutoFit/>
          </a:bodyPr>
          <a:lstStyle/>
          <a:p>
            <a:pPr>
              <a:lnSpc>
                <a:spcPts val="1467"/>
              </a:lnSpc>
            </a:pPr>
            <a:r>
              <a:rPr lang="en-US" sz="1045" b="1" dirty="0">
                <a:solidFill>
                  <a:srgbClr val="F8FAFC"/>
                </a:solidFill>
                <a:latin typeface="Montserrat" pitchFamily="34" charset="0"/>
                <a:ea typeface="Montserrat" pitchFamily="34" charset="-122"/>
                <a:cs typeface="Montserrat" pitchFamily="34" charset="-120"/>
              </a:rPr>
              <a:t>CEX Elution Order</a:t>
            </a:r>
            <a:endParaRPr lang="en-US" sz="1045" dirty="0"/>
          </a:p>
        </p:txBody>
      </p:sp>
      <p:sp>
        <p:nvSpPr>
          <p:cNvPr id="12" name="Shape 9"/>
          <p:cNvSpPr/>
          <p:nvPr/>
        </p:nvSpPr>
        <p:spPr>
          <a:xfrm>
            <a:off x="862012" y="3793221"/>
            <a:ext cx="1266936" cy="419100"/>
          </a:xfrm>
          <a:prstGeom prst="rect">
            <a:avLst/>
          </a:prstGeom>
          <a:solidFill>
            <a:srgbClr val="FFFFFF"/>
          </a:solidFill>
          <a:ln w="9144">
            <a:solidFill>
              <a:srgbClr val="E2E8F0"/>
            </a:solidFill>
            <a:prstDash val="solid"/>
          </a:ln>
        </p:spPr>
      </p:sp>
      <p:sp>
        <p:nvSpPr>
          <p:cNvPr id="13" name="Text 10"/>
          <p:cNvSpPr/>
          <p:nvPr/>
        </p:nvSpPr>
        <p:spPr>
          <a:xfrm>
            <a:off x="976313" y="3909902"/>
            <a:ext cx="658835" cy="148567"/>
          </a:xfrm>
          <a:prstGeom prst="rect">
            <a:avLst/>
          </a:prstGeom>
          <a:noFill/>
          <a:ln/>
        </p:spPr>
        <p:txBody>
          <a:bodyPr wrap="none" lIns="0" tIns="0" rIns="0" bIns="0" rtlCol="0" anchor="t">
            <a:spAutoFit/>
          </a:bodyPr>
          <a:lstStyle/>
          <a:p>
            <a:pPr>
              <a:lnSpc>
                <a:spcPts val="1200"/>
              </a:lnSpc>
            </a:pPr>
            <a:r>
              <a:rPr lang="en-US" sz="911" b="1" dirty="0">
                <a:solidFill>
                  <a:srgbClr val="0D9488"/>
                </a:solidFill>
                <a:latin typeface="Open Sans" pitchFamily="34" charset="0"/>
                <a:ea typeface="Open Sans" pitchFamily="34" charset="-122"/>
                <a:cs typeface="Open Sans" pitchFamily="34" charset="-120"/>
              </a:rPr>
              <a:t>Acidic Peak</a:t>
            </a:r>
            <a:endParaRPr lang="en-US" sz="911" dirty="0"/>
          </a:p>
        </p:txBody>
      </p:sp>
      <p:sp>
        <p:nvSpPr>
          <p:cNvPr id="14" name="Shape 11"/>
          <p:cNvSpPr/>
          <p:nvPr/>
        </p:nvSpPr>
        <p:spPr>
          <a:xfrm>
            <a:off x="2128950" y="3793221"/>
            <a:ext cx="1763129" cy="419100"/>
          </a:xfrm>
          <a:prstGeom prst="rect">
            <a:avLst/>
          </a:prstGeom>
          <a:solidFill>
            <a:srgbClr val="FFFFFF"/>
          </a:solidFill>
          <a:ln w="9144">
            <a:solidFill>
              <a:srgbClr val="E2E8F0"/>
            </a:solidFill>
            <a:prstDash val="solid"/>
          </a:ln>
        </p:spPr>
      </p:sp>
      <p:sp>
        <p:nvSpPr>
          <p:cNvPr id="15" name="Text 12"/>
          <p:cNvSpPr/>
          <p:nvPr/>
        </p:nvSpPr>
        <p:spPr>
          <a:xfrm>
            <a:off x="2128950" y="3789956"/>
            <a:ext cx="1763129" cy="425629"/>
          </a:xfrm>
          <a:prstGeom prst="rect">
            <a:avLst/>
          </a:prstGeom>
          <a:noFill/>
          <a:ln/>
        </p:spPr>
        <p:txBody>
          <a:bodyPr wrap="square" lIns="136144" tIns="136144" rIns="136144" bIns="136144" rtlCol="0" anchor="ctr">
            <a:spAutoFit/>
          </a:bodyPr>
          <a:lstStyle/>
          <a:p>
            <a:pPr>
              <a:lnSpc>
                <a:spcPts val="1200"/>
              </a:lnSpc>
            </a:pPr>
            <a:r>
              <a:rPr lang="en-US" sz="969" dirty="0">
                <a:solidFill>
                  <a:srgbClr val="334155"/>
                </a:solidFill>
                <a:latin typeface="Open Sans" pitchFamily="34" charset="0"/>
                <a:ea typeface="Open Sans" pitchFamily="34" charset="-122"/>
                <a:cs typeface="Open Sans" pitchFamily="34" charset="-120"/>
              </a:rPr>
              <a:t>Lower</a:t>
            </a:r>
            <a:endParaRPr lang="en-US" sz="969" dirty="0"/>
          </a:p>
        </p:txBody>
      </p:sp>
      <p:sp>
        <p:nvSpPr>
          <p:cNvPr id="16" name="Shape 13"/>
          <p:cNvSpPr/>
          <p:nvPr/>
        </p:nvSpPr>
        <p:spPr>
          <a:xfrm>
            <a:off x="3892079" y="3793221"/>
            <a:ext cx="1722909" cy="419100"/>
          </a:xfrm>
          <a:prstGeom prst="rect">
            <a:avLst/>
          </a:prstGeom>
          <a:solidFill>
            <a:srgbClr val="FFFFFF"/>
          </a:solidFill>
          <a:ln w="9144">
            <a:solidFill>
              <a:srgbClr val="E2E8F0"/>
            </a:solidFill>
            <a:prstDash val="solid"/>
          </a:ln>
        </p:spPr>
      </p:sp>
      <p:sp>
        <p:nvSpPr>
          <p:cNvPr id="17" name="Text 14"/>
          <p:cNvSpPr/>
          <p:nvPr/>
        </p:nvSpPr>
        <p:spPr>
          <a:xfrm>
            <a:off x="3892079" y="3789956"/>
            <a:ext cx="1722909" cy="425629"/>
          </a:xfrm>
          <a:prstGeom prst="rect">
            <a:avLst/>
          </a:prstGeom>
          <a:noFill/>
          <a:ln/>
        </p:spPr>
        <p:txBody>
          <a:bodyPr wrap="square" lIns="136144" tIns="136144" rIns="136144" bIns="136144" rtlCol="0" anchor="ctr">
            <a:spAutoFit/>
          </a:bodyPr>
          <a:lstStyle/>
          <a:p>
            <a:pPr>
              <a:lnSpc>
                <a:spcPts val="1200"/>
              </a:lnSpc>
            </a:pPr>
            <a:r>
              <a:rPr lang="en-US" sz="969" dirty="0">
                <a:solidFill>
                  <a:srgbClr val="334155"/>
                </a:solidFill>
                <a:latin typeface="Open Sans" pitchFamily="34" charset="0"/>
                <a:ea typeface="Open Sans" pitchFamily="34" charset="-122"/>
                <a:cs typeface="Open Sans" pitchFamily="34" charset="-120"/>
              </a:rPr>
              <a:t>Earlier Eluting</a:t>
            </a:r>
            <a:endParaRPr lang="en-US" sz="969" dirty="0"/>
          </a:p>
        </p:txBody>
      </p:sp>
      <p:sp>
        <p:nvSpPr>
          <p:cNvPr id="18" name="Shape 15"/>
          <p:cNvSpPr/>
          <p:nvPr/>
        </p:nvSpPr>
        <p:spPr>
          <a:xfrm>
            <a:off x="862012" y="4202795"/>
            <a:ext cx="1266936" cy="419100"/>
          </a:xfrm>
          <a:prstGeom prst="rect">
            <a:avLst/>
          </a:prstGeom>
          <a:solidFill>
            <a:srgbClr val="F1F5F9"/>
          </a:solidFill>
          <a:ln w="9144">
            <a:solidFill>
              <a:srgbClr val="E2E8F0"/>
            </a:solidFill>
            <a:prstDash val="solid"/>
          </a:ln>
        </p:spPr>
      </p:sp>
      <p:sp>
        <p:nvSpPr>
          <p:cNvPr id="19" name="Text 16"/>
          <p:cNvSpPr/>
          <p:nvPr/>
        </p:nvSpPr>
        <p:spPr>
          <a:xfrm>
            <a:off x="976313" y="4319477"/>
            <a:ext cx="609141" cy="148567"/>
          </a:xfrm>
          <a:prstGeom prst="rect">
            <a:avLst/>
          </a:prstGeom>
          <a:noFill/>
          <a:ln/>
        </p:spPr>
        <p:txBody>
          <a:bodyPr wrap="none" lIns="0" tIns="0" rIns="0" bIns="0" rtlCol="0" anchor="t">
            <a:spAutoFit/>
          </a:bodyPr>
          <a:lstStyle/>
          <a:p>
            <a:pPr>
              <a:lnSpc>
                <a:spcPts val="1200"/>
              </a:lnSpc>
            </a:pPr>
            <a:r>
              <a:rPr lang="en-US" sz="911" b="1" dirty="0">
                <a:solidFill>
                  <a:srgbClr val="0D9488"/>
                </a:solidFill>
                <a:latin typeface="Open Sans" pitchFamily="34" charset="0"/>
                <a:ea typeface="Open Sans" pitchFamily="34" charset="-122"/>
                <a:cs typeface="Open Sans" pitchFamily="34" charset="-120"/>
              </a:rPr>
              <a:t>Main Peak</a:t>
            </a:r>
            <a:endParaRPr lang="en-US" sz="911" dirty="0"/>
          </a:p>
        </p:txBody>
      </p:sp>
      <p:sp>
        <p:nvSpPr>
          <p:cNvPr id="20" name="Shape 17"/>
          <p:cNvSpPr/>
          <p:nvPr/>
        </p:nvSpPr>
        <p:spPr>
          <a:xfrm>
            <a:off x="2128950" y="4202795"/>
            <a:ext cx="1763129" cy="419100"/>
          </a:xfrm>
          <a:prstGeom prst="rect">
            <a:avLst/>
          </a:prstGeom>
          <a:solidFill>
            <a:srgbClr val="F1F5F9"/>
          </a:solidFill>
          <a:ln w="9144">
            <a:solidFill>
              <a:srgbClr val="E2E8F0"/>
            </a:solidFill>
            <a:prstDash val="solid"/>
          </a:ln>
        </p:spPr>
      </p:sp>
      <p:sp>
        <p:nvSpPr>
          <p:cNvPr id="21" name="Text 18"/>
          <p:cNvSpPr/>
          <p:nvPr/>
        </p:nvSpPr>
        <p:spPr>
          <a:xfrm>
            <a:off x="2128950" y="4199531"/>
            <a:ext cx="1763129" cy="425629"/>
          </a:xfrm>
          <a:prstGeom prst="rect">
            <a:avLst/>
          </a:prstGeom>
          <a:noFill/>
          <a:ln/>
        </p:spPr>
        <p:txBody>
          <a:bodyPr wrap="square" lIns="136144" tIns="136144" rIns="136144" bIns="136144" rtlCol="0" anchor="ctr">
            <a:spAutoFit/>
          </a:bodyPr>
          <a:lstStyle/>
          <a:p>
            <a:pPr>
              <a:lnSpc>
                <a:spcPts val="1200"/>
              </a:lnSpc>
            </a:pPr>
            <a:r>
              <a:rPr lang="en-US" sz="969" dirty="0">
                <a:solidFill>
                  <a:srgbClr val="334155"/>
                </a:solidFill>
                <a:latin typeface="Open Sans" pitchFamily="34" charset="0"/>
                <a:ea typeface="Open Sans" pitchFamily="34" charset="-122"/>
                <a:cs typeface="Open Sans" pitchFamily="34" charset="-120"/>
              </a:rPr>
              <a:t>Reference</a:t>
            </a:r>
            <a:endParaRPr lang="en-US" sz="969" dirty="0"/>
          </a:p>
        </p:txBody>
      </p:sp>
      <p:sp>
        <p:nvSpPr>
          <p:cNvPr id="22" name="Shape 19"/>
          <p:cNvSpPr/>
          <p:nvPr/>
        </p:nvSpPr>
        <p:spPr>
          <a:xfrm>
            <a:off x="3892079" y="4202795"/>
            <a:ext cx="1722909" cy="419100"/>
          </a:xfrm>
          <a:prstGeom prst="rect">
            <a:avLst/>
          </a:prstGeom>
          <a:solidFill>
            <a:srgbClr val="F1F5F9"/>
          </a:solidFill>
          <a:ln w="9144">
            <a:solidFill>
              <a:srgbClr val="E2E8F0"/>
            </a:solidFill>
            <a:prstDash val="solid"/>
          </a:ln>
        </p:spPr>
      </p:sp>
      <p:sp>
        <p:nvSpPr>
          <p:cNvPr id="23" name="Text 20"/>
          <p:cNvSpPr/>
          <p:nvPr/>
        </p:nvSpPr>
        <p:spPr>
          <a:xfrm>
            <a:off x="3892079" y="4199531"/>
            <a:ext cx="1722909" cy="425629"/>
          </a:xfrm>
          <a:prstGeom prst="rect">
            <a:avLst/>
          </a:prstGeom>
          <a:noFill/>
          <a:ln/>
        </p:spPr>
        <p:txBody>
          <a:bodyPr wrap="square" lIns="136144" tIns="136144" rIns="136144" bIns="136144" rtlCol="0" anchor="ctr">
            <a:spAutoFit/>
          </a:bodyPr>
          <a:lstStyle/>
          <a:p>
            <a:pPr>
              <a:lnSpc>
                <a:spcPts val="1200"/>
              </a:lnSpc>
            </a:pPr>
            <a:r>
              <a:rPr lang="en-US" sz="969" dirty="0">
                <a:solidFill>
                  <a:srgbClr val="334155"/>
                </a:solidFill>
                <a:latin typeface="Open Sans" pitchFamily="34" charset="0"/>
                <a:ea typeface="Open Sans" pitchFamily="34" charset="-122"/>
                <a:cs typeface="Open Sans" pitchFamily="34" charset="-120"/>
              </a:rPr>
              <a:t>Central Peak</a:t>
            </a:r>
            <a:endParaRPr lang="en-US" sz="969" dirty="0"/>
          </a:p>
        </p:txBody>
      </p:sp>
      <p:sp>
        <p:nvSpPr>
          <p:cNvPr id="24" name="Shape 21"/>
          <p:cNvSpPr/>
          <p:nvPr/>
        </p:nvSpPr>
        <p:spPr>
          <a:xfrm>
            <a:off x="862012" y="4612370"/>
            <a:ext cx="1266936" cy="419100"/>
          </a:xfrm>
          <a:prstGeom prst="rect">
            <a:avLst/>
          </a:prstGeom>
          <a:solidFill>
            <a:srgbClr val="FFFFFF"/>
          </a:solidFill>
          <a:ln w="9144">
            <a:solidFill>
              <a:srgbClr val="E2E8F0"/>
            </a:solidFill>
            <a:prstDash val="solid"/>
          </a:ln>
        </p:spPr>
      </p:sp>
      <p:sp>
        <p:nvSpPr>
          <p:cNvPr id="25" name="Text 22"/>
          <p:cNvSpPr/>
          <p:nvPr/>
        </p:nvSpPr>
        <p:spPr>
          <a:xfrm>
            <a:off x="971551" y="4731433"/>
            <a:ext cx="617157" cy="148567"/>
          </a:xfrm>
          <a:prstGeom prst="rect">
            <a:avLst/>
          </a:prstGeom>
          <a:noFill/>
          <a:ln/>
        </p:spPr>
        <p:txBody>
          <a:bodyPr wrap="none" lIns="0" tIns="0" rIns="0" bIns="0" rtlCol="0" anchor="t">
            <a:spAutoFit/>
          </a:bodyPr>
          <a:lstStyle/>
          <a:p>
            <a:pPr>
              <a:lnSpc>
                <a:spcPts val="1200"/>
              </a:lnSpc>
            </a:pPr>
            <a:r>
              <a:rPr lang="en-US" sz="911" b="1" dirty="0">
                <a:solidFill>
                  <a:srgbClr val="0D9488"/>
                </a:solidFill>
                <a:latin typeface="Open Sans" pitchFamily="34" charset="0"/>
                <a:ea typeface="Open Sans" pitchFamily="34" charset="-122"/>
                <a:cs typeface="Open Sans" pitchFamily="34" charset="-120"/>
              </a:rPr>
              <a:t>Basic Peak</a:t>
            </a:r>
            <a:endParaRPr lang="en-US" sz="911" dirty="0"/>
          </a:p>
        </p:txBody>
      </p:sp>
      <p:sp>
        <p:nvSpPr>
          <p:cNvPr id="26" name="Shape 23"/>
          <p:cNvSpPr/>
          <p:nvPr/>
        </p:nvSpPr>
        <p:spPr>
          <a:xfrm>
            <a:off x="2125453" y="4612370"/>
            <a:ext cx="1764916" cy="419100"/>
          </a:xfrm>
          <a:prstGeom prst="rect">
            <a:avLst/>
          </a:prstGeom>
          <a:solidFill>
            <a:srgbClr val="FFFFFF"/>
          </a:solidFill>
          <a:ln w="9144">
            <a:solidFill>
              <a:srgbClr val="E2E8F0"/>
            </a:solidFill>
            <a:prstDash val="solid"/>
          </a:ln>
        </p:spPr>
      </p:sp>
      <p:sp>
        <p:nvSpPr>
          <p:cNvPr id="27" name="Text 24"/>
          <p:cNvSpPr/>
          <p:nvPr/>
        </p:nvSpPr>
        <p:spPr>
          <a:xfrm>
            <a:off x="2125453" y="4609106"/>
            <a:ext cx="1764916" cy="425629"/>
          </a:xfrm>
          <a:prstGeom prst="rect">
            <a:avLst/>
          </a:prstGeom>
          <a:noFill/>
          <a:ln/>
        </p:spPr>
        <p:txBody>
          <a:bodyPr wrap="square" lIns="136144" tIns="136144" rIns="136144" bIns="136144" rtlCol="0" anchor="ctr">
            <a:spAutoFit/>
          </a:bodyPr>
          <a:lstStyle/>
          <a:p>
            <a:pPr>
              <a:lnSpc>
                <a:spcPts val="1200"/>
              </a:lnSpc>
            </a:pPr>
            <a:r>
              <a:rPr lang="en-US" sz="969" dirty="0">
                <a:solidFill>
                  <a:srgbClr val="334155"/>
                </a:solidFill>
                <a:latin typeface="Open Sans" pitchFamily="34" charset="0"/>
                <a:ea typeface="Open Sans" pitchFamily="34" charset="-122"/>
                <a:cs typeface="Open Sans" pitchFamily="34" charset="-120"/>
              </a:rPr>
              <a:t>Higher</a:t>
            </a:r>
            <a:endParaRPr lang="en-US" sz="969" dirty="0"/>
          </a:p>
        </p:txBody>
      </p:sp>
      <p:sp>
        <p:nvSpPr>
          <p:cNvPr id="28" name="Shape 25"/>
          <p:cNvSpPr/>
          <p:nvPr/>
        </p:nvSpPr>
        <p:spPr>
          <a:xfrm>
            <a:off x="3890367" y="4612370"/>
            <a:ext cx="1724620" cy="419100"/>
          </a:xfrm>
          <a:prstGeom prst="rect">
            <a:avLst/>
          </a:prstGeom>
          <a:solidFill>
            <a:srgbClr val="FFFFFF"/>
          </a:solidFill>
          <a:ln w="9144">
            <a:solidFill>
              <a:srgbClr val="E2E8F0"/>
            </a:solidFill>
            <a:prstDash val="solid"/>
          </a:ln>
        </p:spPr>
      </p:sp>
      <p:sp>
        <p:nvSpPr>
          <p:cNvPr id="29" name="Text 26"/>
          <p:cNvSpPr/>
          <p:nvPr/>
        </p:nvSpPr>
        <p:spPr>
          <a:xfrm>
            <a:off x="3890367" y="4609106"/>
            <a:ext cx="1724620" cy="425629"/>
          </a:xfrm>
          <a:prstGeom prst="rect">
            <a:avLst/>
          </a:prstGeom>
          <a:noFill/>
          <a:ln/>
        </p:spPr>
        <p:txBody>
          <a:bodyPr wrap="square" lIns="136144" tIns="136144" rIns="136144" bIns="136144" rtlCol="0" anchor="ctr">
            <a:spAutoFit/>
          </a:bodyPr>
          <a:lstStyle/>
          <a:p>
            <a:pPr>
              <a:lnSpc>
                <a:spcPts val="1200"/>
              </a:lnSpc>
            </a:pPr>
            <a:r>
              <a:rPr lang="en-US" sz="969" dirty="0">
                <a:solidFill>
                  <a:srgbClr val="334155"/>
                </a:solidFill>
                <a:latin typeface="Open Sans" pitchFamily="34" charset="0"/>
                <a:ea typeface="Open Sans" pitchFamily="34" charset="-122"/>
                <a:cs typeface="Open Sans" pitchFamily="34" charset="-120"/>
              </a:rPr>
              <a:t>Later Eluting</a:t>
            </a:r>
            <a:endParaRPr lang="en-US" sz="969" dirty="0"/>
          </a:p>
        </p:txBody>
      </p:sp>
      <p:sp>
        <p:nvSpPr>
          <p:cNvPr id="30" name="Shape 27"/>
          <p:cNvSpPr/>
          <p:nvPr/>
        </p:nvSpPr>
        <p:spPr>
          <a:xfrm>
            <a:off x="6096001" y="1964531"/>
            <a:ext cx="5238751" cy="3333751"/>
          </a:xfrm>
          <a:prstGeom prst="rect">
            <a:avLst/>
          </a:prstGeom>
          <a:solidFill>
            <a:srgbClr val="FFFFFF"/>
          </a:solidFill>
          <a:ln w="9144">
            <a:solidFill>
              <a:srgbClr val="E2E8F0"/>
            </a:solidFill>
            <a:prstDash val="solid"/>
          </a:ln>
        </p:spPr>
      </p:sp>
      <p:pic>
        <p:nvPicPr>
          <p:cNvPr id="31" name="Image 1" descr="preencoded.png"/>
          <p:cNvPicPr>
            <a:picLocks noChangeAspect="1"/>
          </p:cNvPicPr>
          <p:nvPr/>
        </p:nvPicPr>
        <p:blipFill>
          <a:blip r:embed="rId4"/>
          <a:stretch>
            <a:fillRect/>
          </a:stretch>
        </p:blipFill>
        <p:spPr>
          <a:xfrm>
            <a:off x="6191251" y="2059781"/>
            <a:ext cx="5048251" cy="3143251"/>
          </a:xfrm>
          <a:prstGeom prst="rect">
            <a:avLst/>
          </a:prstGeom>
        </p:spPr>
      </p:pic>
      <p:sp>
        <p:nvSpPr>
          <p:cNvPr id="33" name="标题 32">
            <a:extLst>
              <a:ext uri="{FF2B5EF4-FFF2-40B4-BE49-F238E27FC236}">
                <a16:creationId xmlns:a16="http://schemas.microsoft.com/office/drawing/2014/main" id="{E8BFA806-7DEE-10A4-F2B0-95E2CE22F3A3}"/>
              </a:ext>
            </a:extLst>
          </p:cNvPr>
          <p:cNvSpPr>
            <a:spLocks noGrp="1"/>
          </p:cNvSpPr>
          <p:nvPr>
            <p:ph type="title"/>
          </p:nvPr>
        </p:nvSpPr>
        <p:spPr/>
        <p:txBody>
          <a:bodyPr/>
          <a:lstStyle/>
          <a:p>
            <a:endParaRPr lang="zh-CN" altLang="en-US"/>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1818388" y="571501"/>
            <a:ext cx="8555227" cy="355931"/>
          </a:xfrm>
          <a:prstGeom prst="rect">
            <a:avLst/>
          </a:prstGeom>
          <a:noFill/>
          <a:ln/>
        </p:spPr>
        <p:txBody>
          <a:bodyPr wrap="none" lIns="0" tIns="0" rIns="0" bIns="0" rtlCol="0" anchor="t">
            <a:spAutoFit/>
          </a:bodyPr>
          <a:lstStyle/>
          <a:p>
            <a:pPr algn="ctr">
              <a:lnSpc>
                <a:spcPts val="2933"/>
              </a:lnSpc>
            </a:pPr>
            <a:r>
              <a:rPr lang="en-US" sz="2136" b="1" dirty="0">
                <a:solidFill>
                  <a:srgbClr val="0F172A"/>
                </a:solidFill>
                <a:latin typeface="Montserrat" pitchFamily="34" charset="0"/>
                <a:ea typeface="Montserrat" pitchFamily="34" charset="-122"/>
                <a:cs typeface="Montserrat" pitchFamily="34" charset="-120"/>
              </a:rPr>
              <a:t>Deamidation and Sialylation Drive Acidic Variant Formation</a:t>
            </a:r>
            <a:endParaRPr lang="en-US" sz="2136" dirty="0"/>
          </a:p>
        </p:txBody>
      </p:sp>
      <p:sp>
        <p:nvSpPr>
          <p:cNvPr id="4" name="Text 1"/>
          <p:cNvSpPr/>
          <p:nvPr/>
        </p:nvSpPr>
        <p:spPr>
          <a:xfrm>
            <a:off x="2261618" y="1133475"/>
            <a:ext cx="7668766" cy="233654"/>
          </a:xfrm>
          <a:prstGeom prst="rect">
            <a:avLst/>
          </a:prstGeom>
          <a:noFill/>
          <a:ln/>
        </p:spPr>
        <p:txBody>
          <a:bodyPr wrap="none" lIns="0" tIns="0" rIns="0" bIns="0" rtlCol="0" anchor="t">
            <a:spAutoFit/>
          </a:bodyPr>
          <a:lstStyle/>
          <a:p>
            <a:pPr algn="ctr">
              <a:lnSpc>
                <a:spcPts val="1867"/>
              </a:lnSpc>
            </a:pPr>
            <a:r>
              <a:rPr lang="en-US" sz="1400" dirty="0">
                <a:solidFill>
                  <a:srgbClr val="0D9488"/>
                </a:solidFill>
                <a:latin typeface="Open Sans" pitchFamily="34" charset="0"/>
                <a:ea typeface="Open Sans" pitchFamily="34" charset="-122"/>
                <a:cs typeface="Open Sans" pitchFamily="34" charset="-120"/>
              </a:rPr>
              <a:t>Chemical and enzymatic modifications increase the negative charge density of the antibody.</a:t>
            </a:r>
            <a:endParaRPr lang="en-US" sz="1400" dirty="0"/>
          </a:p>
        </p:txBody>
      </p:sp>
      <p:sp>
        <p:nvSpPr>
          <p:cNvPr id="5" name="Text 2"/>
          <p:cNvSpPr/>
          <p:nvPr/>
        </p:nvSpPr>
        <p:spPr>
          <a:xfrm>
            <a:off x="857251" y="1869281"/>
            <a:ext cx="4953000" cy="1517851"/>
          </a:xfrm>
          <a:prstGeom prst="rect">
            <a:avLst/>
          </a:prstGeom>
          <a:noFill/>
          <a:ln/>
        </p:spPr>
        <p:txBody>
          <a:bodyPr wrap="square" lIns="0" tIns="0" rIns="0" bIns="0" rtlCol="0" anchor="t">
            <a:spAutoFit/>
          </a:bodyPr>
          <a:lstStyle/>
          <a:p>
            <a:pPr algn="just">
              <a:lnSpc>
                <a:spcPts val="2000"/>
              </a:lnSpc>
            </a:pPr>
            <a:r>
              <a:rPr lang="en-US" sz="1184" dirty="0">
                <a:solidFill>
                  <a:srgbClr val="334155"/>
                </a:solidFill>
                <a:latin typeface="Open Sans" pitchFamily="34" charset="0"/>
                <a:ea typeface="Open Sans" pitchFamily="34" charset="-122"/>
                <a:cs typeface="Open Sans" pitchFamily="34" charset="-120"/>
              </a:rPr>
              <a:t>The formation of </a:t>
            </a:r>
            <a:r>
              <a:rPr lang="en-US" sz="1112" b="1" dirty="0">
                <a:solidFill>
                  <a:srgbClr val="334155"/>
                </a:solidFill>
                <a:latin typeface="Open Sans" pitchFamily="34" charset="0"/>
                <a:ea typeface="Open Sans" pitchFamily="34" charset="-122"/>
                <a:cs typeface="Open Sans" pitchFamily="34" charset="-120"/>
              </a:rPr>
              <a:t>acidic variants</a:t>
            </a:r>
            <a:r>
              <a:rPr lang="en-US" sz="1184" dirty="0">
                <a:solidFill>
                  <a:srgbClr val="334155"/>
                </a:solidFill>
                <a:latin typeface="Open Sans" pitchFamily="34" charset="0"/>
                <a:ea typeface="Open Sans" pitchFamily="34" charset="-122"/>
                <a:cs typeface="Open Sans" pitchFamily="34" charset="-120"/>
              </a:rPr>
              <a:t> is primarily driven by modifications that increase the negative charge of the protein. </a:t>
            </a:r>
            <a:r>
              <a:rPr lang="en-US" sz="1112" b="1" dirty="0">
                <a:solidFill>
                  <a:srgbClr val="334155"/>
                </a:solidFill>
                <a:latin typeface="Open Sans" pitchFamily="34" charset="0"/>
                <a:ea typeface="Open Sans" pitchFamily="34" charset="-122"/>
                <a:cs typeface="Open Sans" pitchFamily="34" charset="-120"/>
              </a:rPr>
              <a:t>Deamidation</a:t>
            </a:r>
            <a:r>
              <a:rPr lang="en-US" sz="1184" dirty="0">
                <a:solidFill>
                  <a:srgbClr val="334155"/>
                </a:solidFill>
                <a:latin typeface="Open Sans" pitchFamily="34" charset="0"/>
                <a:ea typeface="Open Sans" pitchFamily="34" charset="-122"/>
                <a:cs typeface="Open Sans" pitchFamily="34" charset="-120"/>
              </a:rPr>
              <a:t>, the conversion of Asparagine (Asn) to Aspartic acid (Asp) or isoAspartic acid (isoAsp), is the most common contributor. This process is highly sensitive to environmental factors, particularly </a:t>
            </a:r>
            <a:r>
              <a:rPr lang="en-US" sz="1112" b="1" dirty="0">
                <a:solidFill>
                  <a:srgbClr val="334155"/>
                </a:solidFill>
                <a:latin typeface="Open Sans" pitchFamily="34" charset="0"/>
                <a:ea typeface="Open Sans" pitchFamily="34" charset="-122"/>
                <a:cs typeface="Open Sans" pitchFamily="34" charset="-120"/>
              </a:rPr>
              <a:t>alkaline pH</a:t>
            </a:r>
            <a:r>
              <a:rPr lang="en-US" sz="1184" dirty="0">
                <a:solidFill>
                  <a:srgbClr val="334155"/>
                </a:solidFill>
                <a:latin typeface="Open Sans" pitchFamily="34" charset="0"/>
                <a:ea typeface="Open Sans" pitchFamily="34" charset="-122"/>
                <a:cs typeface="Open Sans" pitchFamily="34" charset="-120"/>
              </a:rPr>
              <a:t> and </a:t>
            </a:r>
            <a:r>
              <a:rPr lang="en-US" sz="1112" b="1" dirty="0">
                <a:solidFill>
                  <a:srgbClr val="334155"/>
                </a:solidFill>
                <a:latin typeface="Open Sans" pitchFamily="34" charset="0"/>
                <a:ea typeface="Open Sans" pitchFamily="34" charset="-122"/>
                <a:cs typeface="Open Sans" pitchFamily="34" charset="-120"/>
              </a:rPr>
              <a:t>elevated temperatures</a:t>
            </a:r>
            <a:r>
              <a:rPr lang="en-US" sz="1184" dirty="0">
                <a:solidFill>
                  <a:srgbClr val="334155"/>
                </a:solidFill>
                <a:latin typeface="Open Sans" pitchFamily="34" charset="0"/>
                <a:ea typeface="Open Sans" pitchFamily="34" charset="-122"/>
                <a:cs typeface="Open Sans" pitchFamily="34" charset="-120"/>
              </a:rPr>
              <a:t>.</a:t>
            </a:r>
            <a:endParaRPr lang="en-US" sz="1184" dirty="0"/>
          </a:p>
        </p:txBody>
      </p:sp>
      <p:sp>
        <p:nvSpPr>
          <p:cNvPr id="6" name="Text 3"/>
          <p:cNvSpPr/>
          <p:nvPr/>
        </p:nvSpPr>
        <p:spPr>
          <a:xfrm>
            <a:off x="857251" y="3652317"/>
            <a:ext cx="4953000" cy="748410"/>
          </a:xfrm>
          <a:prstGeom prst="rect">
            <a:avLst/>
          </a:prstGeom>
          <a:noFill/>
          <a:ln/>
        </p:spPr>
        <p:txBody>
          <a:bodyPr wrap="square" lIns="0" tIns="0" rIns="0" bIns="0" rtlCol="0" anchor="t">
            <a:spAutoFit/>
          </a:bodyPr>
          <a:lstStyle/>
          <a:p>
            <a:pPr algn="just">
              <a:lnSpc>
                <a:spcPts val="2000"/>
              </a:lnSpc>
            </a:pPr>
            <a:r>
              <a:rPr lang="en-US" sz="1184" dirty="0">
                <a:solidFill>
                  <a:srgbClr val="334155"/>
                </a:solidFill>
                <a:latin typeface="Open Sans" pitchFamily="34" charset="0"/>
                <a:ea typeface="Open Sans" pitchFamily="34" charset="-122"/>
                <a:cs typeface="Open Sans" pitchFamily="34" charset="-120"/>
              </a:rPr>
              <a:t>Additionally, the enzymatic addition of </a:t>
            </a:r>
            <a:r>
              <a:rPr lang="en-US" sz="1112" b="1" dirty="0">
                <a:solidFill>
                  <a:srgbClr val="334155"/>
                </a:solidFill>
                <a:latin typeface="Open Sans" pitchFamily="34" charset="0"/>
                <a:ea typeface="Open Sans" pitchFamily="34" charset="-122"/>
                <a:cs typeface="Open Sans" pitchFamily="34" charset="-120"/>
              </a:rPr>
              <a:t>sialic acid</a:t>
            </a:r>
            <a:r>
              <a:rPr lang="en-US" sz="1184" dirty="0">
                <a:solidFill>
                  <a:srgbClr val="334155"/>
                </a:solidFill>
                <a:latin typeface="Open Sans" pitchFamily="34" charset="0"/>
                <a:ea typeface="Open Sans" pitchFamily="34" charset="-122"/>
                <a:cs typeface="Open Sans" pitchFamily="34" charset="-120"/>
              </a:rPr>
              <a:t> residues to N-glycans introduces further negative charges, which can significantly influence the molecule's biological half-life and anti-inflammatory properties.</a:t>
            </a:r>
            <a:endParaRPr lang="en-US" sz="1184" dirty="0"/>
          </a:p>
        </p:txBody>
      </p:sp>
      <p:sp>
        <p:nvSpPr>
          <p:cNvPr id="7" name="Shape 4"/>
          <p:cNvSpPr/>
          <p:nvPr/>
        </p:nvSpPr>
        <p:spPr>
          <a:xfrm>
            <a:off x="857251" y="4917207"/>
            <a:ext cx="4953000" cy="1066800"/>
          </a:xfrm>
          <a:prstGeom prst="rect">
            <a:avLst/>
          </a:prstGeom>
          <a:solidFill>
            <a:srgbClr val="F1F5F9"/>
          </a:solidFill>
          <a:ln/>
        </p:spPr>
      </p:sp>
      <p:sp>
        <p:nvSpPr>
          <p:cNvPr id="8" name="Shape 5"/>
          <p:cNvSpPr/>
          <p:nvPr/>
        </p:nvSpPr>
        <p:spPr>
          <a:xfrm>
            <a:off x="857251" y="4917207"/>
            <a:ext cx="38100" cy="1066800"/>
          </a:xfrm>
          <a:prstGeom prst="rect">
            <a:avLst/>
          </a:prstGeom>
          <a:solidFill>
            <a:srgbClr val="0D9488"/>
          </a:solidFill>
          <a:ln/>
        </p:spPr>
      </p:sp>
      <p:sp>
        <p:nvSpPr>
          <p:cNvPr id="9" name="Text 6"/>
          <p:cNvSpPr/>
          <p:nvPr/>
        </p:nvSpPr>
        <p:spPr>
          <a:xfrm>
            <a:off x="857251" y="4917207"/>
            <a:ext cx="4953000" cy="1168418"/>
          </a:xfrm>
          <a:prstGeom prst="rect">
            <a:avLst/>
          </a:prstGeom>
          <a:noFill/>
          <a:ln/>
        </p:spPr>
        <p:txBody>
          <a:bodyPr wrap="square" lIns="226737" tIns="226737" rIns="226737" bIns="226737" rtlCol="0" anchor="t">
            <a:spAutoFit/>
          </a:bodyPr>
          <a:lstStyle/>
          <a:p>
            <a:pPr>
              <a:lnSpc>
                <a:spcPts val="1867"/>
              </a:lnSpc>
            </a:pPr>
            <a:r>
              <a:rPr lang="en-US" sz="1045" b="1" i="1" dirty="0">
                <a:solidFill>
                  <a:srgbClr val="0F172A"/>
                </a:solidFill>
                <a:latin typeface="Open Sans" pitchFamily="34" charset="0"/>
                <a:ea typeface="Open Sans" pitchFamily="34" charset="-122"/>
                <a:cs typeface="Open Sans" pitchFamily="34" charset="-120"/>
              </a:rPr>
              <a:t>Deamidation Hotspots:</a:t>
            </a:r>
            <a:r>
              <a:rPr lang="en-US" sz="1112" i="1" dirty="0">
                <a:solidFill>
                  <a:srgbClr val="334155"/>
                </a:solidFill>
                <a:latin typeface="Open Sans" pitchFamily="34" charset="0"/>
                <a:ea typeface="Open Sans" pitchFamily="34" charset="-122"/>
                <a:cs typeface="Open Sans" pitchFamily="34" charset="-120"/>
              </a:rPr>
              <a:t> Sequences such as </a:t>
            </a:r>
            <a:r>
              <a:rPr lang="en-US" sz="1045" b="1" i="1" dirty="0">
                <a:solidFill>
                  <a:srgbClr val="0F172A"/>
                </a:solidFill>
                <a:latin typeface="Open Sans" pitchFamily="34" charset="0"/>
                <a:ea typeface="Open Sans" pitchFamily="34" charset="-122"/>
                <a:cs typeface="Open Sans" pitchFamily="34" charset="-120"/>
              </a:rPr>
              <a:t>Asn-Gly</a:t>
            </a:r>
            <a:r>
              <a:rPr lang="en-US" sz="1112" i="1" dirty="0">
                <a:solidFill>
                  <a:srgbClr val="334155"/>
                </a:solidFill>
                <a:latin typeface="Open Sans" pitchFamily="34" charset="0"/>
                <a:ea typeface="Open Sans" pitchFamily="34" charset="-122"/>
                <a:cs typeface="Open Sans" pitchFamily="34" charset="-120"/>
              </a:rPr>
              <a:t> and </a:t>
            </a:r>
            <a:r>
              <a:rPr lang="en-US" sz="1045" b="1" i="1" dirty="0">
                <a:solidFill>
                  <a:srgbClr val="0F172A"/>
                </a:solidFill>
                <a:latin typeface="Open Sans" pitchFamily="34" charset="0"/>
                <a:ea typeface="Open Sans" pitchFamily="34" charset="-122"/>
                <a:cs typeface="Open Sans" pitchFamily="34" charset="-120"/>
              </a:rPr>
              <a:t>Asn-Ser</a:t>
            </a:r>
            <a:r>
              <a:rPr lang="en-US" sz="1112" i="1" dirty="0">
                <a:solidFill>
                  <a:srgbClr val="334155"/>
                </a:solidFill>
                <a:latin typeface="Open Sans" pitchFamily="34" charset="0"/>
                <a:ea typeface="Open Sans" pitchFamily="34" charset="-122"/>
                <a:cs typeface="Open Sans" pitchFamily="34" charset="-120"/>
              </a:rPr>
              <a:t> in the complementarity-determining regions (CDRs) are particularly susceptible to rapid deamidation.</a:t>
            </a:r>
            <a:endParaRPr lang="en-US" sz="1112" dirty="0"/>
          </a:p>
        </p:txBody>
      </p:sp>
      <p:sp>
        <p:nvSpPr>
          <p:cNvPr id="10" name="Shape 7"/>
          <p:cNvSpPr/>
          <p:nvPr/>
        </p:nvSpPr>
        <p:spPr>
          <a:xfrm>
            <a:off x="6191251" y="1869282"/>
            <a:ext cx="5143500" cy="3619500"/>
          </a:xfrm>
          <a:prstGeom prst="rect">
            <a:avLst/>
          </a:prstGeom>
          <a:solidFill>
            <a:srgbClr val="FFFFFF"/>
          </a:solidFill>
          <a:ln w="9144">
            <a:solidFill>
              <a:srgbClr val="E2E8F0"/>
            </a:solidFill>
            <a:prstDash val="solid"/>
          </a:ln>
        </p:spPr>
      </p:sp>
      <p:pic>
        <p:nvPicPr>
          <p:cNvPr id="11" name="Image 1" descr="preencoded.png"/>
          <p:cNvPicPr>
            <a:picLocks noChangeAspect="1"/>
          </p:cNvPicPr>
          <p:nvPr/>
        </p:nvPicPr>
        <p:blipFill>
          <a:blip r:embed="rId4"/>
          <a:stretch>
            <a:fillRect/>
          </a:stretch>
        </p:blipFill>
        <p:spPr>
          <a:xfrm>
            <a:off x="6286500" y="1964531"/>
            <a:ext cx="4953000" cy="3429000"/>
          </a:xfrm>
          <a:prstGeom prst="rect">
            <a:avLst/>
          </a:prstGeom>
        </p:spPr>
      </p:pic>
      <p:sp>
        <p:nvSpPr>
          <p:cNvPr id="12" name="Text 8"/>
          <p:cNvSpPr/>
          <p:nvPr/>
        </p:nvSpPr>
        <p:spPr>
          <a:xfrm>
            <a:off x="6325791" y="5603082"/>
            <a:ext cx="4457952" cy="150682"/>
          </a:xfrm>
          <a:prstGeom prst="rect">
            <a:avLst/>
          </a:prstGeom>
          <a:noFill/>
          <a:ln/>
        </p:spPr>
        <p:txBody>
          <a:bodyPr wrap="none" lIns="0" tIns="0" rIns="0" bIns="0" rtlCol="0" anchor="t">
            <a:spAutoFit/>
          </a:bodyPr>
          <a:lstStyle/>
          <a:p>
            <a:pPr>
              <a:lnSpc>
                <a:spcPts val="1200"/>
              </a:lnSpc>
            </a:pPr>
            <a:r>
              <a:rPr lang="en-US" sz="969" i="1" dirty="0">
                <a:solidFill>
                  <a:srgbClr val="64748B"/>
                </a:solidFill>
                <a:latin typeface="Open Sans" pitchFamily="34" charset="0"/>
                <a:ea typeface="Open Sans" pitchFamily="34" charset="-122"/>
                <a:cs typeface="Open Sans" pitchFamily="34" charset="-120"/>
              </a:rPr>
              <a:t>Figure: Chemical pathway of Asparagine deamidation to Asp and isoAsp isoforms.</a:t>
            </a:r>
            <a:endParaRPr lang="en-US" sz="969" dirty="0"/>
          </a:p>
        </p:txBody>
      </p:sp>
      <p:sp>
        <p:nvSpPr>
          <p:cNvPr id="14" name="标题 13">
            <a:extLst>
              <a:ext uri="{FF2B5EF4-FFF2-40B4-BE49-F238E27FC236}">
                <a16:creationId xmlns:a16="http://schemas.microsoft.com/office/drawing/2014/main" id="{75ED0844-20B8-A447-DE2C-02B26F32F70E}"/>
              </a:ext>
            </a:extLst>
          </p:cNvPr>
          <p:cNvSpPr>
            <a:spLocks noGrp="1"/>
          </p:cNvSpPr>
          <p:nvPr>
            <p:ph type="title"/>
          </p:nvPr>
        </p:nvSpPr>
        <p:spPr/>
        <p:txBody>
          <a:bodyPr/>
          <a:lstStyle/>
          <a:p>
            <a:endParaRPr lang="zh-CN" altLang="en-US"/>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1355120" y="571501"/>
            <a:ext cx="9481763" cy="355931"/>
          </a:xfrm>
          <a:prstGeom prst="rect">
            <a:avLst/>
          </a:prstGeom>
          <a:noFill/>
          <a:ln/>
        </p:spPr>
        <p:txBody>
          <a:bodyPr wrap="none" lIns="0" tIns="0" rIns="0" bIns="0" rtlCol="0" anchor="t">
            <a:spAutoFit/>
          </a:bodyPr>
          <a:lstStyle/>
          <a:p>
            <a:pPr algn="ctr">
              <a:lnSpc>
                <a:spcPts val="2933"/>
              </a:lnSpc>
            </a:pPr>
            <a:r>
              <a:rPr lang="en-US" sz="2136" b="1" dirty="0">
                <a:solidFill>
                  <a:srgbClr val="0F172A"/>
                </a:solidFill>
                <a:latin typeface="Montserrat" pitchFamily="34" charset="0"/>
                <a:ea typeface="Montserrat" pitchFamily="34" charset="-122"/>
                <a:cs typeface="Montserrat" pitchFamily="34" charset="-120"/>
              </a:rPr>
              <a:t>C-Terminal Lysine Clipping is the Primary Source of Basic Variants</a:t>
            </a:r>
            <a:endParaRPr lang="en-US" sz="2136" dirty="0"/>
          </a:p>
        </p:txBody>
      </p:sp>
      <p:sp>
        <p:nvSpPr>
          <p:cNvPr id="4" name="Text 1"/>
          <p:cNvSpPr/>
          <p:nvPr/>
        </p:nvSpPr>
        <p:spPr>
          <a:xfrm>
            <a:off x="2607866" y="1133475"/>
            <a:ext cx="6976269" cy="233654"/>
          </a:xfrm>
          <a:prstGeom prst="rect">
            <a:avLst/>
          </a:prstGeom>
          <a:noFill/>
          <a:ln/>
        </p:spPr>
        <p:txBody>
          <a:bodyPr wrap="none" lIns="0" tIns="0" rIns="0" bIns="0" rtlCol="0" anchor="t">
            <a:spAutoFit/>
          </a:bodyPr>
          <a:lstStyle/>
          <a:p>
            <a:pPr algn="ctr">
              <a:lnSpc>
                <a:spcPts val="1867"/>
              </a:lnSpc>
            </a:pPr>
            <a:r>
              <a:rPr lang="en-US" sz="1400" dirty="0">
                <a:solidFill>
                  <a:srgbClr val="0D9488"/>
                </a:solidFill>
                <a:latin typeface="Open Sans" pitchFamily="34" charset="0"/>
                <a:ea typeface="Open Sans" pitchFamily="34" charset="-122"/>
                <a:cs typeface="Open Sans" pitchFamily="34" charset="-120"/>
              </a:rPr>
              <a:t>The loss of positive charge through enzymatic cleavage creates basic heterogeneity.</a:t>
            </a:r>
            <a:endParaRPr lang="en-US" sz="1400" dirty="0"/>
          </a:p>
        </p:txBody>
      </p:sp>
      <p:sp>
        <p:nvSpPr>
          <p:cNvPr id="5" name="Text 2"/>
          <p:cNvSpPr/>
          <p:nvPr/>
        </p:nvSpPr>
        <p:spPr>
          <a:xfrm>
            <a:off x="857251" y="1869282"/>
            <a:ext cx="4953000" cy="1441485"/>
          </a:xfrm>
          <a:prstGeom prst="rect">
            <a:avLst/>
          </a:prstGeom>
          <a:noFill/>
          <a:ln/>
        </p:spPr>
        <p:txBody>
          <a:bodyPr wrap="square" lIns="0" tIns="0" rIns="0" bIns="0" rtlCol="0" anchor="t">
            <a:spAutoFit/>
          </a:bodyPr>
          <a:lstStyle/>
          <a:p>
            <a:pPr algn="just">
              <a:lnSpc>
                <a:spcPts val="1867"/>
              </a:lnSpc>
            </a:pPr>
            <a:r>
              <a:rPr lang="en-US" sz="1112" dirty="0">
                <a:solidFill>
                  <a:srgbClr val="0D9488"/>
                </a:solidFill>
                <a:latin typeface="Open Sans" pitchFamily="34" charset="0"/>
                <a:ea typeface="Open Sans" pitchFamily="34" charset="-122"/>
                <a:cs typeface="Open Sans" pitchFamily="34" charset="-120"/>
              </a:rPr>
              <a:t>Basic variants</a:t>
            </a:r>
            <a:r>
              <a:rPr lang="en-US" sz="1112" dirty="0">
                <a:solidFill>
                  <a:srgbClr val="334155"/>
                </a:solidFill>
                <a:latin typeface="Open Sans" pitchFamily="34" charset="0"/>
                <a:ea typeface="Open Sans" pitchFamily="34" charset="-122"/>
                <a:cs typeface="Open Sans" pitchFamily="34" charset="-120"/>
              </a:rPr>
              <a:t> predominantly arise from the incomplete processing of C-terminal lysine residues. During cell culture, endogenous </a:t>
            </a:r>
            <a:r>
              <a:rPr lang="en-US" sz="1112" dirty="0">
                <a:solidFill>
                  <a:srgbClr val="0D9488"/>
                </a:solidFill>
                <a:latin typeface="Open Sans" pitchFamily="34" charset="0"/>
                <a:ea typeface="Open Sans" pitchFamily="34" charset="-122"/>
                <a:cs typeface="Open Sans" pitchFamily="34" charset="-120"/>
              </a:rPr>
              <a:t>carboxypeptidases</a:t>
            </a:r>
            <a:r>
              <a:rPr lang="en-US" sz="1112" dirty="0">
                <a:solidFill>
                  <a:srgbClr val="334155"/>
                </a:solidFill>
                <a:latin typeface="Open Sans" pitchFamily="34" charset="0"/>
                <a:ea typeface="Open Sans" pitchFamily="34" charset="-122"/>
                <a:cs typeface="Open Sans" pitchFamily="34" charset="-120"/>
              </a:rPr>
              <a:t> remove these positively charged residues from the heavy chains of the antibody. This results in a mixture of species with zero, one, or two C-terminal lysines, creating a characteristic "basic" profile in chromatographic assays.</a:t>
            </a:r>
            <a:endParaRPr lang="en-US" sz="1112" dirty="0"/>
          </a:p>
        </p:txBody>
      </p:sp>
      <p:sp>
        <p:nvSpPr>
          <p:cNvPr id="6" name="Shape 3"/>
          <p:cNvSpPr/>
          <p:nvPr/>
        </p:nvSpPr>
        <p:spPr>
          <a:xfrm>
            <a:off x="857251" y="3560787"/>
            <a:ext cx="4953000" cy="2055019"/>
          </a:xfrm>
          <a:prstGeom prst="rect">
            <a:avLst/>
          </a:prstGeom>
          <a:solidFill>
            <a:srgbClr val="000000">
              <a:alpha val="0"/>
            </a:srgbClr>
          </a:solidFill>
          <a:ln w="9144">
            <a:solidFill>
              <a:srgbClr val="E2E8F0"/>
            </a:solidFill>
            <a:prstDash val="solid"/>
          </a:ln>
        </p:spPr>
      </p:sp>
      <p:sp>
        <p:nvSpPr>
          <p:cNvPr id="7" name="Shape 4"/>
          <p:cNvSpPr/>
          <p:nvPr/>
        </p:nvSpPr>
        <p:spPr>
          <a:xfrm>
            <a:off x="862012" y="3565549"/>
            <a:ext cx="1098128" cy="400051"/>
          </a:xfrm>
          <a:prstGeom prst="rect">
            <a:avLst/>
          </a:prstGeom>
          <a:solidFill>
            <a:srgbClr val="0F172A"/>
          </a:solidFill>
          <a:ln w="9144">
            <a:solidFill>
              <a:srgbClr val="334155"/>
            </a:solidFill>
            <a:prstDash val="solid"/>
          </a:ln>
        </p:spPr>
      </p:sp>
      <p:sp>
        <p:nvSpPr>
          <p:cNvPr id="8" name="Text 5"/>
          <p:cNvSpPr/>
          <p:nvPr/>
        </p:nvSpPr>
        <p:spPr>
          <a:xfrm>
            <a:off x="862012" y="3553978"/>
            <a:ext cx="1098128" cy="423193"/>
          </a:xfrm>
          <a:prstGeom prst="rect">
            <a:avLst/>
          </a:prstGeom>
          <a:noFill/>
          <a:ln/>
        </p:spPr>
        <p:txBody>
          <a:bodyPr wrap="square" lIns="136144" tIns="136144" rIns="136144" bIns="136144" rtlCol="0" anchor="ctr">
            <a:spAutoFit/>
          </a:bodyPr>
          <a:lstStyle/>
          <a:p>
            <a:pPr>
              <a:lnSpc>
                <a:spcPts val="1200"/>
              </a:lnSpc>
            </a:pPr>
            <a:r>
              <a:rPr lang="en-US" sz="911" b="1" dirty="0">
                <a:solidFill>
                  <a:srgbClr val="F8FAFC"/>
                </a:solidFill>
                <a:latin typeface="Montserrat" pitchFamily="34" charset="0"/>
                <a:ea typeface="Montserrat" pitchFamily="34" charset="-122"/>
                <a:cs typeface="Montserrat" pitchFamily="34" charset="-120"/>
              </a:rPr>
              <a:t>Modification</a:t>
            </a:r>
            <a:endParaRPr lang="en-US" sz="911" dirty="0"/>
          </a:p>
        </p:txBody>
      </p:sp>
      <p:sp>
        <p:nvSpPr>
          <p:cNvPr id="9" name="Shape 6"/>
          <p:cNvSpPr/>
          <p:nvPr/>
        </p:nvSpPr>
        <p:spPr>
          <a:xfrm>
            <a:off x="1959508" y="3565549"/>
            <a:ext cx="2367632" cy="400051"/>
          </a:xfrm>
          <a:prstGeom prst="rect">
            <a:avLst/>
          </a:prstGeom>
          <a:solidFill>
            <a:srgbClr val="0F172A"/>
          </a:solidFill>
          <a:ln w="9144">
            <a:solidFill>
              <a:srgbClr val="334155"/>
            </a:solidFill>
            <a:prstDash val="solid"/>
          </a:ln>
        </p:spPr>
      </p:sp>
      <p:sp>
        <p:nvSpPr>
          <p:cNvPr id="10" name="Text 7"/>
          <p:cNvSpPr/>
          <p:nvPr/>
        </p:nvSpPr>
        <p:spPr>
          <a:xfrm>
            <a:off x="1959508" y="3553978"/>
            <a:ext cx="2367632" cy="423193"/>
          </a:xfrm>
          <a:prstGeom prst="rect">
            <a:avLst/>
          </a:prstGeom>
          <a:noFill/>
          <a:ln/>
        </p:spPr>
        <p:txBody>
          <a:bodyPr wrap="square" lIns="136144" tIns="136144" rIns="136144" bIns="136144" rtlCol="0" anchor="ctr">
            <a:spAutoFit/>
          </a:bodyPr>
          <a:lstStyle/>
          <a:p>
            <a:pPr>
              <a:lnSpc>
                <a:spcPts val="1200"/>
              </a:lnSpc>
            </a:pPr>
            <a:r>
              <a:rPr lang="en-US" sz="911" b="1" dirty="0">
                <a:solidFill>
                  <a:srgbClr val="F8FAFC"/>
                </a:solidFill>
                <a:latin typeface="Montserrat" pitchFamily="34" charset="0"/>
                <a:ea typeface="Montserrat" pitchFamily="34" charset="-122"/>
                <a:cs typeface="Montserrat" pitchFamily="34" charset="-120"/>
              </a:rPr>
              <a:t>Mechanism</a:t>
            </a:r>
            <a:endParaRPr lang="en-US" sz="911" dirty="0"/>
          </a:p>
        </p:txBody>
      </p:sp>
      <p:sp>
        <p:nvSpPr>
          <p:cNvPr id="11" name="Shape 8"/>
          <p:cNvSpPr/>
          <p:nvPr/>
        </p:nvSpPr>
        <p:spPr>
          <a:xfrm>
            <a:off x="4326880" y="3565549"/>
            <a:ext cx="1478608" cy="400051"/>
          </a:xfrm>
          <a:prstGeom prst="rect">
            <a:avLst/>
          </a:prstGeom>
          <a:solidFill>
            <a:srgbClr val="0F172A"/>
          </a:solidFill>
          <a:ln w="9144">
            <a:solidFill>
              <a:srgbClr val="334155"/>
            </a:solidFill>
            <a:prstDash val="solid"/>
          </a:ln>
        </p:spPr>
      </p:sp>
      <p:sp>
        <p:nvSpPr>
          <p:cNvPr id="12" name="Text 9"/>
          <p:cNvSpPr/>
          <p:nvPr/>
        </p:nvSpPr>
        <p:spPr>
          <a:xfrm>
            <a:off x="4326880" y="3553978"/>
            <a:ext cx="1478608" cy="423193"/>
          </a:xfrm>
          <a:prstGeom prst="rect">
            <a:avLst/>
          </a:prstGeom>
          <a:noFill/>
          <a:ln/>
        </p:spPr>
        <p:txBody>
          <a:bodyPr wrap="square" lIns="136144" tIns="136144" rIns="136144" bIns="136144" rtlCol="0" anchor="ctr">
            <a:spAutoFit/>
          </a:bodyPr>
          <a:lstStyle/>
          <a:p>
            <a:pPr>
              <a:lnSpc>
                <a:spcPts val="1200"/>
              </a:lnSpc>
            </a:pPr>
            <a:r>
              <a:rPr lang="en-US" sz="911" b="1" dirty="0">
                <a:solidFill>
                  <a:srgbClr val="F8FAFC"/>
                </a:solidFill>
                <a:latin typeface="Montserrat" pitchFamily="34" charset="0"/>
                <a:ea typeface="Montserrat" pitchFamily="34" charset="-122"/>
                <a:cs typeface="Montserrat" pitchFamily="34" charset="-120"/>
              </a:rPr>
              <a:t>Charge Effect</a:t>
            </a:r>
            <a:endParaRPr lang="en-US" sz="911" dirty="0"/>
          </a:p>
        </p:txBody>
      </p:sp>
      <p:sp>
        <p:nvSpPr>
          <p:cNvPr id="13" name="Shape 10"/>
          <p:cNvSpPr/>
          <p:nvPr/>
        </p:nvSpPr>
        <p:spPr>
          <a:xfrm>
            <a:off x="862013" y="3956075"/>
            <a:ext cx="1096863" cy="538163"/>
          </a:xfrm>
          <a:prstGeom prst="rect">
            <a:avLst/>
          </a:prstGeom>
          <a:solidFill>
            <a:srgbClr val="FFFFFF"/>
          </a:solidFill>
          <a:ln w="9144">
            <a:solidFill>
              <a:srgbClr val="E2E8F0"/>
            </a:solidFill>
            <a:prstDash val="solid"/>
          </a:ln>
        </p:spPr>
      </p:sp>
      <p:sp>
        <p:nvSpPr>
          <p:cNvPr id="14" name="Text 11"/>
          <p:cNvSpPr/>
          <p:nvPr/>
        </p:nvSpPr>
        <p:spPr>
          <a:xfrm>
            <a:off x="976312" y="4053707"/>
            <a:ext cx="466725" cy="302006"/>
          </a:xfrm>
          <a:prstGeom prst="rect">
            <a:avLst/>
          </a:prstGeom>
          <a:noFill/>
          <a:ln/>
        </p:spPr>
        <p:txBody>
          <a:bodyPr wrap="square" lIns="0" tIns="0" rIns="0" bIns="0" rtlCol="0" anchor="t">
            <a:spAutoFit/>
          </a:bodyPr>
          <a:lstStyle/>
          <a:p>
            <a:pPr>
              <a:lnSpc>
                <a:spcPts val="1200"/>
              </a:lnSpc>
            </a:pPr>
            <a:r>
              <a:rPr lang="en-US" sz="899" dirty="0">
                <a:solidFill>
                  <a:srgbClr val="0D9488"/>
                </a:solidFill>
                <a:latin typeface="Open Sans" pitchFamily="34" charset="0"/>
                <a:ea typeface="Open Sans" pitchFamily="34" charset="-122"/>
                <a:cs typeface="Open Sans" pitchFamily="34" charset="-120"/>
              </a:rPr>
              <a:t>Lysine Clipping</a:t>
            </a:r>
            <a:endParaRPr lang="en-US" sz="899" dirty="0"/>
          </a:p>
        </p:txBody>
      </p:sp>
      <p:sp>
        <p:nvSpPr>
          <p:cNvPr id="15" name="Shape 12"/>
          <p:cNvSpPr/>
          <p:nvPr/>
        </p:nvSpPr>
        <p:spPr>
          <a:xfrm>
            <a:off x="1954821" y="3956075"/>
            <a:ext cx="2370311" cy="538163"/>
          </a:xfrm>
          <a:prstGeom prst="rect">
            <a:avLst/>
          </a:prstGeom>
          <a:solidFill>
            <a:srgbClr val="FFFFFF"/>
          </a:solidFill>
          <a:ln w="9144">
            <a:solidFill>
              <a:srgbClr val="E2E8F0"/>
            </a:solidFill>
            <a:prstDash val="solid"/>
          </a:ln>
        </p:spPr>
      </p:sp>
      <p:sp>
        <p:nvSpPr>
          <p:cNvPr id="16" name="Text 13"/>
          <p:cNvSpPr/>
          <p:nvPr/>
        </p:nvSpPr>
        <p:spPr>
          <a:xfrm>
            <a:off x="1954821" y="4036537"/>
            <a:ext cx="2370311" cy="377239"/>
          </a:xfrm>
          <a:prstGeom prst="rect">
            <a:avLst/>
          </a:prstGeom>
          <a:noFill/>
          <a:ln/>
        </p:spPr>
        <p:txBody>
          <a:bodyPr wrap="square" lIns="136144" tIns="113453" rIns="136144" bIns="113453" rtlCol="0" anchor="ctr">
            <a:spAutoFit/>
          </a:bodyPr>
          <a:lstStyle/>
          <a:p>
            <a:pPr>
              <a:lnSpc>
                <a:spcPts val="1200"/>
              </a:lnSpc>
            </a:pPr>
            <a:r>
              <a:rPr lang="en-US" sz="899" dirty="0">
                <a:solidFill>
                  <a:srgbClr val="334155"/>
                </a:solidFill>
                <a:latin typeface="Open Sans" pitchFamily="34" charset="0"/>
                <a:ea typeface="Open Sans" pitchFamily="34" charset="-122"/>
                <a:cs typeface="Open Sans" pitchFamily="34" charset="-120"/>
              </a:rPr>
              <a:t>Removal of C-terminal Lys by enzymes.</a:t>
            </a:r>
            <a:endParaRPr lang="en-US" sz="899" dirty="0"/>
          </a:p>
        </p:txBody>
      </p:sp>
      <p:sp>
        <p:nvSpPr>
          <p:cNvPr id="17" name="Shape 14"/>
          <p:cNvSpPr/>
          <p:nvPr/>
        </p:nvSpPr>
        <p:spPr>
          <a:xfrm>
            <a:off x="4321634" y="3956075"/>
            <a:ext cx="1483853" cy="538163"/>
          </a:xfrm>
          <a:prstGeom prst="rect">
            <a:avLst/>
          </a:prstGeom>
          <a:solidFill>
            <a:srgbClr val="FFFFFF"/>
          </a:solidFill>
          <a:ln w="9144">
            <a:solidFill>
              <a:srgbClr val="E2E8F0"/>
            </a:solidFill>
            <a:prstDash val="solid"/>
          </a:ln>
        </p:spPr>
      </p:sp>
      <p:sp>
        <p:nvSpPr>
          <p:cNvPr id="18" name="Text 15"/>
          <p:cNvSpPr/>
          <p:nvPr/>
        </p:nvSpPr>
        <p:spPr>
          <a:xfrm>
            <a:off x="4321634" y="3959592"/>
            <a:ext cx="1483853" cy="531128"/>
          </a:xfrm>
          <a:prstGeom prst="rect">
            <a:avLst/>
          </a:prstGeom>
          <a:noFill/>
          <a:ln/>
        </p:spPr>
        <p:txBody>
          <a:bodyPr wrap="square" lIns="136144" tIns="113453" rIns="136144" bIns="113453" rtlCol="0" anchor="ctr">
            <a:spAutoFit/>
          </a:bodyPr>
          <a:lstStyle/>
          <a:p>
            <a:pPr>
              <a:lnSpc>
                <a:spcPts val="1200"/>
              </a:lnSpc>
            </a:pPr>
            <a:r>
              <a:rPr lang="en-US" sz="899" dirty="0">
                <a:solidFill>
                  <a:srgbClr val="334155"/>
                </a:solidFill>
                <a:latin typeface="Open Sans" pitchFamily="34" charset="0"/>
                <a:ea typeface="Open Sans" pitchFamily="34" charset="-122"/>
                <a:cs typeface="Open Sans" pitchFamily="34" charset="-120"/>
              </a:rPr>
              <a:t>Loss of Positive Charge</a:t>
            </a:r>
            <a:endParaRPr lang="en-US" sz="899" dirty="0"/>
          </a:p>
        </p:txBody>
      </p:sp>
      <p:sp>
        <p:nvSpPr>
          <p:cNvPr id="19" name="Shape 16"/>
          <p:cNvSpPr/>
          <p:nvPr/>
        </p:nvSpPr>
        <p:spPr>
          <a:xfrm>
            <a:off x="862012" y="4484712"/>
            <a:ext cx="1088864" cy="369093"/>
          </a:xfrm>
          <a:prstGeom prst="rect">
            <a:avLst/>
          </a:prstGeom>
          <a:solidFill>
            <a:srgbClr val="F1F5F9"/>
          </a:solidFill>
          <a:ln w="9144">
            <a:solidFill>
              <a:srgbClr val="E2E8F0"/>
            </a:solidFill>
            <a:prstDash val="solid"/>
          </a:ln>
        </p:spPr>
      </p:sp>
      <p:sp>
        <p:nvSpPr>
          <p:cNvPr id="20" name="Text 17"/>
          <p:cNvSpPr/>
          <p:nvPr/>
        </p:nvSpPr>
        <p:spPr>
          <a:xfrm>
            <a:off x="976313" y="4582345"/>
            <a:ext cx="641201" cy="148117"/>
          </a:xfrm>
          <a:prstGeom prst="rect">
            <a:avLst/>
          </a:prstGeom>
          <a:noFill/>
          <a:ln/>
        </p:spPr>
        <p:txBody>
          <a:bodyPr wrap="none" lIns="0" tIns="0" rIns="0" bIns="0" rtlCol="0" anchor="t">
            <a:spAutoFit/>
          </a:bodyPr>
          <a:lstStyle/>
          <a:p>
            <a:pPr>
              <a:lnSpc>
                <a:spcPts val="1200"/>
              </a:lnSpc>
            </a:pPr>
            <a:r>
              <a:rPr lang="en-US" sz="899" dirty="0">
                <a:solidFill>
                  <a:srgbClr val="0D9488"/>
                </a:solidFill>
                <a:latin typeface="Open Sans" pitchFamily="34" charset="0"/>
                <a:ea typeface="Open Sans" pitchFamily="34" charset="-122"/>
                <a:cs typeface="Open Sans" pitchFamily="34" charset="-120"/>
              </a:rPr>
              <a:t>Succinimide</a:t>
            </a:r>
            <a:endParaRPr lang="en-US" sz="899" dirty="0"/>
          </a:p>
        </p:txBody>
      </p:sp>
      <p:sp>
        <p:nvSpPr>
          <p:cNvPr id="21" name="Shape 18"/>
          <p:cNvSpPr/>
          <p:nvPr/>
        </p:nvSpPr>
        <p:spPr>
          <a:xfrm>
            <a:off x="1950877" y="4484712"/>
            <a:ext cx="2373772" cy="369093"/>
          </a:xfrm>
          <a:prstGeom prst="rect">
            <a:avLst/>
          </a:prstGeom>
          <a:solidFill>
            <a:srgbClr val="F1F5F9"/>
          </a:solidFill>
          <a:ln w="9144">
            <a:solidFill>
              <a:srgbClr val="E2E8F0"/>
            </a:solidFill>
            <a:prstDash val="solid"/>
          </a:ln>
        </p:spPr>
      </p:sp>
      <p:sp>
        <p:nvSpPr>
          <p:cNvPr id="22" name="Text 19"/>
          <p:cNvSpPr/>
          <p:nvPr/>
        </p:nvSpPr>
        <p:spPr>
          <a:xfrm>
            <a:off x="1950877" y="4480639"/>
            <a:ext cx="2373772" cy="377239"/>
          </a:xfrm>
          <a:prstGeom prst="rect">
            <a:avLst/>
          </a:prstGeom>
          <a:noFill/>
          <a:ln/>
        </p:spPr>
        <p:txBody>
          <a:bodyPr wrap="square" lIns="136144" tIns="113453" rIns="136144" bIns="113453" rtlCol="0" anchor="ctr">
            <a:spAutoFit/>
          </a:bodyPr>
          <a:lstStyle/>
          <a:p>
            <a:pPr>
              <a:lnSpc>
                <a:spcPts val="1200"/>
              </a:lnSpc>
            </a:pPr>
            <a:r>
              <a:rPr lang="en-US" sz="899" dirty="0">
                <a:solidFill>
                  <a:srgbClr val="334155"/>
                </a:solidFill>
                <a:latin typeface="Open Sans" pitchFamily="34" charset="0"/>
                <a:ea typeface="Open Sans" pitchFamily="34" charset="-122"/>
                <a:cs typeface="Open Sans" pitchFamily="34" charset="-120"/>
              </a:rPr>
              <a:t>Cyclization of Asp/Asn residues.</a:t>
            </a:r>
            <a:endParaRPr lang="en-US" sz="899" dirty="0"/>
          </a:p>
        </p:txBody>
      </p:sp>
      <p:sp>
        <p:nvSpPr>
          <p:cNvPr id="23" name="Shape 20"/>
          <p:cNvSpPr/>
          <p:nvPr/>
        </p:nvSpPr>
        <p:spPr>
          <a:xfrm>
            <a:off x="4324648" y="4484712"/>
            <a:ext cx="1480840" cy="369093"/>
          </a:xfrm>
          <a:prstGeom prst="rect">
            <a:avLst/>
          </a:prstGeom>
          <a:solidFill>
            <a:srgbClr val="F1F5F9"/>
          </a:solidFill>
          <a:ln w="9144">
            <a:solidFill>
              <a:srgbClr val="E2E8F0"/>
            </a:solidFill>
            <a:prstDash val="solid"/>
          </a:ln>
        </p:spPr>
      </p:sp>
      <p:sp>
        <p:nvSpPr>
          <p:cNvPr id="24" name="Text 21"/>
          <p:cNvSpPr/>
          <p:nvPr/>
        </p:nvSpPr>
        <p:spPr>
          <a:xfrm>
            <a:off x="4324648" y="4480639"/>
            <a:ext cx="1480840" cy="377239"/>
          </a:xfrm>
          <a:prstGeom prst="rect">
            <a:avLst/>
          </a:prstGeom>
          <a:noFill/>
          <a:ln/>
        </p:spPr>
        <p:txBody>
          <a:bodyPr wrap="square" lIns="136144" tIns="113453" rIns="136144" bIns="113453" rtlCol="0" anchor="ctr">
            <a:spAutoFit/>
          </a:bodyPr>
          <a:lstStyle/>
          <a:p>
            <a:pPr>
              <a:lnSpc>
                <a:spcPts val="1200"/>
              </a:lnSpc>
            </a:pPr>
            <a:r>
              <a:rPr lang="en-US" sz="899" dirty="0">
                <a:solidFill>
                  <a:srgbClr val="334155"/>
                </a:solidFill>
                <a:latin typeface="Open Sans" pitchFamily="34" charset="0"/>
                <a:ea typeface="Open Sans" pitchFamily="34" charset="-122"/>
                <a:cs typeface="Open Sans" pitchFamily="34" charset="-120"/>
              </a:rPr>
              <a:t>Altered Distribution</a:t>
            </a:r>
            <a:endParaRPr lang="en-US" sz="899" dirty="0"/>
          </a:p>
        </p:txBody>
      </p:sp>
      <p:sp>
        <p:nvSpPr>
          <p:cNvPr id="25" name="Shape 22"/>
          <p:cNvSpPr/>
          <p:nvPr/>
        </p:nvSpPr>
        <p:spPr>
          <a:xfrm>
            <a:off x="862012" y="4844282"/>
            <a:ext cx="1088864" cy="369093"/>
          </a:xfrm>
          <a:prstGeom prst="rect">
            <a:avLst/>
          </a:prstGeom>
          <a:solidFill>
            <a:srgbClr val="FFFFFF"/>
          </a:solidFill>
          <a:ln w="9144">
            <a:solidFill>
              <a:srgbClr val="E2E8F0"/>
            </a:solidFill>
            <a:prstDash val="solid"/>
          </a:ln>
        </p:spPr>
      </p:sp>
      <p:sp>
        <p:nvSpPr>
          <p:cNvPr id="26" name="Text 23"/>
          <p:cNvSpPr/>
          <p:nvPr/>
        </p:nvSpPr>
        <p:spPr>
          <a:xfrm>
            <a:off x="976313" y="4941913"/>
            <a:ext cx="496931" cy="148117"/>
          </a:xfrm>
          <a:prstGeom prst="rect">
            <a:avLst/>
          </a:prstGeom>
          <a:noFill/>
          <a:ln/>
        </p:spPr>
        <p:txBody>
          <a:bodyPr wrap="none" lIns="0" tIns="0" rIns="0" bIns="0" rtlCol="0" anchor="t">
            <a:spAutoFit/>
          </a:bodyPr>
          <a:lstStyle/>
          <a:p>
            <a:pPr>
              <a:lnSpc>
                <a:spcPts val="1200"/>
              </a:lnSpc>
            </a:pPr>
            <a:r>
              <a:rPr lang="en-US" sz="899" dirty="0">
                <a:solidFill>
                  <a:srgbClr val="0D9488"/>
                </a:solidFill>
                <a:latin typeface="Open Sans" pitchFamily="34" charset="0"/>
                <a:ea typeface="Open Sans" pitchFamily="34" charset="-122"/>
                <a:cs typeface="Open Sans" pitchFamily="34" charset="-120"/>
              </a:rPr>
              <a:t>Glycation</a:t>
            </a:r>
            <a:endParaRPr lang="en-US" sz="899" dirty="0"/>
          </a:p>
        </p:txBody>
      </p:sp>
      <p:sp>
        <p:nvSpPr>
          <p:cNvPr id="27" name="Shape 24"/>
          <p:cNvSpPr/>
          <p:nvPr/>
        </p:nvSpPr>
        <p:spPr>
          <a:xfrm>
            <a:off x="1950877" y="4844282"/>
            <a:ext cx="2374404" cy="369093"/>
          </a:xfrm>
          <a:prstGeom prst="rect">
            <a:avLst/>
          </a:prstGeom>
          <a:solidFill>
            <a:srgbClr val="FFFFFF"/>
          </a:solidFill>
          <a:ln w="9144">
            <a:solidFill>
              <a:srgbClr val="E2E8F0"/>
            </a:solidFill>
            <a:prstDash val="solid"/>
          </a:ln>
        </p:spPr>
      </p:sp>
      <p:sp>
        <p:nvSpPr>
          <p:cNvPr id="28" name="Text 25"/>
          <p:cNvSpPr/>
          <p:nvPr/>
        </p:nvSpPr>
        <p:spPr>
          <a:xfrm>
            <a:off x="1950877" y="4840209"/>
            <a:ext cx="2374404" cy="377239"/>
          </a:xfrm>
          <a:prstGeom prst="rect">
            <a:avLst/>
          </a:prstGeom>
          <a:noFill/>
          <a:ln/>
        </p:spPr>
        <p:txBody>
          <a:bodyPr wrap="square" lIns="136144" tIns="113453" rIns="136144" bIns="113453" rtlCol="0" anchor="ctr">
            <a:spAutoFit/>
          </a:bodyPr>
          <a:lstStyle/>
          <a:p>
            <a:pPr>
              <a:lnSpc>
                <a:spcPts val="1200"/>
              </a:lnSpc>
            </a:pPr>
            <a:r>
              <a:rPr lang="en-US" sz="899" dirty="0">
                <a:solidFill>
                  <a:srgbClr val="334155"/>
                </a:solidFill>
                <a:latin typeface="Open Sans" pitchFamily="34" charset="0"/>
                <a:ea typeface="Open Sans" pitchFamily="34" charset="-122"/>
                <a:cs typeface="Open Sans" pitchFamily="34" charset="-120"/>
              </a:rPr>
              <a:t>Reaction with reducing sugars.</a:t>
            </a:r>
            <a:endParaRPr lang="en-US" sz="899" dirty="0"/>
          </a:p>
        </p:txBody>
      </p:sp>
      <p:sp>
        <p:nvSpPr>
          <p:cNvPr id="29" name="Shape 26"/>
          <p:cNvSpPr/>
          <p:nvPr/>
        </p:nvSpPr>
        <p:spPr>
          <a:xfrm>
            <a:off x="4325281" y="4844282"/>
            <a:ext cx="1480207" cy="369093"/>
          </a:xfrm>
          <a:prstGeom prst="rect">
            <a:avLst/>
          </a:prstGeom>
          <a:solidFill>
            <a:srgbClr val="FFFFFF"/>
          </a:solidFill>
          <a:ln w="9144">
            <a:solidFill>
              <a:srgbClr val="E2E8F0"/>
            </a:solidFill>
            <a:prstDash val="solid"/>
          </a:ln>
        </p:spPr>
      </p:sp>
      <p:sp>
        <p:nvSpPr>
          <p:cNvPr id="30" name="Text 27"/>
          <p:cNvSpPr/>
          <p:nvPr/>
        </p:nvSpPr>
        <p:spPr>
          <a:xfrm>
            <a:off x="4325281" y="4840209"/>
            <a:ext cx="1480207" cy="377239"/>
          </a:xfrm>
          <a:prstGeom prst="rect">
            <a:avLst/>
          </a:prstGeom>
          <a:noFill/>
          <a:ln/>
        </p:spPr>
        <p:txBody>
          <a:bodyPr wrap="square" lIns="136144" tIns="113453" rIns="136144" bIns="113453" rtlCol="0" anchor="ctr">
            <a:spAutoFit/>
          </a:bodyPr>
          <a:lstStyle/>
          <a:p>
            <a:pPr>
              <a:lnSpc>
                <a:spcPts val="1200"/>
              </a:lnSpc>
            </a:pPr>
            <a:r>
              <a:rPr lang="en-US" sz="899" dirty="0">
                <a:solidFill>
                  <a:srgbClr val="334155"/>
                </a:solidFill>
                <a:latin typeface="Open Sans" pitchFamily="34" charset="0"/>
                <a:ea typeface="Open Sans" pitchFamily="34" charset="-122"/>
                <a:cs typeface="Open Sans" pitchFamily="34" charset="-120"/>
              </a:rPr>
              <a:t>Potential Masking</a:t>
            </a:r>
            <a:endParaRPr lang="en-US" sz="899" dirty="0"/>
          </a:p>
        </p:txBody>
      </p:sp>
      <p:sp>
        <p:nvSpPr>
          <p:cNvPr id="31" name="Shape 28"/>
          <p:cNvSpPr/>
          <p:nvPr/>
        </p:nvSpPr>
        <p:spPr>
          <a:xfrm>
            <a:off x="862012" y="5203850"/>
            <a:ext cx="1088864" cy="369093"/>
          </a:xfrm>
          <a:prstGeom prst="rect">
            <a:avLst/>
          </a:prstGeom>
          <a:solidFill>
            <a:srgbClr val="F1F5F9"/>
          </a:solidFill>
          <a:ln w="9144">
            <a:solidFill>
              <a:srgbClr val="E2E8F0"/>
            </a:solidFill>
            <a:prstDash val="solid"/>
          </a:ln>
        </p:spPr>
      </p:sp>
      <p:sp>
        <p:nvSpPr>
          <p:cNvPr id="32" name="Text 29"/>
          <p:cNvSpPr/>
          <p:nvPr/>
        </p:nvSpPr>
        <p:spPr>
          <a:xfrm>
            <a:off x="971552" y="5303864"/>
            <a:ext cx="644407" cy="148117"/>
          </a:xfrm>
          <a:prstGeom prst="rect">
            <a:avLst/>
          </a:prstGeom>
          <a:noFill/>
          <a:ln/>
        </p:spPr>
        <p:txBody>
          <a:bodyPr wrap="none" lIns="0" tIns="0" rIns="0" bIns="0" rtlCol="0" anchor="t">
            <a:spAutoFit/>
          </a:bodyPr>
          <a:lstStyle/>
          <a:p>
            <a:pPr>
              <a:lnSpc>
                <a:spcPts val="1200"/>
              </a:lnSpc>
            </a:pPr>
            <a:r>
              <a:rPr lang="en-US" sz="899" dirty="0">
                <a:solidFill>
                  <a:srgbClr val="0D9488"/>
                </a:solidFill>
                <a:latin typeface="Open Sans" pitchFamily="34" charset="0"/>
                <a:ea typeface="Open Sans" pitchFamily="34" charset="-122"/>
                <a:cs typeface="Open Sans" pitchFamily="34" charset="-120"/>
              </a:rPr>
              <a:t>Aggregation</a:t>
            </a:r>
            <a:endParaRPr lang="en-US" sz="899" dirty="0"/>
          </a:p>
        </p:txBody>
      </p:sp>
      <p:sp>
        <p:nvSpPr>
          <p:cNvPr id="33" name="Shape 30"/>
          <p:cNvSpPr/>
          <p:nvPr/>
        </p:nvSpPr>
        <p:spPr>
          <a:xfrm>
            <a:off x="1946188" y="5203850"/>
            <a:ext cx="2377083" cy="369093"/>
          </a:xfrm>
          <a:prstGeom prst="rect">
            <a:avLst/>
          </a:prstGeom>
          <a:solidFill>
            <a:srgbClr val="F1F5F9"/>
          </a:solidFill>
          <a:ln w="9144">
            <a:solidFill>
              <a:srgbClr val="E2E8F0"/>
            </a:solidFill>
            <a:prstDash val="solid"/>
          </a:ln>
        </p:spPr>
      </p:sp>
      <p:sp>
        <p:nvSpPr>
          <p:cNvPr id="34" name="Text 31"/>
          <p:cNvSpPr/>
          <p:nvPr/>
        </p:nvSpPr>
        <p:spPr>
          <a:xfrm>
            <a:off x="1946188" y="5199777"/>
            <a:ext cx="2377083" cy="377239"/>
          </a:xfrm>
          <a:prstGeom prst="rect">
            <a:avLst/>
          </a:prstGeom>
          <a:noFill/>
          <a:ln/>
        </p:spPr>
        <p:txBody>
          <a:bodyPr wrap="square" lIns="136144" tIns="113453" rIns="136144" bIns="113453" rtlCol="0" anchor="ctr">
            <a:spAutoFit/>
          </a:bodyPr>
          <a:lstStyle/>
          <a:p>
            <a:pPr>
              <a:lnSpc>
                <a:spcPts val="1200"/>
              </a:lnSpc>
            </a:pPr>
            <a:r>
              <a:rPr lang="en-US" sz="899" dirty="0">
                <a:solidFill>
                  <a:srgbClr val="334155"/>
                </a:solidFill>
                <a:latin typeface="Open Sans" pitchFamily="34" charset="0"/>
                <a:ea typeface="Open Sans" pitchFamily="34" charset="-122"/>
                <a:cs typeface="Open Sans" pitchFamily="34" charset="-120"/>
              </a:rPr>
              <a:t>Protein association/complexing.</a:t>
            </a:r>
            <a:endParaRPr lang="en-US" sz="899" dirty="0"/>
          </a:p>
        </p:txBody>
      </p:sp>
      <p:sp>
        <p:nvSpPr>
          <p:cNvPr id="35" name="Shape 32"/>
          <p:cNvSpPr/>
          <p:nvPr/>
        </p:nvSpPr>
        <p:spPr>
          <a:xfrm>
            <a:off x="4323048" y="5203850"/>
            <a:ext cx="1482440" cy="369093"/>
          </a:xfrm>
          <a:prstGeom prst="rect">
            <a:avLst/>
          </a:prstGeom>
          <a:solidFill>
            <a:srgbClr val="F1F5F9"/>
          </a:solidFill>
          <a:ln w="9144">
            <a:solidFill>
              <a:srgbClr val="E2E8F0"/>
            </a:solidFill>
            <a:prstDash val="solid"/>
          </a:ln>
        </p:spPr>
      </p:sp>
      <p:sp>
        <p:nvSpPr>
          <p:cNvPr id="36" name="Text 33"/>
          <p:cNvSpPr/>
          <p:nvPr/>
        </p:nvSpPr>
        <p:spPr>
          <a:xfrm>
            <a:off x="4323048" y="5199777"/>
            <a:ext cx="1482440" cy="377239"/>
          </a:xfrm>
          <a:prstGeom prst="rect">
            <a:avLst/>
          </a:prstGeom>
          <a:noFill/>
          <a:ln/>
        </p:spPr>
        <p:txBody>
          <a:bodyPr wrap="square" lIns="136144" tIns="113453" rIns="136144" bIns="113453" rtlCol="0" anchor="ctr">
            <a:spAutoFit/>
          </a:bodyPr>
          <a:lstStyle/>
          <a:p>
            <a:pPr>
              <a:lnSpc>
                <a:spcPts val="1200"/>
              </a:lnSpc>
            </a:pPr>
            <a:r>
              <a:rPr lang="en-US" sz="899" dirty="0">
                <a:solidFill>
                  <a:srgbClr val="334155"/>
                </a:solidFill>
                <a:latin typeface="Open Sans" pitchFamily="34" charset="0"/>
                <a:ea typeface="Open Sans" pitchFamily="34" charset="-122"/>
                <a:cs typeface="Open Sans" pitchFamily="34" charset="-120"/>
              </a:rPr>
              <a:t>Complex Profiles</a:t>
            </a:r>
            <a:endParaRPr lang="en-US" sz="899" dirty="0"/>
          </a:p>
        </p:txBody>
      </p:sp>
      <p:sp>
        <p:nvSpPr>
          <p:cNvPr id="37" name="Shape 34"/>
          <p:cNvSpPr/>
          <p:nvPr/>
        </p:nvSpPr>
        <p:spPr>
          <a:xfrm>
            <a:off x="6191251" y="1869281"/>
            <a:ext cx="5143500" cy="3810000"/>
          </a:xfrm>
          <a:prstGeom prst="rect">
            <a:avLst/>
          </a:prstGeom>
          <a:solidFill>
            <a:srgbClr val="FFFFFF"/>
          </a:solidFill>
          <a:ln w="9144">
            <a:solidFill>
              <a:srgbClr val="E2E8F0"/>
            </a:solidFill>
            <a:prstDash val="solid"/>
          </a:ln>
        </p:spPr>
      </p:sp>
      <p:pic>
        <p:nvPicPr>
          <p:cNvPr id="38" name="Image 1" descr="preencoded.png"/>
          <p:cNvPicPr>
            <a:picLocks noChangeAspect="1"/>
          </p:cNvPicPr>
          <p:nvPr/>
        </p:nvPicPr>
        <p:blipFill>
          <a:blip r:embed="rId4"/>
          <a:stretch>
            <a:fillRect/>
          </a:stretch>
        </p:blipFill>
        <p:spPr>
          <a:xfrm>
            <a:off x="6381751" y="2059781"/>
            <a:ext cx="4762500" cy="3429000"/>
          </a:xfrm>
          <a:prstGeom prst="rect">
            <a:avLst/>
          </a:prstGeom>
        </p:spPr>
      </p:pic>
      <p:sp>
        <p:nvSpPr>
          <p:cNvPr id="39" name="Text 35"/>
          <p:cNvSpPr/>
          <p:nvPr/>
        </p:nvSpPr>
        <p:spPr>
          <a:xfrm>
            <a:off x="6586538" y="5793582"/>
            <a:ext cx="3837589" cy="150682"/>
          </a:xfrm>
          <a:prstGeom prst="rect">
            <a:avLst/>
          </a:prstGeom>
          <a:noFill/>
          <a:ln/>
        </p:spPr>
        <p:txBody>
          <a:bodyPr wrap="none" lIns="0" tIns="0" rIns="0" bIns="0" rtlCol="0" anchor="t">
            <a:spAutoFit/>
          </a:bodyPr>
          <a:lstStyle/>
          <a:p>
            <a:pPr>
              <a:lnSpc>
                <a:spcPts val="1200"/>
              </a:lnSpc>
            </a:pPr>
            <a:r>
              <a:rPr lang="en-US" sz="969" i="1" dirty="0">
                <a:solidFill>
                  <a:srgbClr val="64748B"/>
                </a:solidFill>
                <a:latin typeface="Open Sans" pitchFamily="34" charset="0"/>
                <a:ea typeface="Open Sans" pitchFamily="34" charset="-122"/>
                <a:cs typeface="Open Sans" pitchFamily="34" charset="-120"/>
              </a:rPr>
              <a:t>Figure: Enzymatic removal of C-terminal Lysine by Carboxypeptidase B</a:t>
            </a:r>
            <a:endParaRPr lang="en-US" sz="969" dirty="0"/>
          </a:p>
        </p:txBody>
      </p:sp>
      <p:sp>
        <p:nvSpPr>
          <p:cNvPr id="41" name="标题 40">
            <a:extLst>
              <a:ext uri="{FF2B5EF4-FFF2-40B4-BE49-F238E27FC236}">
                <a16:creationId xmlns:a16="http://schemas.microsoft.com/office/drawing/2014/main" id="{D2C6F23F-7489-80A3-276E-E512B564BCC8}"/>
              </a:ext>
            </a:extLst>
          </p:cNvPr>
          <p:cNvSpPr>
            <a:spLocks noGrp="1"/>
          </p:cNvSpPr>
          <p:nvPr>
            <p:ph type="title"/>
          </p:nvPr>
        </p:nvSpPr>
        <p:spPr/>
        <p:txBody>
          <a:bodyPr/>
          <a:lstStyle/>
          <a:p>
            <a:endParaRPr lang="zh-CN" altLang="en-US"/>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1819990" y="571501"/>
            <a:ext cx="8552020" cy="355931"/>
          </a:xfrm>
          <a:prstGeom prst="rect">
            <a:avLst/>
          </a:prstGeom>
          <a:noFill/>
          <a:ln/>
        </p:spPr>
        <p:txBody>
          <a:bodyPr wrap="none" lIns="0" tIns="0" rIns="0" bIns="0" rtlCol="0" anchor="t">
            <a:spAutoFit/>
          </a:bodyPr>
          <a:lstStyle/>
          <a:p>
            <a:pPr algn="ctr">
              <a:lnSpc>
                <a:spcPts val="2933"/>
              </a:lnSpc>
            </a:pPr>
            <a:r>
              <a:rPr lang="en-US" sz="2136" b="1" dirty="0">
                <a:solidFill>
                  <a:srgbClr val="0F172A"/>
                </a:solidFill>
                <a:latin typeface="Montserrat" pitchFamily="34" charset="0"/>
                <a:ea typeface="Montserrat" pitchFamily="34" charset="-122"/>
                <a:cs typeface="Montserrat" pitchFamily="34" charset="-120"/>
              </a:rPr>
              <a:t>icIEF is the Gold Standard for Charge Variant Quantification</a:t>
            </a:r>
            <a:endParaRPr lang="en-US" sz="2136" dirty="0"/>
          </a:p>
        </p:txBody>
      </p:sp>
      <p:sp>
        <p:nvSpPr>
          <p:cNvPr id="4" name="Text 1"/>
          <p:cNvSpPr/>
          <p:nvPr/>
        </p:nvSpPr>
        <p:spPr>
          <a:xfrm>
            <a:off x="2940490" y="1133475"/>
            <a:ext cx="6311022" cy="233654"/>
          </a:xfrm>
          <a:prstGeom prst="rect">
            <a:avLst/>
          </a:prstGeom>
          <a:noFill/>
          <a:ln/>
        </p:spPr>
        <p:txBody>
          <a:bodyPr wrap="none" lIns="0" tIns="0" rIns="0" bIns="0" rtlCol="0" anchor="t">
            <a:spAutoFit/>
          </a:bodyPr>
          <a:lstStyle/>
          <a:p>
            <a:pPr algn="ctr">
              <a:lnSpc>
                <a:spcPts val="1867"/>
              </a:lnSpc>
            </a:pPr>
            <a:r>
              <a:rPr lang="en-US" sz="1400" dirty="0">
                <a:solidFill>
                  <a:srgbClr val="0D9488"/>
                </a:solidFill>
                <a:latin typeface="Open Sans" pitchFamily="34" charset="0"/>
                <a:ea typeface="Open Sans" pitchFamily="34" charset="-122"/>
                <a:cs typeface="Open Sans" pitchFamily="34" charset="-120"/>
              </a:rPr>
              <a:t>High-resolution electrophoretic methods provide precise pI-based profiling.</a:t>
            </a:r>
            <a:endParaRPr lang="en-US" sz="1400" dirty="0"/>
          </a:p>
        </p:txBody>
      </p:sp>
      <p:sp>
        <p:nvSpPr>
          <p:cNvPr id="5" name="Text 2"/>
          <p:cNvSpPr/>
          <p:nvPr/>
        </p:nvSpPr>
        <p:spPr>
          <a:xfrm>
            <a:off x="857251" y="1774031"/>
            <a:ext cx="4953000" cy="1197828"/>
          </a:xfrm>
          <a:prstGeom prst="rect">
            <a:avLst/>
          </a:prstGeom>
          <a:noFill/>
          <a:ln/>
        </p:spPr>
        <p:txBody>
          <a:bodyPr wrap="square" lIns="0" tIns="0" rIns="0" bIns="0" rtlCol="0" anchor="t">
            <a:spAutoFit/>
          </a:bodyPr>
          <a:lstStyle/>
          <a:p>
            <a:pPr algn="just">
              <a:lnSpc>
                <a:spcPts val="1867"/>
              </a:lnSpc>
            </a:pPr>
            <a:r>
              <a:rPr lang="en-US" sz="1045" b="1" dirty="0">
                <a:solidFill>
                  <a:srgbClr val="334155"/>
                </a:solidFill>
                <a:latin typeface="Open Sans" pitchFamily="34" charset="0"/>
                <a:ea typeface="Open Sans" pitchFamily="34" charset="-122"/>
                <a:cs typeface="Open Sans" pitchFamily="34" charset="-120"/>
              </a:rPr>
              <a:t>Imaged Capillary Isoelectric Focusing (icIEF)</a:t>
            </a:r>
            <a:r>
              <a:rPr lang="en-US" sz="1112" dirty="0">
                <a:solidFill>
                  <a:srgbClr val="334155"/>
                </a:solidFill>
                <a:latin typeface="Open Sans" pitchFamily="34" charset="0"/>
                <a:ea typeface="Open Sans" pitchFamily="34" charset="-122"/>
                <a:cs typeface="Open Sans" pitchFamily="34" charset="-120"/>
              </a:rPr>
              <a:t> has emerged as the industry standard for the rapid and precise quantification of charge variants. By utilizing </a:t>
            </a:r>
            <a:r>
              <a:rPr lang="en-US" sz="1045" b="1" dirty="0">
                <a:solidFill>
                  <a:srgbClr val="334155"/>
                </a:solidFill>
                <a:latin typeface="Open Sans" pitchFamily="34" charset="0"/>
                <a:ea typeface="Open Sans" pitchFamily="34" charset="-122"/>
                <a:cs typeface="Open Sans" pitchFamily="34" charset="-120"/>
              </a:rPr>
              <a:t>whole-column imaging</a:t>
            </a:r>
            <a:r>
              <a:rPr lang="en-US" sz="1112" dirty="0">
                <a:solidFill>
                  <a:srgbClr val="334155"/>
                </a:solidFill>
                <a:latin typeface="Open Sans" pitchFamily="34" charset="0"/>
                <a:ea typeface="Open Sans" pitchFamily="34" charset="-122"/>
                <a:cs typeface="Open Sans" pitchFamily="34" charset="-120"/>
              </a:rPr>
              <a:t>, icIEF eliminates the need for a mobilization step, significantly improving precision and capturing the entire separation profile simultaneously.</a:t>
            </a:r>
            <a:endParaRPr lang="en-US" sz="1112" dirty="0"/>
          </a:p>
        </p:txBody>
      </p:sp>
      <p:sp>
        <p:nvSpPr>
          <p:cNvPr id="6" name="Shape 3"/>
          <p:cNvSpPr/>
          <p:nvPr/>
        </p:nvSpPr>
        <p:spPr>
          <a:xfrm>
            <a:off x="857251" y="3221720"/>
            <a:ext cx="4953000" cy="2300288"/>
          </a:xfrm>
          <a:prstGeom prst="rect">
            <a:avLst/>
          </a:prstGeom>
          <a:solidFill>
            <a:srgbClr val="000000">
              <a:alpha val="0"/>
            </a:srgbClr>
          </a:solidFill>
          <a:ln w="9144">
            <a:solidFill>
              <a:srgbClr val="E2E8F0"/>
            </a:solidFill>
            <a:prstDash val="solid"/>
          </a:ln>
        </p:spPr>
      </p:sp>
      <p:sp>
        <p:nvSpPr>
          <p:cNvPr id="7" name="Shape 4"/>
          <p:cNvSpPr/>
          <p:nvPr/>
        </p:nvSpPr>
        <p:spPr>
          <a:xfrm>
            <a:off x="862013" y="3226483"/>
            <a:ext cx="1369665" cy="461963"/>
          </a:xfrm>
          <a:prstGeom prst="rect">
            <a:avLst/>
          </a:prstGeom>
          <a:solidFill>
            <a:srgbClr val="0F172A"/>
          </a:solidFill>
          <a:ln w="9144">
            <a:solidFill>
              <a:srgbClr val="E2E8F0"/>
            </a:solidFill>
            <a:prstDash val="solid"/>
          </a:ln>
        </p:spPr>
      </p:sp>
      <p:sp>
        <p:nvSpPr>
          <p:cNvPr id="8" name="Text 5"/>
          <p:cNvSpPr/>
          <p:nvPr/>
        </p:nvSpPr>
        <p:spPr>
          <a:xfrm>
            <a:off x="862013" y="3206123"/>
            <a:ext cx="1369665" cy="502682"/>
          </a:xfrm>
          <a:prstGeom prst="rect">
            <a:avLst/>
          </a:prstGeom>
          <a:noFill/>
          <a:ln/>
        </p:spPr>
        <p:txBody>
          <a:bodyPr wrap="square" lIns="158835" tIns="158835" rIns="158835" bIns="158835" rtlCol="0" anchor="ctr">
            <a:spAutoFit/>
          </a:bodyPr>
          <a:lstStyle/>
          <a:p>
            <a:pPr>
              <a:lnSpc>
                <a:spcPts val="1467"/>
              </a:lnSpc>
            </a:pPr>
            <a:r>
              <a:rPr lang="en-US" sz="1045" b="1" dirty="0">
                <a:solidFill>
                  <a:srgbClr val="F8FAFC"/>
                </a:solidFill>
                <a:latin typeface="Montserrat" pitchFamily="34" charset="0"/>
                <a:ea typeface="Montserrat" pitchFamily="34" charset="-122"/>
                <a:cs typeface="Montserrat" pitchFamily="34" charset="-120"/>
              </a:rPr>
              <a:t>Parameter</a:t>
            </a:r>
            <a:endParaRPr lang="en-US" sz="1045" dirty="0"/>
          </a:p>
        </p:txBody>
      </p:sp>
      <p:sp>
        <p:nvSpPr>
          <p:cNvPr id="9" name="Shape 6"/>
          <p:cNvSpPr/>
          <p:nvPr/>
        </p:nvSpPr>
        <p:spPr>
          <a:xfrm>
            <a:off x="2227362" y="3226483"/>
            <a:ext cx="3578125" cy="461963"/>
          </a:xfrm>
          <a:prstGeom prst="rect">
            <a:avLst/>
          </a:prstGeom>
          <a:solidFill>
            <a:srgbClr val="0F172A"/>
          </a:solidFill>
          <a:ln w="9144">
            <a:solidFill>
              <a:srgbClr val="E2E8F0"/>
            </a:solidFill>
            <a:prstDash val="solid"/>
          </a:ln>
        </p:spPr>
      </p:sp>
      <p:sp>
        <p:nvSpPr>
          <p:cNvPr id="10" name="Text 7"/>
          <p:cNvSpPr/>
          <p:nvPr/>
        </p:nvSpPr>
        <p:spPr>
          <a:xfrm>
            <a:off x="2227362" y="3206123"/>
            <a:ext cx="3578125" cy="502682"/>
          </a:xfrm>
          <a:prstGeom prst="rect">
            <a:avLst/>
          </a:prstGeom>
          <a:noFill/>
          <a:ln/>
        </p:spPr>
        <p:txBody>
          <a:bodyPr wrap="square" lIns="158835" tIns="158835" rIns="158835" bIns="158835" rtlCol="0" anchor="ctr">
            <a:spAutoFit/>
          </a:bodyPr>
          <a:lstStyle/>
          <a:p>
            <a:pPr>
              <a:lnSpc>
                <a:spcPts val="1467"/>
              </a:lnSpc>
            </a:pPr>
            <a:r>
              <a:rPr lang="en-US" sz="1045" b="1" dirty="0">
                <a:solidFill>
                  <a:srgbClr val="F8FAFC"/>
                </a:solidFill>
                <a:latin typeface="Montserrat" pitchFamily="34" charset="0"/>
                <a:ea typeface="Montserrat" pitchFamily="34" charset="-122"/>
                <a:cs typeface="Montserrat" pitchFamily="34" charset="-120"/>
              </a:rPr>
              <a:t>icIEF Performance Standard</a:t>
            </a:r>
            <a:endParaRPr lang="en-US" sz="1045" dirty="0"/>
          </a:p>
        </p:txBody>
      </p:sp>
      <p:sp>
        <p:nvSpPr>
          <p:cNvPr id="11" name="Shape 8"/>
          <p:cNvSpPr/>
          <p:nvPr/>
        </p:nvSpPr>
        <p:spPr>
          <a:xfrm>
            <a:off x="862013" y="3678920"/>
            <a:ext cx="1360996" cy="457200"/>
          </a:xfrm>
          <a:prstGeom prst="rect">
            <a:avLst/>
          </a:prstGeom>
          <a:solidFill>
            <a:srgbClr val="FFFFFF"/>
          </a:solidFill>
          <a:ln w="9144">
            <a:solidFill>
              <a:srgbClr val="E2E8F0"/>
            </a:solidFill>
            <a:prstDash val="solid"/>
          </a:ln>
        </p:spPr>
      </p:sp>
      <p:sp>
        <p:nvSpPr>
          <p:cNvPr id="12" name="Text 9"/>
          <p:cNvSpPr/>
          <p:nvPr/>
        </p:nvSpPr>
        <p:spPr>
          <a:xfrm>
            <a:off x="995363" y="3814652"/>
            <a:ext cx="532197" cy="148567"/>
          </a:xfrm>
          <a:prstGeom prst="rect">
            <a:avLst/>
          </a:prstGeom>
          <a:noFill/>
          <a:ln/>
        </p:spPr>
        <p:txBody>
          <a:bodyPr wrap="none" lIns="0" tIns="0" rIns="0" bIns="0" rtlCol="0" anchor="t">
            <a:spAutoFit/>
          </a:bodyPr>
          <a:lstStyle/>
          <a:p>
            <a:pPr>
              <a:lnSpc>
                <a:spcPts val="1200"/>
              </a:lnSpc>
            </a:pPr>
            <a:r>
              <a:rPr lang="en-US" sz="911" b="1" dirty="0">
                <a:solidFill>
                  <a:srgbClr val="0D9488"/>
                </a:solidFill>
                <a:latin typeface="Open Sans" pitchFamily="34" charset="0"/>
                <a:ea typeface="Open Sans" pitchFamily="34" charset="-122"/>
                <a:cs typeface="Open Sans" pitchFamily="34" charset="-120"/>
              </a:rPr>
              <a:t>Precision</a:t>
            </a:r>
            <a:endParaRPr lang="en-US" sz="911" dirty="0"/>
          </a:p>
        </p:txBody>
      </p:sp>
      <p:sp>
        <p:nvSpPr>
          <p:cNvPr id="13" name="Shape 10"/>
          <p:cNvSpPr/>
          <p:nvPr/>
        </p:nvSpPr>
        <p:spPr>
          <a:xfrm>
            <a:off x="2223009" y="3678920"/>
            <a:ext cx="3582479" cy="457200"/>
          </a:xfrm>
          <a:prstGeom prst="rect">
            <a:avLst/>
          </a:prstGeom>
          <a:solidFill>
            <a:srgbClr val="FFFFFF"/>
          </a:solidFill>
          <a:ln w="9144">
            <a:solidFill>
              <a:srgbClr val="E2E8F0"/>
            </a:solidFill>
            <a:prstDash val="solid"/>
          </a:ln>
        </p:spPr>
      </p:sp>
      <p:sp>
        <p:nvSpPr>
          <p:cNvPr id="14" name="Text 11"/>
          <p:cNvSpPr/>
          <p:nvPr/>
        </p:nvSpPr>
        <p:spPr>
          <a:xfrm>
            <a:off x="2223009" y="3671794"/>
            <a:ext cx="3582479" cy="471455"/>
          </a:xfrm>
          <a:prstGeom prst="rect">
            <a:avLst/>
          </a:prstGeom>
          <a:noFill/>
          <a:ln/>
        </p:spPr>
        <p:txBody>
          <a:bodyPr wrap="square" lIns="158835" tIns="158835" rIns="158835" bIns="158835" rtlCol="0" anchor="ctr">
            <a:spAutoFit/>
          </a:bodyPr>
          <a:lstStyle/>
          <a:p>
            <a:pPr>
              <a:lnSpc>
                <a:spcPts val="1200"/>
              </a:lnSpc>
            </a:pPr>
            <a:r>
              <a:rPr lang="en-US" sz="969" dirty="0">
                <a:solidFill>
                  <a:srgbClr val="334155"/>
                </a:solidFill>
                <a:latin typeface="Open Sans" pitchFamily="34" charset="0"/>
                <a:ea typeface="Open Sans" pitchFamily="34" charset="-122"/>
                <a:cs typeface="Open Sans" pitchFamily="34" charset="-120"/>
              </a:rPr>
              <a:t>Relative Standard Deviation (RSD) ≤ 2.0%</a:t>
            </a:r>
            <a:endParaRPr lang="en-US" sz="969" dirty="0"/>
          </a:p>
        </p:txBody>
      </p:sp>
      <p:sp>
        <p:nvSpPr>
          <p:cNvPr id="15" name="Shape 12"/>
          <p:cNvSpPr/>
          <p:nvPr/>
        </p:nvSpPr>
        <p:spPr>
          <a:xfrm>
            <a:off x="862013" y="4126595"/>
            <a:ext cx="1360996" cy="457200"/>
          </a:xfrm>
          <a:prstGeom prst="rect">
            <a:avLst/>
          </a:prstGeom>
          <a:solidFill>
            <a:srgbClr val="F1F5F9"/>
          </a:solidFill>
          <a:ln w="9144">
            <a:solidFill>
              <a:srgbClr val="E2E8F0"/>
            </a:solidFill>
            <a:prstDash val="solid"/>
          </a:ln>
        </p:spPr>
      </p:sp>
      <p:sp>
        <p:nvSpPr>
          <p:cNvPr id="16" name="Text 13"/>
          <p:cNvSpPr/>
          <p:nvPr/>
        </p:nvSpPr>
        <p:spPr>
          <a:xfrm>
            <a:off x="995364" y="4262326"/>
            <a:ext cx="623569" cy="148567"/>
          </a:xfrm>
          <a:prstGeom prst="rect">
            <a:avLst/>
          </a:prstGeom>
          <a:noFill/>
          <a:ln/>
        </p:spPr>
        <p:txBody>
          <a:bodyPr wrap="none" lIns="0" tIns="0" rIns="0" bIns="0" rtlCol="0" anchor="t">
            <a:spAutoFit/>
          </a:bodyPr>
          <a:lstStyle/>
          <a:p>
            <a:pPr>
              <a:lnSpc>
                <a:spcPts val="1200"/>
              </a:lnSpc>
            </a:pPr>
            <a:r>
              <a:rPr lang="en-US" sz="911" b="1" dirty="0">
                <a:solidFill>
                  <a:srgbClr val="0D9488"/>
                </a:solidFill>
                <a:latin typeface="Open Sans" pitchFamily="34" charset="0"/>
                <a:ea typeface="Open Sans" pitchFamily="34" charset="-122"/>
                <a:cs typeface="Open Sans" pitchFamily="34" charset="-120"/>
              </a:rPr>
              <a:t>Resolution</a:t>
            </a:r>
            <a:endParaRPr lang="en-US" sz="911" dirty="0"/>
          </a:p>
        </p:txBody>
      </p:sp>
      <p:sp>
        <p:nvSpPr>
          <p:cNvPr id="17" name="Shape 14"/>
          <p:cNvSpPr/>
          <p:nvPr/>
        </p:nvSpPr>
        <p:spPr>
          <a:xfrm>
            <a:off x="2223009" y="4126595"/>
            <a:ext cx="3582479" cy="457200"/>
          </a:xfrm>
          <a:prstGeom prst="rect">
            <a:avLst/>
          </a:prstGeom>
          <a:solidFill>
            <a:srgbClr val="F1F5F9"/>
          </a:solidFill>
          <a:ln w="9144">
            <a:solidFill>
              <a:srgbClr val="E2E8F0"/>
            </a:solidFill>
            <a:prstDash val="solid"/>
          </a:ln>
        </p:spPr>
      </p:sp>
      <p:sp>
        <p:nvSpPr>
          <p:cNvPr id="18" name="Text 15"/>
          <p:cNvSpPr/>
          <p:nvPr/>
        </p:nvSpPr>
        <p:spPr>
          <a:xfrm>
            <a:off x="2223009" y="4119469"/>
            <a:ext cx="3582479" cy="471455"/>
          </a:xfrm>
          <a:prstGeom prst="rect">
            <a:avLst/>
          </a:prstGeom>
          <a:noFill/>
          <a:ln/>
        </p:spPr>
        <p:txBody>
          <a:bodyPr wrap="square" lIns="158835" tIns="158835" rIns="158835" bIns="158835" rtlCol="0" anchor="ctr">
            <a:spAutoFit/>
          </a:bodyPr>
          <a:lstStyle/>
          <a:p>
            <a:pPr>
              <a:lnSpc>
                <a:spcPts val="1200"/>
              </a:lnSpc>
            </a:pPr>
            <a:r>
              <a:rPr lang="en-US" sz="969" dirty="0">
                <a:solidFill>
                  <a:srgbClr val="334155"/>
                </a:solidFill>
                <a:latin typeface="Open Sans" pitchFamily="34" charset="0"/>
                <a:ea typeface="Open Sans" pitchFamily="34" charset="-122"/>
                <a:cs typeface="Open Sans" pitchFamily="34" charset="-120"/>
              </a:rPr>
              <a:t>Resolves variants within 0.02-0.04 pH units</a:t>
            </a:r>
            <a:endParaRPr lang="en-US" sz="969" dirty="0"/>
          </a:p>
        </p:txBody>
      </p:sp>
      <p:sp>
        <p:nvSpPr>
          <p:cNvPr id="19" name="Shape 16"/>
          <p:cNvSpPr/>
          <p:nvPr/>
        </p:nvSpPr>
        <p:spPr>
          <a:xfrm>
            <a:off x="862013" y="4574269"/>
            <a:ext cx="1360996" cy="457200"/>
          </a:xfrm>
          <a:prstGeom prst="rect">
            <a:avLst/>
          </a:prstGeom>
          <a:solidFill>
            <a:srgbClr val="FFFFFF"/>
          </a:solidFill>
          <a:ln w="9144">
            <a:solidFill>
              <a:srgbClr val="E2E8F0"/>
            </a:solidFill>
            <a:prstDash val="solid"/>
          </a:ln>
        </p:spPr>
      </p:sp>
      <p:sp>
        <p:nvSpPr>
          <p:cNvPr id="20" name="Text 17"/>
          <p:cNvSpPr/>
          <p:nvPr/>
        </p:nvSpPr>
        <p:spPr>
          <a:xfrm>
            <a:off x="995363" y="4710002"/>
            <a:ext cx="522579" cy="148567"/>
          </a:xfrm>
          <a:prstGeom prst="rect">
            <a:avLst/>
          </a:prstGeom>
          <a:noFill/>
          <a:ln/>
        </p:spPr>
        <p:txBody>
          <a:bodyPr wrap="none" lIns="0" tIns="0" rIns="0" bIns="0" rtlCol="0" anchor="t">
            <a:spAutoFit/>
          </a:bodyPr>
          <a:lstStyle/>
          <a:p>
            <a:pPr>
              <a:lnSpc>
                <a:spcPts val="1200"/>
              </a:lnSpc>
            </a:pPr>
            <a:r>
              <a:rPr lang="en-US" sz="911" b="1" dirty="0">
                <a:solidFill>
                  <a:srgbClr val="0D9488"/>
                </a:solidFill>
                <a:latin typeface="Open Sans" pitchFamily="34" charset="0"/>
                <a:ea typeface="Open Sans" pitchFamily="34" charset="-122"/>
                <a:cs typeface="Open Sans" pitchFamily="34" charset="-120"/>
              </a:rPr>
              <a:t>Linearity</a:t>
            </a:r>
            <a:endParaRPr lang="en-US" sz="911" dirty="0"/>
          </a:p>
        </p:txBody>
      </p:sp>
      <p:sp>
        <p:nvSpPr>
          <p:cNvPr id="21" name="Shape 18"/>
          <p:cNvSpPr/>
          <p:nvPr/>
        </p:nvSpPr>
        <p:spPr>
          <a:xfrm>
            <a:off x="2223009" y="4574269"/>
            <a:ext cx="3582479" cy="457200"/>
          </a:xfrm>
          <a:prstGeom prst="rect">
            <a:avLst/>
          </a:prstGeom>
          <a:solidFill>
            <a:srgbClr val="FFFFFF"/>
          </a:solidFill>
          <a:ln w="9144">
            <a:solidFill>
              <a:srgbClr val="E2E8F0"/>
            </a:solidFill>
            <a:prstDash val="solid"/>
          </a:ln>
        </p:spPr>
      </p:sp>
      <p:sp>
        <p:nvSpPr>
          <p:cNvPr id="22" name="Text 19"/>
          <p:cNvSpPr/>
          <p:nvPr/>
        </p:nvSpPr>
        <p:spPr>
          <a:xfrm>
            <a:off x="2223009" y="4567143"/>
            <a:ext cx="3582479" cy="471455"/>
          </a:xfrm>
          <a:prstGeom prst="rect">
            <a:avLst/>
          </a:prstGeom>
          <a:noFill/>
          <a:ln/>
        </p:spPr>
        <p:txBody>
          <a:bodyPr wrap="square" lIns="158835" tIns="158835" rIns="158835" bIns="158835" rtlCol="0" anchor="ctr">
            <a:spAutoFit/>
          </a:bodyPr>
          <a:lstStyle/>
          <a:p>
            <a:pPr>
              <a:lnSpc>
                <a:spcPts val="1200"/>
              </a:lnSpc>
            </a:pPr>
            <a:r>
              <a:rPr lang="en-US" sz="969" dirty="0">
                <a:solidFill>
                  <a:srgbClr val="334155"/>
                </a:solidFill>
                <a:latin typeface="Open Sans" pitchFamily="34" charset="0"/>
                <a:ea typeface="Open Sans" pitchFamily="34" charset="-122"/>
                <a:cs typeface="Open Sans" pitchFamily="34" charset="-120"/>
              </a:rPr>
              <a:t>R² ≥ 0.99 over the 5-40% variant range</a:t>
            </a:r>
            <a:endParaRPr lang="en-US" sz="969" dirty="0"/>
          </a:p>
        </p:txBody>
      </p:sp>
      <p:sp>
        <p:nvSpPr>
          <p:cNvPr id="23" name="Shape 20"/>
          <p:cNvSpPr/>
          <p:nvPr/>
        </p:nvSpPr>
        <p:spPr>
          <a:xfrm>
            <a:off x="862013" y="5021944"/>
            <a:ext cx="1360996" cy="457200"/>
          </a:xfrm>
          <a:prstGeom prst="rect">
            <a:avLst/>
          </a:prstGeom>
          <a:solidFill>
            <a:srgbClr val="F1F5F9"/>
          </a:solidFill>
          <a:ln w="9144">
            <a:solidFill>
              <a:srgbClr val="E2E8F0"/>
            </a:solidFill>
            <a:prstDash val="solid"/>
          </a:ln>
        </p:spPr>
      </p:sp>
      <p:sp>
        <p:nvSpPr>
          <p:cNvPr id="24" name="Text 21"/>
          <p:cNvSpPr/>
          <p:nvPr/>
        </p:nvSpPr>
        <p:spPr>
          <a:xfrm>
            <a:off x="990601" y="5160058"/>
            <a:ext cx="681277" cy="148567"/>
          </a:xfrm>
          <a:prstGeom prst="rect">
            <a:avLst/>
          </a:prstGeom>
          <a:noFill/>
          <a:ln/>
        </p:spPr>
        <p:txBody>
          <a:bodyPr wrap="none" lIns="0" tIns="0" rIns="0" bIns="0" rtlCol="0" anchor="t">
            <a:spAutoFit/>
          </a:bodyPr>
          <a:lstStyle/>
          <a:p>
            <a:pPr>
              <a:lnSpc>
                <a:spcPts val="1200"/>
              </a:lnSpc>
            </a:pPr>
            <a:r>
              <a:rPr lang="en-US" sz="911" b="1" dirty="0">
                <a:solidFill>
                  <a:srgbClr val="0D9488"/>
                </a:solidFill>
                <a:latin typeface="Open Sans" pitchFamily="34" charset="0"/>
                <a:ea typeface="Open Sans" pitchFamily="34" charset="-122"/>
                <a:cs typeface="Open Sans" pitchFamily="34" charset="-120"/>
              </a:rPr>
              <a:t>Compliance</a:t>
            </a:r>
            <a:endParaRPr lang="en-US" sz="911" dirty="0"/>
          </a:p>
        </p:txBody>
      </p:sp>
      <p:sp>
        <p:nvSpPr>
          <p:cNvPr id="25" name="Shape 22"/>
          <p:cNvSpPr/>
          <p:nvPr/>
        </p:nvSpPr>
        <p:spPr>
          <a:xfrm>
            <a:off x="2219586" y="5021944"/>
            <a:ext cx="3585903" cy="457200"/>
          </a:xfrm>
          <a:prstGeom prst="rect">
            <a:avLst/>
          </a:prstGeom>
          <a:solidFill>
            <a:srgbClr val="F1F5F9"/>
          </a:solidFill>
          <a:ln w="9144">
            <a:solidFill>
              <a:srgbClr val="E2E8F0"/>
            </a:solidFill>
            <a:prstDash val="solid"/>
          </a:ln>
        </p:spPr>
      </p:sp>
      <p:sp>
        <p:nvSpPr>
          <p:cNvPr id="26" name="Text 23"/>
          <p:cNvSpPr/>
          <p:nvPr/>
        </p:nvSpPr>
        <p:spPr>
          <a:xfrm>
            <a:off x="2219586" y="5014818"/>
            <a:ext cx="3585903" cy="471455"/>
          </a:xfrm>
          <a:prstGeom prst="rect">
            <a:avLst/>
          </a:prstGeom>
          <a:noFill/>
          <a:ln/>
        </p:spPr>
        <p:txBody>
          <a:bodyPr wrap="square" lIns="158835" tIns="158835" rIns="158835" bIns="158835" rtlCol="0" anchor="ctr">
            <a:spAutoFit/>
          </a:bodyPr>
          <a:lstStyle/>
          <a:p>
            <a:pPr>
              <a:lnSpc>
                <a:spcPts val="1200"/>
              </a:lnSpc>
            </a:pPr>
            <a:r>
              <a:rPr lang="en-US" sz="969" dirty="0">
                <a:solidFill>
                  <a:srgbClr val="334155"/>
                </a:solidFill>
                <a:latin typeface="Open Sans" pitchFamily="34" charset="0"/>
                <a:ea typeface="Open Sans" pitchFamily="34" charset="-122"/>
                <a:cs typeface="Open Sans" pitchFamily="34" charset="-120"/>
              </a:rPr>
              <a:t>Recognized by ChP, USP, and EP standards</a:t>
            </a:r>
            <a:endParaRPr lang="en-US" sz="969" dirty="0"/>
          </a:p>
        </p:txBody>
      </p:sp>
      <p:sp>
        <p:nvSpPr>
          <p:cNvPr id="27" name="Shape 24"/>
          <p:cNvSpPr/>
          <p:nvPr/>
        </p:nvSpPr>
        <p:spPr>
          <a:xfrm>
            <a:off x="6191251" y="1774031"/>
            <a:ext cx="5143500" cy="3429000"/>
          </a:xfrm>
          <a:prstGeom prst="rect">
            <a:avLst/>
          </a:prstGeom>
          <a:solidFill>
            <a:srgbClr val="FFFFFF"/>
          </a:solidFill>
          <a:ln w="9144">
            <a:solidFill>
              <a:srgbClr val="E2E8F0"/>
            </a:solidFill>
            <a:prstDash val="solid"/>
          </a:ln>
        </p:spPr>
      </p:sp>
      <p:pic>
        <p:nvPicPr>
          <p:cNvPr id="28" name="Image 1" descr="preencoded.png"/>
          <p:cNvPicPr>
            <a:picLocks noChangeAspect="1"/>
          </p:cNvPicPr>
          <p:nvPr/>
        </p:nvPicPr>
        <p:blipFill>
          <a:blip r:embed="rId4"/>
          <a:stretch>
            <a:fillRect/>
          </a:stretch>
        </p:blipFill>
        <p:spPr>
          <a:xfrm>
            <a:off x="6286500" y="1869282"/>
            <a:ext cx="4953000" cy="3238500"/>
          </a:xfrm>
          <a:prstGeom prst="rect">
            <a:avLst/>
          </a:prstGeom>
        </p:spPr>
      </p:pic>
      <p:sp>
        <p:nvSpPr>
          <p:cNvPr id="29" name="Text 25"/>
          <p:cNvSpPr/>
          <p:nvPr/>
        </p:nvSpPr>
        <p:spPr>
          <a:xfrm>
            <a:off x="6481763" y="5317331"/>
            <a:ext cx="4137351" cy="150682"/>
          </a:xfrm>
          <a:prstGeom prst="rect">
            <a:avLst/>
          </a:prstGeom>
          <a:noFill/>
          <a:ln/>
        </p:spPr>
        <p:txBody>
          <a:bodyPr wrap="none" lIns="0" tIns="0" rIns="0" bIns="0" rtlCol="0" anchor="t">
            <a:spAutoFit/>
          </a:bodyPr>
          <a:lstStyle/>
          <a:p>
            <a:pPr>
              <a:lnSpc>
                <a:spcPts val="1200"/>
              </a:lnSpc>
            </a:pPr>
            <a:r>
              <a:rPr lang="en-US" sz="969" i="1" dirty="0">
                <a:solidFill>
                  <a:srgbClr val="64748B"/>
                </a:solidFill>
                <a:latin typeface="Open Sans" pitchFamily="34" charset="0"/>
                <a:ea typeface="Open Sans" pitchFamily="34" charset="-122"/>
                <a:cs typeface="Open Sans" pitchFamily="34" charset="-120"/>
              </a:rPr>
              <a:t>Figure: Representative icIEF electropherogram showing pI-based separation.</a:t>
            </a:r>
            <a:endParaRPr lang="en-US" sz="969" dirty="0"/>
          </a:p>
        </p:txBody>
      </p:sp>
      <p:sp>
        <p:nvSpPr>
          <p:cNvPr id="31" name="标题 30">
            <a:extLst>
              <a:ext uri="{FF2B5EF4-FFF2-40B4-BE49-F238E27FC236}">
                <a16:creationId xmlns:a16="http://schemas.microsoft.com/office/drawing/2014/main" id="{32A8CEB4-5454-D44C-FC09-E9F45724B7F1}"/>
              </a:ext>
            </a:extLst>
          </p:cNvPr>
          <p:cNvSpPr>
            <a:spLocks noGrp="1"/>
          </p:cNvSpPr>
          <p:nvPr>
            <p:ph type="title"/>
          </p:nvPr>
        </p:nvSpPr>
        <p:spPr/>
        <p:txBody>
          <a:bodyPr/>
          <a:lstStyle/>
          <a:p>
            <a:endParaRPr lang="zh-CN" altLang="en-US"/>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561808"/>
          </a:xfrm>
          <a:prstGeom prst="rect">
            <a:avLst/>
          </a:prstGeom>
        </p:spPr>
      </p:pic>
      <p:sp>
        <p:nvSpPr>
          <p:cNvPr id="3" name="Text 0"/>
          <p:cNvSpPr/>
          <p:nvPr/>
        </p:nvSpPr>
        <p:spPr>
          <a:xfrm>
            <a:off x="857251" y="571500"/>
            <a:ext cx="10477500" cy="355931"/>
          </a:xfrm>
          <a:prstGeom prst="rect">
            <a:avLst/>
          </a:prstGeom>
          <a:noFill/>
          <a:ln/>
        </p:spPr>
        <p:txBody>
          <a:bodyPr wrap="square" lIns="0" tIns="0" rIns="0" bIns="0" rtlCol="0" anchor="t">
            <a:spAutoFit/>
          </a:bodyPr>
          <a:lstStyle/>
          <a:p>
            <a:pPr algn="ctr">
              <a:lnSpc>
                <a:spcPts val="2933"/>
              </a:lnSpc>
            </a:pPr>
            <a:r>
              <a:rPr lang="en-US" sz="2136" b="1" dirty="0">
                <a:solidFill>
                  <a:srgbClr val="0F172A"/>
                </a:solidFill>
                <a:latin typeface="Montserrat" pitchFamily="34" charset="0"/>
                <a:ea typeface="Montserrat" pitchFamily="34" charset="-122"/>
                <a:cs typeface="Montserrat" pitchFamily="34" charset="-120"/>
              </a:rPr>
              <a:t>Cation Exchange Chromatography (CEX) Enables Preparative Separation</a:t>
            </a:r>
            <a:endParaRPr lang="en-US" sz="2136" dirty="0"/>
          </a:p>
        </p:txBody>
      </p:sp>
      <p:sp>
        <p:nvSpPr>
          <p:cNvPr id="4" name="Text 1"/>
          <p:cNvSpPr/>
          <p:nvPr/>
        </p:nvSpPr>
        <p:spPr>
          <a:xfrm>
            <a:off x="2081280" y="1504951"/>
            <a:ext cx="8029441" cy="233654"/>
          </a:xfrm>
          <a:prstGeom prst="rect">
            <a:avLst/>
          </a:prstGeom>
          <a:noFill/>
          <a:ln/>
        </p:spPr>
        <p:txBody>
          <a:bodyPr wrap="none" lIns="0" tIns="0" rIns="0" bIns="0" rtlCol="0" anchor="t">
            <a:spAutoFit/>
          </a:bodyPr>
          <a:lstStyle/>
          <a:p>
            <a:pPr algn="ctr">
              <a:lnSpc>
                <a:spcPts val="1867"/>
              </a:lnSpc>
            </a:pPr>
            <a:r>
              <a:rPr lang="en-US" sz="1400" dirty="0">
                <a:solidFill>
                  <a:srgbClr val="0D9488"/>
                </a:solidFill>
                <a:latin typeface="Open Sans" pitchFamily="34" charset="0"/>
                <a:ea typeface="Open Sans" pitchFamily="34" charset="-122"/>
                <a:cs typeface="Open Sans" pitchFamily="34" charset="-120"/>
              </a:rPr>
              <a:t>CEX remains the most practical tool for both analytical monitoring and downstream purification.</a:t>
            </a:r>
            <a:endParaRPr lang="en-US" sz="1400" dirty="0"/>
          </a:p>
        </p:txBody>
      </p:sp>
      <p:sp>
        <p:nvSpPr>
          <p:cNvPr id="5" name="Text 2"/>
          <p:cNvSpPr/>
          <p:nvPr/>
        </p:nvSpPr>
        <p:spPr>
          <a:xfrm>
            <a:off x="1333500" y="2145508"/>
            <a:ext cx="9525000" cy="786241"/>
          </a:xfrm>
          <a:prstGeom prst="rect">
            <a:avLst/>
          </a:prstGeom>
          <a:noFill/>
          <a:ln/>
        </p:spPr>
        <p:txBody>
          <a:bodyPr wrap="square" lIns="0" tIns="0" rIns="0" bIns="0" rtlCol="0" anchor="t">
            <a:spAutoFit/>
          </a:bodyPr>
          <a:lstStyle/>
          <a:p>
            <a:pPr algn="just">
              <a:lnSpc>
                <a:spcPts val="2133"/>
              </a:lnSpc>
            </a:pPr>
            <a:r>
              <a:rPr lang="en-US" sz="1256" dirty="0">
                <a:solidFill>
                  <a:srgbClr val="334155"/>
                </a:solidFill>
                <a:latin typeface="Open Sans" pitchFamily="34" charset="0"/>
                <a:ea typeface="Open Sans" pitchFamily="34" charset="-122"/>
                <a:cs typeface="Open Sans" pitchFamily="34" charset="-120"/>
              </a:rPr>
              <a:t>Cation Exchange Chromatography (CEX) is the most widely utilized technique for both the analysis and purification of antibody charge variants. By leveraging the interaction between the positively charged protein and negatively charged resin, CEX can separate closely related species using either salt gradients or pH gradients.</a:t>
            </a:r>
            <a:endParaRPr lang="en-US" sz="1256" dirty="0"/>
          </a:p>
        </p:txBody>
      </p:sp>
      <p:sp>
        <p:nvSpPr>
          <p:cNvPr id="6" name="Shape 3"/>
          <p:cNvSpPr/>
          <p:nvPr/>
        </p:nvSpPr>
        <p:spPr>
          <a:xfrm>
            <a:off x="1338263" y="3544641"/>
            <a:ext cx="1553580" cy="809625"/>
          </a:xfrm>
          <a:prstGeom prst="rect">
            <a:avLst/>
          </a:prstGeom>
          <a:solidFill>
            <a:srgbClr val="0F172A"/>
          </a:solidFill>
          <a:ln w="9144">
            <a:solidFill>
              <a:srgbClr val="E2E8F0"/>
            </a:solidFill>
            <a:prstDash val="solid"/>
          </a:ln>
        </p:spPr>
      </p:sp>
      <p:sp>
        <p:nvSpPr>
          <p:cNvPr id="7" name="Text 4"/>
          <p:cNvSpPr/>
          <p:nvPr/>
        </p:nvSpPr>
        <p:spPr>
          <a:xfrm>
            <a:off x="1338263" y="3519710"/>
            <a:ext cx="1553580" cy="859487"/>
          </a:xfrm>
          <a:prstGeom prst="rect">
            <a:avLst/>
          </a:prstGeom>
          <a:noFill/>
          <a:ln/>
        </p:spPr>
        <p:txBody>
          <a:bodyPr wrap="square" lIns="226737" tIns="226737" rIns="226737" bIns="226737" rtlCol="0" anchor="ctr">
            <a:spAutoFit/>
          </a:bodyPr>
          <a:lstStyle/>
          <a:p>
            <a:pPr>
              <a:lnSpc>
                <a:spcPts val="1600"/>
              </a:lnSpc>
            </a:pPr>
            <a:r>
              <a:rPr lang="en-US" sz="1180" b="1" dirty="0">
                <a:solidFill>
                  <a:srgbClr val="F8FAFC"/>
                </a:solidFill>
                <a:latin typeface="Montserrat" pitchFamily="34" charset="0"/>
                <a:ea typeface="Montserrat" pitchFamily="34" charset="-122"/>
                <a:cs typeface="Montserrat" pitchFamily="34" charset="-120"/>
              </a:rPr>
              <a:t>Elution Method</a:t>
            </a:r>
            <a:endParaRPr lang="en-US" sz="1180" dirty="0"/>
          </a:p>
        </p:txBody>
      </p:sp>
      <p:sp>
        <p:nvSpPr>
          <p:cNvPr id="8" name="Shape 5"/>
          <p:cNvSpPr/>
          <p:nvPr/>
        </p:nvSpPr>
        <p:spPr>
          <a:xfrm>
            <a:off x="2891843" y="3544641"/>
            <a:ext cx="7961896" cy="804863"/>
          </a:xfrm>
          <a:prstGeom prst="rect">
            <a:avLst/>
          </a:prstGeom>
          <a:solidFill>
            <a:srgbClr val="0F172A"/>
          </a:solidFill>
          <a:ln w="9144">
            <a:solidFill>
              <a:srgbClr val="E2E8F0"/>
            </a:solidFill>
            <a:prstDash val="solid"/>
          </a:ln>
        </p:spPr>
      </p:sp>
      <p:sp>
        <p:nvSpPr>
          <p:cNvPr id="9" name="Text 6"/>
          <p:cNvSpPr/>
          <p:nvPr/>
        </p:nvSpPr>
        <p:spPr>
          <a:xfrm>
            <a:off x="2891843" y="3619919"/>
            <a:ext cx="7961896" cy="654303"/>
          </a:xfrm>
          <a:prstGeom prst="rect">
            <a:avLst/>
          </a:prstGeom>
          <a:noFill/>
          <a:ln/>
        </p:spPr>
        <p:txBody>
          <a:bodyPr wrap="square" lIns="226737" tIns="226737" rIns="226737" bIns="226737" rtlCol="0" anchor="ctr">
            <a:spAutoFit/>
          </a:bodyPr>
          <a:lstStyle/>
          <a:p>
            <a:pPr>
              <a:lnSpc>
                <a:spcPts val="1600"/>
              </a:lnSpc>
            </a:pPr>
            <a:r>
              <a:rPr lang="en-US" sz="1180" b="1" dirty="0">
                <a:solidFill>
                  <a:srgbClr val="F8FAFC"/>
                </a:solidFill>
                <a:latin typeface="Montserrat" pitchFamily="34" charset="0"/>
                <a:ea typeface="Montserrat" pitchFamily="34" charset="-122"/>
                <a:cs typeface="Montserrat" pitchFamily="34" charset="-120"/>
              </a:rPr>
              <a:t>Mechanism and Application</a:t>
            </a:r>
            <a:endParaRPr lang="en-US" sz="1180" dirty="0"/>
          </a:p>
        </p:txBody>
      </p:sp>
      <p:sp>
        <p:nvSpPr>
          <p:cNvPr id="10" name="Shape 7"/>
          <p:cNvSpPr/>
          <p:nvPr/>
        </p:nvSpPr>
        <p:spPr>
          <a:xfrm>
            <a:off x="1338263" y="4344741"/>
            <a:ext cx="1553580" cy="804863"/>
          </a:xfrm>
          <a:prstGeom prst="rect">
            <a:avLst/>
          </a:prstGeom>
          <a:solidFill>
            <a:srgbClr val="FFFFFF"/>
          </a:solidFill>
          <a:ln w="9144">
            <a:solidFill>
              <a:srgbClr val="E2E8F0"/>
            </a:solidFill>
            <a:prstDash val="solid"/>
          </a:ln>
        </p:spPr>
      </p:sp>
      <p:sp>
        <p:nvSpPr>
          <p:cNvPr id="11" name="Text 8"/>
          <p:cNvSpPr/>
          <p:nvPr/>
        </p:nvSpPr>
        <p:spPr>
          <a:xfrm>
            <a:off x="1528764" y="4530478"/>
            <a:ext cx="885825" cy="374590"/>
          </a:xfrm>
          <a:prstGeom prst="rect">
            <a:avLst/>
          </a:prstGeom>
          <a:noFill/>
          <a:ln/>
        </p:spPr>
        <p:txBody>
          <a:bodyPr wrap="squar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Salt Gradient Elution</a:t>
            </a:r>
            <a:endParaRPr lang="en-US" sz="1045" dirty="0"/>
          </a:p>
        </p:txBody>
      </p:sp>
      <p:sp>
        <p:nvSpPr>
          <p:cNvPr id="12" name="Shape 9"/>
          <p:cNvSpPr/>
          <p:nvPr/>
        </p:nvSpPr>
        <p:spPr>
          <a:xfrm>
            <a:off x="2888977" y="4339978"/>
            <a:ext cx="7964760" cy="804863"/>
          </a:xfrm>
          <a:prstGeom prst="rect">
            <a:avLst/>
          </a:prstGeom>
          <a:solidFill>
            <a:srgbClr val="FFFFFF"/>
          </a:solidFill>
          <a:ln w="9144">
            <a:solidFill>
              <a:srgbClr val="E2E8F0"/>
            </a:solidFill>
            <a:prstDash val="solid"/>
          </a:ln>
        </p:spPr>
      </p:sp>
      <p:sp>
        <p:nvSpPr>
          <p:cNvPr id="13" name="Text 10"/>
          <p:cNvSpPr/>
          <p:nvPr/>
        </p:nvSpPr>
        <p:spPr>
          <a:xfrm>
            <a:off x="2888977" y="4339977"/>
            <a:ext cx="7964760" cy="834993"/>
          </a:xfrm>
          <a:prstGeom prst="rect">
            <a:avLst/>
          </a:prstGeom>
          <a:noFill/>
          <a:ln/>
        </p:spPr>
        <p:txBody>
          <a:bodyPr wrap="square" lIns="226737" tIns="226737" rIns="226737" bIns="226737" rtlCol="0" anchor="t">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The standard approach for routine quality control. It utilizes a linear NaCl gradient to displace bound proteins based on their surface charge density.</a:t>
            </a:r>
            <a:endParaRPr lang="en-US" sz="1112" dirty="0"/>
          </a:p>
        </p:txBody>
      </p:sp>
      <p:sp>
        <p:nvSpPr>
          <p:cNvPr id="14" name="Shape 11"/>
          <p:cNvSpPr/>
          <p:nvPr/>
        </p:nvSpPr>
        <p:spPr>
          <a:xfrm>
            <a:off x="1338264" y="5140078"/>
            <a:ext cx="1547849" cy="804863"/>
          </a:xfrm>
          <a:prstGeom prst="rect">
            <a:avLst/>
          </a:prstGeom>
          <a:solidFill>
            <a:srgbClr val="F1F5F9"/>
          </a:solidFill>
          <a:ln w="9144">
            <a:solidFill>
              <a:srgbClr val="E2E8F0"/>
            </a:solidFill>
            <a:prstDash val="solid"/>
          </a:ln>
        </p:spPr>
      </p:sp>
      <p:sp>
        <p:nvSpPr>
          <p:cNvPr id="15" name="Text 12"/>
          <p:cNvSpPr/>
          <p:nvPr/>
        </p:nvSpPr>
        <p:spPr>
          <a:xfrm>
            <a:off x="1528763" y="5330578"/>
            <a:ext cx="838200" cy="374590"/>
          </a:xfrm>
          <a:prstGeom prst="rect">
            <a:avLst/>
          </a:prstGeom>
          <a:noFill/>
          <a:ln/>
        </p:spPr>
        <p:txBody>
          <a:bodyPr wrap="squar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pH Gradient Elution</a:t>
            </a:r>
            <a:endParaRPr lang="en-US" sz="1045" dirty="0"/>
          </a:p>
        </p:txBody>
      </p:sp>
      <p:sp>
        <p:nvSpPr>
          <p:cNvPr id="16" name="Shape 13"/>
          <p:cNvSpPr/>
          <p:nvPr/>
        </p:nvSpPr>
        <p:spPr>
          <a:xfrm>
            <a:off x="2886113" y="5140078"/>
            <a:ext cx="7967625" cy="804863"/>
          </a:xfrm>
          <a:prstGeom prst="rect">
            <a:avLst/>
          </a:prstGeom>
          <a:solidFill>
            <a:srgbClr val="F1F5F9"/>
          </a:solidFill>
          <a:ln w="9144">
            <a:solidFill>
              <a:srgbClr val="E2E8F0"/>
            </a:solidFill>
            <a:prstDash val="solid"/>
          </a:ln>
        </p:spPr>
      </p:sp>
      <p:sp>
        <p:nvSpPr>
          <p:cNvPr id="17" name="Text 14"/>
          <p:cNvSpPr/>
          <p:nvPr/>
        </p:nvSpPr>
        <p:spPr>
          <a:xfrm>
            <a:off x="2886113" y="5140077"/>
            <a:ext cx="7967625" cy="834993"/>
          </a:xfrm>
          <a:prstGeom prst="rect">
            <a:avLst/>
          </a:prstGeom>
          <a:noFill/>
          <a:ln/>
        </p:spPr>
        <p:txBody>
          <a:bodyPr wrap="square" lIns="226737" tIns="226737" rIns="226737" bIns="226737" rtlCol="0" anchor="t">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Provides superior resolution for complex variant profiles by leveraging the specific pI of each species. Ideal for characterization and high-purity fraction collection.</a:t>
            </a:r>
            <a:endParaRPr lang="en-US" sz="1112" dirty="0"/>
          </a:p>
        </p:txBody>
      </p:sp>
      <p:sp>
        <p:nvSpPr>
          <p:cNvPr id="18" name="Shape 15"/>
          <p:cNvSpPr/>
          <p:nvPr/>
        </p:nvSpPr>
        <p:spPr>
          <a:xfrm>
            <a:off x="1338264" y="5935415"/>
            <a:ext cx="1547849" cy="804863"/>
          </a:xfrm>
          <a:prstGeom prst="rect">
            <a:avLst/>
          </a:prstGeom>
          <a:solidFill>
            <a:srgbClr val="FFFFFF"/>
          </a:solidFill>
          <a:ln w="9144">
            <a:solidFill>
              <a:srgbClr val="E2E8F0"/>
            </a:solidFill>
            <a:prstDash val="solid"/>
          </a:ln>
        </p:spPr>
      </p:sp>
      <p:sp>
        <p:nvSpPr>
          <p:cNvPr id="19" name="Text 16"/>
          <p:cNvSpPr/>
          <p:nvPr/>
        </p:nvSpPr>
        <p:spPr>
          <a:xfrm>
            <a:off x="1524000" y="6125915"/>
            <a:ext cx="745331" cy="566950"/>
          </a:xfrm>
          <a:prstGeom prst="rect">
            <a:avLst/>
          </a:prstGeom>
          <a:noFill/>
          <a:ln/>
        </p:spPr>
        <p:txBody>
          <a:bodyPr wrap="squar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CEX-MS Integration</a:t>
            </a:r>
            <a:endParaRPr lang="en-US" sz="1045" dirty="0"/>
          </a:p>
        </p:txBody>
      </p:sp>
      <p:sp>
        <p:nvSpPr>
          <p:cNvPr id="20" name="Shape 17"/>
          <p:cNvSpPr/>
          <p:nvPr/>
        </p:nvSpPr>
        <p:spPr>
          <a:xfrm>
            <a:off x="2880048" y="5935415"/>
            <a:ext cx="7973691" cy="804863"/>
          </a:xfrm>
          <a:prstGeom prst="rect">
            <a:avLst/>
          </a:prstGeom>
          <a:solidFill>
            <a:srgbClr val="FFFFFF"/>
          </a:solidFill>
          <a:ln w="9144">
            <a:solidFill>
              <a:srgbClr val="E2E8F0"/>
            </a:solidFill>
            <a:prstDash val="solid"/>
          </a:ln>
        </p:spPr>
      </p:sp>
      <p:sp>
        <p:nvSpPr>
          <p:cNvPr id="21" name="Text 18"/>
          <p:cNvSpPr/>
          <p:nvPr/>
        </p:nvSpPr>
        <p:spPr>
          <a:xfrm>
            <a:off x="2880048" y="5935415"/>
            <a:ext cx="7973691" cy="834993"/>
          </a:xfrm>
          <a:prstGeom prst="rect">
            <a:avLst/>
          </a:prstGeom>
          <a:noFill/>
          <a:ln/>
        </p:spPr>
        <p:txBody>
          <a:bodyPr wrap="square" lIns="226737" tIns="226737" rIns="226737" bIns="226737" rtlCol="0" anchor="t">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Online coupling with native mass spectrometry allows for the direct identification of chemical modifications associated with each chromatographic peak in real-time.</a:t>
            </a:r>
            <a:endParaRPr lang="en-US" sz="1112" dirty="0"/>
          </a:p>
        </p:txBody>
      </p:sp>
      <p:sp>
        <p:nvSpPr>
          <p:cNvPr id="22" name="Shape 19"/>
          <p:cNvSpPr/>
          <p:nvPr/>
        </p:nvSpPr>
        <p:spPr>
          <a:xfrm>
            <a:off x="1333500" y="7106989"/>
            <a:ext cx="9525000" cy="407193"/>
          </a:xfrm>
          <a:prstGeom prst="rect">
            <a:avLst/>
          </a:prstGeom>
          <a:solidFill>
            <a:srgbClr val="000000">
              <a:alpha val="0"/>
            </a:srgbClr>
          </a:solidFill>
          <a:ln/>
        </p:spPr>
      </p:sp>
      <p:sp>
        <p:nvSpPr>
          <p:cNvPr id="23" name="Shape 20"/>
          <p:cNvSpPr/>
          <p:nvPr/>
        </p:nvSpPr>
        <p:spPr>
          <a:xfrm>
            <a:off x="1333500" y="7106989"/>
            <a:ext cx="9525000" cy="9525"/>
          </a:xfrm>
          <a:prstGeom prst="rect">
            <a:avLst/>
          </a:prstGeom>
          <a:solidFill>
            <a:srgbClr val="E2E8F0"/>
          </a:solidFill>
          <a:ln/>
        </p:spPr>
      </p:sp>
      <p:sp>
        <p:nvSpPr>
          <p:cNvPr id="24" name="Text 21"/>
          <p:cNvSpPr/>
          <p:nvPr/>
        </p:nvSpPr>
        <p:spPr>
          <a:xfrm>
            <a:off x="1333500" y="7106989"/>
            <a:ext cx="9525000" cy="413682"/>
          </a:xfrm>
          <a:prstGeom prst="rect">
            <a:avLst/>
          </a:prstGeom>
          <a:noFill/>
          <a:ln/>
        </p:spPr>
        <p:txBody>
          <a:bodyPr wrap="square" lIns="0" tIns="226737" rIns="0" bIns="0" rtlCol="0" anchor="t">
            <a:spAutoFit/>
          </a:bodyPr>
          <a:lstStyle/>
          <a:p>
            <a:pPr algn="ctr">
              <a:lnSpc>
                <a:spcPts val="1467"/>
              </a:lnSpc>
            </a:pPr>
            <a:r>
              <a:rPr lang="en-US" sz="1112" i="1" dirty="0">
                <a:solidFill>
                  <a:srgbClr val="334155"/>
                </a:solidFill>
                <a:latin typeface="Open Sans" pitchFamily="34" charset="0"/>
                <a:ea typeface="Open Sans" pitchFamily="34" charset="-122"/>
                <a:cs typeface="Open Sans" pitchFamily="34" charset="-120"/>
              </a:rPr>
              <a:t>"Multi-attribute monitoring" via CEX-MS significantly accelerates the development of robust control strategies for therapeutic antibodies.</a:t>
            </a:r>
            <a:endParaRPr lang="en-US" sz="1112" dirty="0"/>
          </a:p>
        </p:txBody>
      </p:sp>
      <p:sp>
        <p:nvSpPr>
          <p:cNvPr id="26" name="标题 25">
            <a:extLst>
              <a:ext uri="{FF2B5EF4-FFF2-40B4-BE49-F238E27FC236}">
                <a16:creationId xmlns:a16="http://schemas.microsoft.com/office/drawing/2014/main" id="{955C6E32-132E-EBEF-A5A8-C4FF49CADEA0}"/>
              </a:ext>
            </a:extLst>
          </p:cNvPr>
          <p:cNvSpPr>
            <a:spLocks noGrp="1"/>
          </p:cNvSpPr>
          <p:nvPr>
            <p:ph type="title"/>
          </p:nvPr>
        </p:nvSpPr>
        <p:spPr/>
        <p:txBody>
          <a:bodyPr/>
          <a:lstStyle/>
          <a:p>
            <a:endParaRPr lang="zh-CN" altLang="en-US"/>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2416308" y="571501"/>
            <a:ext cx="7359386" cy="355931"/>
          </a:xfrm>
          <a:prstGeom prst="rect">
            <a:avLst/>
          </a:prstGeom>
          <a:noFill/>
          <a:ln/>
        </p:spPr>
        <p:txBody>
          <a:bodyPr wrap="none" lIns="0" tIns="0" rIns="0" bIns="0" rtlCol="0" anchor="t">
            <a:spAutoFit/>
          </a:bodyPr>
          <a:lstStyle/>
          <a:p>
            <a:pPr algn="ctr">
              <a:lnSpc>
                <a:spcPts val="2933"/>
              </a:lnSpc>
            </a:pPr>
            <a:r>
              <a:rPr lang="en-US" sz="2136" b="1" dirty="0">
                <a:solidFill>
                  <a:srgbClr val="0F172A"/>
                </a:solidFill>
                <a:latin typeface="Montserrat" pitchFamily="34" charset="0"/>
                <a:ea typeface="Montserrat" pitchFamily="34" charset="-122"/>
                <a:cs typeface="Montserrat" pitchFamily="34" charset="-120"/>
              </a:rPr>
              <a:t>Regulatory Expectations and Quality Specifications</a:t>
            </a:r>
            <a:endParaRPr lang="en-US" sz="2136" dirty="0"/>
          </a:p>
        </p:txBody>
      </p:sp>
      <p:sp>
        <p:nvSpPr>
          <p:cNvPr id="4" name="Text 1"/>
          <p:cNvSpPr/>
          <p:nvPr/>
        </p:nvSpPr>
        <p:spPr>
          <a:xfrm>
            <a:off x="2432338" y="1133475"/>
            <a:ext cx="7327326" cy="233654"/>
          </a:xfrm>
          <a:prstGeom prst="rect">
            <a:avLst/>
          </a:prstGeom>
          <a:noFill/>
          <a:ln/>
        </p:spPr>
        <p:txBody>
          <a:bodyPr wrap="none" lIns="0" tIns="0" rIns="0" bIns="0" rtlCol="0" anchor="t">
            <a:spAutoFit/>
          </a:bodyPr>
          <a:lstStyle/>
          <a:p>
            <a:pPr algn="ctr">
              <a:lnSpc>
                <a:spcPts val="1867"/>
              </a:lnSpc>
            </a:pPr>
            <a:r>
              <a:rPr lang="en-US" sz="1400" dirty="0">
                <a:solidFill>
                  <a:srgbClr val="0D9488"/>
                </a:solidFill>
                <a:latin typeface="Open Sans" pitchFamily="34" charset="0"/>
                <a:ea typeface="Open Sans" pitchFamily="34" charset="-122"/>
                <a:cs typeface="Open Sans" pitchFamily="34" charset="-120"/>
              </a:rPr>
              <a:t>Specifications must be grounded in clinical experience and process capability (ICH Q6B).</a:t>
            </a:r>
            <a:endParaRPr lang="en-US" sz="1400" dirty="0"/>
          </a:p>
        </p:txBody>
      </p:sp>
      <p:sp>
        <p:nvSpPr>
          <p:cNvPr id="5" name="Text 2"/>
          <p:cNvSpPr/>
          <p:nvPr/>
        </p:nvSpPr>
        <p:spPr>
          <a:xfrm>
            <a:off x="1333500" y="1774031"/>
            <a:ext cx="9525000" cy="1055545"/>
          </a:xfrm>
          <a:prstGeom prst="rect">
            <a:avLst/>
          </a:prstGeom>
          <a:noFill/>
          <a:ln/>
        </p:spPr>
        <p:txBody>
          <a:bodyPr wrap="square" lIns="0" tIns="0" rIns="0" bIns="0" rtlCol="0" anchor="t">
            <a:spAutoFit/>
          </a:bodyPr>
          <a:lstStyle/>
          <a:p>
            <a:pPr algn="just">
              <a:lnSpc>
                <a:spcPts val="2133"/>
              </a:lnSpc>
            </a:pPr>
            <a:r>
              <a:rPr lang="en-US" sz="1256" dirty="0">
                <a:solidFill>
                  <a:srgbClr val="334155"/>
                </a:solidFill>
                <a:latin typeface="Open Sans" pitchFamily="34" charset="0"/>
                <a:ea typeface="Open Sans" pitchFamily="34" charset="-122"/>
                <a:cs typeface="Open Sans" pitchFamily="34" charset="-120"/>
              </a:rPr>
              <a:t>Establishing appropriate specifications for charge variants is a critical component of the </a:t>
            </a:r>
            <a:r>
              <a:rPr lang="en-US" sz="1180" b="1" dirty="0">
                <a:solidFill>
                  <a:srgbClr val="334155"/>
                </a:solidFill>
                <a:latin typeface="Open Sans" pitchFamily="34" charset="0"/>
                <a:ea typeface="Open Sans" pitchFamily="34" charset="-122"/>
                <a:cs typeface="Open Sans" pitchFamily="34" charset="-120"/>
              </a:rPr>
              <a:t>Quality by Design (QbD)</a:t>
            </a:r>
            <a:r>
              <a:rPr lang="en-US" sz="1256" dirty="0">
                <a:solidFill>
                  <a:srgbClr val="334155"/>
                </a:solidFill>
                <a:latin typeface="Open Sans" pitchFamily="34" charset="0"/>
                <a:ea typeface="Open Sans" pitchFamily="34" charset="-122"/>
                <a:cs typeface="Open Sans" pitchFamily="34" charset="-120"/>
              </a:rPr>
              <a:t> framework. According to </a:t>
            </a:r>
            <a:r>
              <a:rPr lang="en-US" sz="1180" b="1" dirty="0">
                <a:solidFill>
                  <a:srgbClr val="334155"/>
                </a:solidFill>
                <a:latin typeface="Open Sans" pitchFamily="34" charset="0"/>
                <a:ea typeface="Open Sans" pitchFamily="34" charset="-122"/>
                <a:cs typeface="Open Sans" pitchFamily="34" charset="-120"/>
              </a:rPr>
              <a:t>ICH Q6B</a:t>
            </a:r>
            <a:r>
              <a:rPr lang="en-US" sz="1256" dirty="0">
                <a:solidFill>
                  <a:srgbClr val="334155"/>
                </a:solidFill>
                <a:latin typeface="Open Sans" pitchFamily="34" charset="0"/>
                <a:ea typeface="Open Sans" pitchFamily="34" charset="-122"/>
                <a:cs typeface="Open Sans" pitchFamily="34" charset="-120"/>
              </a:rPr>
              <a:t> guidelines, these limits should be based on the levels observed in clinical trial materials and the demonstrated capability of the manufacturing process. Routine monitoring is required to ensure that the charge profile remains within the established "design space" throughout the product's lifecycle.</a:t>
            </a:r>
            <a:endParaRPr lang="en-US" sz="1256" dirty="0"/>
          </a:p>
        </p:txBody>
      </p:sp>
      <p:sp>
        <p:nvSpPr>
          <p:cNvPr id="6" name="Shape 3"/>
          <p:cNvSpPr/>
          <p:nvPr/>
        </p:nvSpPr>
        <p:spPr>
          <a:xfrm>
            <a:off x="1338263" y="3447455"/>
            <a:ext cx="2522079" cy="523875"/>
          </a:xfrm>
          <a:prstGeom prst="rect">
            <a:avLst/>
          </a:prstGeom>
          <a:solidFill>
            <a:srgbClr val="0F172A"/>
          </a:solidFill>
          <a:ln w="9144">
            <a:solidFill>
              <a:srgbClr val="E2E8F0"/>
            </a:solidFill>
            <a:prstDash val="solid"/>
          </a:ln>
        </p:spPr>
      </p:sp>
      <p:sp>
        <p:nvSpPr>
          <p:cNvPr id="7" name="Text 4"/>
          <p:cNvSpPr/>
          <p:nvPr/>
        </p:nvSpPr>
        <p:spPr>
          <a:xfrm>
            <a:off x="1338263" y="3428066"/>
            <a:ext cx="2522079" cy="562655"/>
          </a:xfrm>
          <a:prstGeom prst="rect">
            <a:avLst/>
          </a:prstGeom>
          <a:noFill/>
          <a:ln/>
        </p:spPr>
        <p:txBody>
          <a:bodyPr wrap="square" lIns="181356" tIns="181356" rIns="181356" bIns="181356" rtlCol="0" anchor="ctr">
            <a:spAutoFit/>
          </a:bodyPr>
          <a:lstStyle/>
          <a:p>
            <a:pPr>
              <a:lnSpc>
                <a:spcPts val="1600"/>
              </a:lnSpc>
            </a:pPr>
            <a:r>
              <a:rPr lang="en-US" sz="1180" b="1" dirty="0">
                <a:solidFill>
                  <a:srgbClr val="F8FAFC"/>
                </a:solidFill>
                <a:latin typeface="Montserrat" pitchFamily="34" charset="0"/>
                <a:ea typeface="Montserrat" pitchFamily="34" charset="-122"/>
                <a:cs typeface="Montserrat" pitchFamily="34" charset="-120"/>
              </a:rPr>
              <a:t>Variant Category</a:t>
            </a:r>
            <a:endParaRPr lang="en-US" sz="1180" dirty="0"/>
          </a:p>
        </p:txBody>
      </p:sp>
      <p:sp>
        <p:nvSpPr>
          <p:cNvPr id="8" name="Shape 5"/>
          <p:cNvSpPr/>
          <p:nvPr/>
        </p:nvSpPr>
        <p:spPr>
          <a:xfrm>
            <a:off x="3855357" y="3447455"/>
            <a:ext cx="4002919" cy="523875"/>
          </a:xfrm>
          <a:prstGeom prst="rect">
            <a:avLst/>
          </a:prstGeom>
          <a:solidFill>
            <a:srgbClr val="0F172A"/>
          </a:solidFill>
          <a:ln w="9144">
            <a:solidFill>
              <a:srgbClr val="E2E8F0"/>
            </a:solidFill>
            <a:prstDash val="solid"/>
          </a:ln>
        </p:spPr>
      </p:sp>
      <p:sp>
        <p:nvSpPr>
          <p:cNvPr id="9" name="Text 6"/>
          <p:cNvSpPr/>
          <p:nvPr/>
        </p:nvSpPr>
        <p:spPr>
          <a:xfrm>
            <a:off x="3855357" y="3428066"/>
            <a:ext cx="4002919" cy="562655"/>
          </a:xfrm>
          <a:prstGeom prst="rect">
            <a:avLst/>
          </a:prstGeom>
          <a:noFill/>
          <a:ln/>
        </p:spPr>
        <p:txBody>
          <a:bodyPr wrap="square" lIns="181356" tIns="181356" rIns="181356" bIns="181356" rtlCol="0" anchor="ctr">
            <a:spAutoFit/>
          </a:bodyPr>
          <a:lstStyle/>
          <a:p>
            <a:pPr>
              <a:lnSpc>
                <a:spcPts val="1600"/>
              </a:lnSpc>
            </a:pPr>
            <a:r>
              <a:rPr lang="en-US" sz="1180" b="1" dirty="0">
                <a:solidFill>
                  <a:srgbClr val="F8FAFC"/>
                </a:solidFill>
                <a:latin typeface="Montserrat" pitchFamily="34" charset="0"/>
                <a:ea typeface="Montserrat" pitchFamily="34" charset="-122"/>
                <a:cs typeface="Montserrat" pitchFamily="34" charset="-120"/>
              </a:rPr>
              <a:t>Typical Release Specification</a:t>
            </a:r>
            <a:endParaRPr lang="en-US" sz="1180" dirty="0"/>
          </a:p>
        </p:txBody>
      </p:sp>
      <p:sp>
        <p:nvSpPr>
          <p:cNvPr id="10" name="Shape 7"/>
          <p:cNvSpPr/>
          <p:nvPr/>
        </p:nvSpPr>
        <p:spPr>
          <a:xfrm>
            <a:off x="7853995" y="3447455"/>
            <a:ext cx="2999743" cy="523875"/>
          </a:xfrm>
          <a:prstGeom prst="rect">
            <a:avLst/>
          </a:prstGeom>
          <a:solidFill>
            <a:srgbClr val="0F172A"/>
          </a:solidFill>
          <a:ln w="9144">
            <a:solidFill>
              <a:srgbClr val="E2E8F0"/>
            </a:solidFill>
            <a:prstDash val="solid"/>
          </a:ln>
        </p:spPr>
      </p:sp>
      <p:sp>
        <p:nvSpPr>
          <p:cNvPr id="11" name="Text 8"/>
          <p:cNvSpPr/>
          <p:nvPr/>
        </p:nvSpPr>
        <p:spPr>
          <a:xfrm>
            <a:off x="7853995" y="3428066"/>
            <a:ext cx="2999743" cy="562655"/>
          </a:xfrm>
          <a:prstGeom prst="rect">
            <a:avLst/>
          </a:prstGeom>
          <a:noFill/>
          <a:ln/>
        </p:spPr>
        <p:txBody>
          <a:bodyPr wrap="square" lIns="181356" tIns="181356" rIns="181356" bIns="181356" rtlCol="0" anchor="ctr">
            <a:spAutoFit/>
          </a:bodyPr>
          <a:lstStyle/>
          <a:p>
            <a:pPr>
              <a:lnSpc>
                <a:spcPts val="1600"/>
              </a:lnSpc>
            </a:pPr>
            <a:r>
              <a:rPr lang="en-US" sz="1180" b="1" dirty="0">
                <a:solidFill>
                  <a:srgbClr val="F8FAFC"/>
                </a:solidFill>
                <a:latin typeface="Montserrat" pitchFamily="34" charset="0"/>
                <a:ea typeface="Montserrat" pitchFamily="34" charset="-122"/>
                <a:cs typeface="Montserrat" pitchFamily="34" charset="-120"/>
              </a:rPr>
              <a:t>Stability Expectation</a:t>
            </a:r>
            <a:endParaRPr lang="en-US" sz="1180" dirty="0"/>
          </a:p>
        </p:txBody>
      </p:sp>
      <p:sp>
        <p:nvSpPr>
          <p:cNvPr id="12" name="Shape 9"/>
          <p:cNvSpPr/>
          <p:nvPr/>
        </p:nvSpPr>
        <p:spPr>
          <a:xfrm>
            <a:off x="1338263" y="3961806"/>
            <a:ext cx="2519288" cy="521493"/>
          </a:xfrm>
          <a:prstGeom prst="rect">
            <a:avLst/>
          </a:prstGeom>
          <a:solidFill>
            <a:srgbClr val="FFFFFF"/>
          </a:solidFill>
          <a:ln w="9144">
            <a:solidFill>
              <a:srgbClr val="E2E8F0"/>
            </a:solidFill>
            <a:prstDash val="solid"/>
          </a:ln>
        </p:spPr>
      </p:sp>
      <p:sp>
        <p:nvSpPr>
          <p:cNvPr id="13" name="Text 10"/>
          <p:cNvSpPr/>
          <p:nvPr/>
        </p:nvSpPr>
        <p:spPr>
          <a:xfrm>
            <a:off x="1490663" y="4116586"/>
            <a:ext cx="697307" cy="182229"/>
          </a:xfrm>
          <a:prstGeom prst="rect">
            <a:avLst/>
          </a:prstGeom>
          <a:noFill/>
          <a:ln/>
        </p:spPr>
        <p:txBody>
          <a:bodyPr wrap="non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Main Peak</a:t>
            </a:r>
            <a:endParaRPr lang="en-US" sz="1045" dirty="0"/>
          </a:p>
        </p:txBody>
      </p:sp>
      <p:sp>
        <p:nvSpPr>
          <p:cNvPr id="14" name="Shape 11"/>
          <p:cNvSpPr/>
          <p:nvPr/>
        </p:nvSpPr>
        <p:spPr>
          <a:xfrm>
            <a:off x="3857552" y="3961806"/>
            <a:ext cx="4003625" cy="521493"/>
          </a:xfrm>
          <a:prstGeom prst="rect">
            <a:avLst/>
          </a:prstGeom>
          <a:solidFill>
            <a:srgbClr val="FFFFFF"/>
          </a:solidFill>
          <a:ln w="9144">
            <a:solidFill>
              <a:srgbClr val="E2E8F0"/>
            </a:solidFill>
            <a:prstDash val="solid"/>
          </a:ln>
        </p:spPr>
      </p:sp>
      <p:sp>
        <p:nvSpPr>
          <p:cNvPr id="15" name="Text 12"/>
          <p:cNvSpPr/>
          <p:nvPr/>
        </p:nvSpPr>
        <p:spPr>
          <a:xfrm>
            <a:off x="3857552" y="3947061"/>
            <a:ext cx="4003625" cy="550985"/>
          </a:xfrm>
          <a:prstGeom prst="rect">
            <a:avLst/>
          </a:prstGeom>
          <a:noFill/>
          <a:ln/>
        </p:spPr>
        <p:txBody>
          <a:bodyPr wrap="square" lIns="181356" tIns="181356" rIns="181356" bIns="181356" rtlCol="0" anchor="ctr">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60% - 80%</a:t>
            </a:r>
            <a:endParaRPr lang="en-US" sz="1112" dirty="0"/>
          </a:p>
        </p:txBody>
      </p:sp>
      <p:sp>
        <p:nvSpPr>
          <p:cNvPr id="16" name="Shape 13"/>
          <p:cNvSpPr/>
          <p:nvPr/>
        </p:nvSpPr>
        <p:spPr>
          <a:xfrm>
            <a:off x="7861177" y="3961806"/>
            <a:ext cx="2992561" cy="521493"/>
          </a:xfrm>
          <a:prstGeom prst="rect">
            <a:avLst/>
          </a:prstGeom>
          <a:solidFill>
            <a:srgbClr val="FFFFFF"/>
          </a:solidFill>
          <a:ln w="9144">
            <a:solidFill>
              <a:srgbClr val="E2E8F0"/>
            </a:solidFill>
            <a:prstDash val="solid"/>
          </a:ln>
        </p:spPr>
      </p:sp>
      <p:sp>
        <p:nvSpPr>
          <p:cNvPr id="17" name="Text 14"/>
          <p:cNvSpPr/>
          <p:nvPr/>
        </p:nvSpPr>
        <p:spPr>
          <a:xfrm>
            <a:off x="7861177" y="3947061"/>
            <a:ext cx="2992561" cy="550985"/>
          </a:xfrm>
          <a:prstGeom prst="rect">
            <a:avLst/>
          </a:prstGeom>
          <a:noFill/>
          <a:ln/>
        </p:spPr>
        <p:txBody>
          <a:bodyPr wrap="square" lIns="181356" tIns="181356" rIns="181356" bIns="181356" rtlCol="0" anchor="ctr">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Not to decrease by &gt;10%</a:t>
            </a:r>
            <a:endParaRPr lang="en-US" sz="1112" dirty="0"/>
          </a:p>
        </p:txBody>
      </p:sp>
      <p:sp>
        <p:nvSpPr>
          <p:cNvPr id="18" name="Shape 15"/>
          <p:cNvSpPr/>
          <p:nvPr/>
        </p:nvSpPr>
        <p:spPr>
          <a:xfrm>
            <a:off x="1338263" y="4473774"/>
            <a:ext cx="2519288" cy="521493"/>
          </a:xfrm>
          <a:prstGeom prst="rect">
            <a:avLst/>
          </a:prstGeom>
          <a:solidFill>
            <a:srgbClr val="F1F5F9"/>
          </a:solidFill>
          <a:ln w="9144">
            <a:solidFill>
              <a:srgbClr val="E2E8F0"/>
            </a:solidFill>
            <a:prstDash val="solid"/>
          </a:ln>
        </p:spPr>
      </p:sp>
      <p:sp>
        <p:nvSpPr>
          <p:cNvPr id="19" name="Text 16"/>
          <p:cNvSpPr/>
          <p:nvPr/>
        </p:nvSpPr>
        <p:spPr>
          <a:xfrm>
            <a:off x="1490663" y="4628555"/>
            <a:ext cx="997068" cy="182229"/>
          </a:xfrm>
          <a:prstGeom prst="rect">
            <a:avLst/>
          </a:prstGeom>
          <a:noFill/>
          <a:ln/>
        </p:spPr>
        <p:txBody>
          <a:bodyPr wrap="non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Acidic Variants</a:t>
            </a:r>
            <a:endParaRPr lang="en-US" sz="1045" dirty="0"/>
          </a:p>
        </p:txBody>
      </p:sp>
      <p:sp>
        <p:nvSpPr>
          <p:cNvPr id="20" name="Shape 17"/>
          <p:cNvSpPr/>
          <p:nvPr/>
        </p:nvSpPr>
        <p:spPr>
          <a:xfrm>
            <a:off x="3857552" y="4473774"/>
            <a:ext cx="4003625" cy="521493"/>
          </a:xfrm>
          <a:prstGeom prst="rect">
            <a:avLst/>
          </a:prstGeom>
          <a:solidFill>
            <a:srgbClr val="F1F5F9"/>
          </a:solidFill>
          <a:ln w="9144">
            <a:solidFill>
              <a:srgbClr val="E2E8F0"/>
            </a:solidFill>
            <a:prstDash val="solid"/>
          </a:ln>
        </p:spPr>
      </p:sp>
      <p:sp>
        <p:nvSpPr>
          <p:cNvPr id="21" name="Text 18"/>
          <p:cNvSpPr/>
          <p:nvPr/>
        </p:nvSpPr>
        <p:spPr>
          <a:xfrm>
            <a:off x="3857552" y="4459029"/>
            <a:ext cx="4003625" cy="550985"/>
          </a:xfrm>
          <a:prstGeom prst="rect">
            <a:avLst/>
          </a:prstGeom>
          <a:noFill/>
          <a:ln/>
        </p:spPr>
        <p:txBody>
          <a:bodyPr wrap="square" lIns="181356" tIns="181356" rIns="181356" bIns="181356" rtlCol="0" anchor="ctr">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10% - 30%</a:t>
            </a:r>
            <a:endParaRPr lang="en-US" sz="1112" dirty="0"/>
          </a:p>
        </p:txBody>
      </p:sp>
      <p:sp>
        <p:nvSpPr>
          <p:cNvPr id="22" name="Shape 19"/>
          <p:cNvSpPr/>
          <p:nvPr/>
        </p:nvSpPr>
        <p:spPr>
          <a:xfrm>
            <a:off x="7861177" y="4473774"/>
            <a:ext cx="2992561" cy="521493"/>
          </a:xfrm>
          <a:prstGeom prst="rect">
            <a:avLst/>
          </a:prstGeom>
          <a:solidFill>
            <a:srgbClr val="F1F5F9"/>
          </a:solidFill>
          <a:ln w="9144">
            <a:solidFill>
              <a:srgbClr val="E2E8F0"/>
            </a:solidFill>
            <a:prstDash val="solid"/>
          </a:ln>
        </p:spPr>
      </p:sp>
      <p:sp>
        <p:nvSpPr>
          <p:cNvPr id="23" name="Text 20"/>
          <p:cNvSpPr/>
          <p:nvPr/>
        </p:nvSpPr>
        <p:spPr>
          <a:xfrm>
            <a:off x="7861177" y="4459029"/>
            <a:ext cx="2992561" cy="550985"/>
          </a:xfrm>
          <a:prstGeom prst="rect">
            <a:avLst/>
          </a:prstGeom>
          <a:noFill/>
          <a:ln/>
        </p:spPr>
        <p:txBody>
          <a:bodyPr wrap="square" lIns="181356" tIns="181356" rIns="181356" bIns="181356" rtlCol="0" anchor="ctr">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Not to increase by &gt;10%</a:t>
            </a:r>
            <a:endParaRPr lang="en-US" sz="1112" dirty="0"/>
          </a:p>
        </p:txBody>
      </p:sp>
      <p:sp>
        <p:nvSpPr>
          <p:cNvPr id="24" name="Shape 21"/>
          <p:cNvSpPr/>
          <p:nvPr/>
        </p:nvSpPr>
        <p:spPr>
          <a:xfrm>
            <a:off x="1338263" y="4985743"/>
            <a:ext cx="2519288" cy="521493"/>
          </a:xfrm>
          <a:prstGeom prst="rect">
            <a:avLst/>
          </a:prstGeom>
          <a:solidFill>
            <a:srgbClr val="FFFFFF"/>
          </a:solidFill>
          <a:ln w="9144">
            <a:solidFill>
              <a:srgbClr val="E2E8F0"/>
            </a:solidFill>
            <a:prstDash val="solid"/>
          </a:ln>
        </p:spPr>
      </p:sp>
      <p:sp>
        <p:nvSpPr>
          <p:cNvPr id="25" name="Text 22"/>
          <p:cNvSpPr/>
          <p:nvPr/>
        </p:nvSpPr>
        <p:spPr>
          <a:xfrm>
            <a:off x="1485900" y="5142906"/>
            <a:ext cx="945772" cy="182229"/>
          </a:xfrm>
          <a:prstGeom prst="rect">
            <a:avLst/>
          </a:prstGeom>
          <a:noFill/>
          <a:ln/>
        </p:spPr>
        <p:txBody>
          <a:bodyPr wrap="non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Basic Variants</a:t>
            </a:r>
            <a:endParaRPr lang="en-US" sz="1045" dirty="0"/>
          </a:p>
        </p:txBody>
      </p:sp>
      <p:sp>
        <p:nvSpPr>
          <p:cNvPr id="26" name="Shape 23"/>
          <p:cNvSpPr/>
          <p:nvPr/>
        </p:nvSpPr>
        <p:spPr>
          <a:xfrm>
            <a:off x="3854053" y="4985743"/>
            <a:ext cx="4005635" cy="521493"/>
          </a:xfrm>
          <a:prstGeom prst="rect">
            <a:avLst/>
          </a:prstGeom>
          <a:solidFill>
            <a:srgbClr val="FFFFFF"/>
          </a:solidFill>
          <a:ln w="9144">
            <a:solidFill>
              <a:srgbClr val="E2E8F0"/>
            </a:solidFill>
            <a:prstDash val="solid"/>
          </a:ln>
        </p:spPr>
      </p:sp>
      <p:sp>
        <p:nvSpPr>
          <p:cNvPr id="27" name="Text 24"/>
          <p:cNvSpPr/>
          <p:nvPr/>
        </p:nvSpPr>
        <p:spPr>
          <a:xfrm>
            <a:off x="3854053" y="4970998"/>
            <a:ext cx="4005635" cy="550985"/>
          </a:xfrm>
          <a:prstGeom prst="rect">
            <a:avLst/>
          </a:prstGeom>
          <a:noFill/>
          <a:ln/>
        </p:spPr>
        <p:txBody>
          <a:bodyPr wrap="square" lIns="181356" tIns="181356" rIns="181356" bIns="181356" rtlCol="0" anchor="ctr">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5% - 15%</a:t>
            </a:r>
            <a:endParaRPr lang="en-US" sz="1112" dirty="0"/>
          </a:p>
        </p:txBody>
      </p:sp>
      <p:sp>
        <p:nvSpPr>
          <p:cNvPr id="28" name="Shape 25"/>
          <p:cNvSpPr/>
          <p:nvPr/>
        </p:nvSpPr>
        <p:spPr>
          <a:xfrm>
            <a:off x="7859689" y="4985743"/>
            <a:ext cx="2994049" cy="521493"/>
          </a:xfrm>
          <a:prstGeom prst="rect">
            <a:avLst/>
          </a:prstGeom>
          <a:solidFill>
            <a:srgbClr val="FFFFFF"/>
          </a:solidFill>
          <a:ln w="9144">
            <a:solidFill>
              <a:srgbClr val="E2E8F0"/>
            </a:solidFill>
            <a:prstDash val="solid"/>
          </a:ln>
        </p:spPr>
      </p:sp>
      <p:sp>
        <p:nvSpPr>
          <p:cNvPr id="29" name="Text 26"/>
          <p:cNvSpPr/>
          <p:nvPr/>
        </p:nvSpPr>
        <p:spPr>
          <a:xfrm>
            <a:off x="7859689" y="4970998"/>
            <a:ext cx="2994049" cy="550985"/>
          </a:xfrm>
          <a:prstGeom prst="rect">
            <a:avLst/>
          </a:prstGeom>
          <a:noFill/>
          <a:ln/>
        </p:spPr>
        <p:txBody>
          <a:bodyPr wrap="square" lIns="181356" tIns="181356" rIns="181356" bIns="181356" rtlCol="0" anchor="ctr">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Not to increase by &gt;5%</a:t>
            </a:r>
            <a:endParaRPr lang="en-US" sz="1112" dirty="0"/>
          </a:p>
        </p:txBody>
      </p:sp>
      <p:sp>
        <p:nvSpPr>
          <p:cNvPr id="31" name="标题 30">
            <a:extLst>
              <a:ext uri="{FF2B5EF4-FFF2-40B4-BE49-F238E27FC236}">
                <a16:creationId xmlns:a16="http://schemas.microsoft.com/office/drawing/2014/main" id="{87C49F21-7715-2671-DE7B-A46CACD4AACB}"/>
              </a:ext>
            </a:extLst>
          </p:cNvPr>
          <p:cNvSpPr>
            <a:spLocks noGrp="1"/>
          </p:cNvSpPr>
          <p:nvPr>
            <p:ph type="title"/>
          </p:nvPr>
        </p:nvSpPr>
        <p:spPr/>
        <p:txBody>
          <a:bodyPr/>
          <a:lstStyle/>
          <a:p>
            <a:endParaRPr lang="zh-CN" altLang="en-US"/>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008019"/>
          </a:xfrm>
          <a:prstGeom prst="rect">
            <a:avLst/>
          </a:prstGeom>
        </p:spPr>
      </p:pic>
      <p:sp>
        <p:nvSpPr>
          <p:cNvPr id="3" name="Text 0"/>
          <p:cNvSpPr/>
          <p:nvPr/>
        </p:nvSpPr>
        <p:spPr>
          <a:xfrm>
            <a:off x="2453978" y="571501"/>
            <a:ext cx="7284045" cy="355931"/>
          </a:xfrm>
          <a:prstGeom prst="rect">
            <a:avLst/>
          </a:prstGeom>
          <a:noFill/>
          <a:ln/>
        </p:spPr>
        <p:txBody>
          <a:bodyPr wrap="none" lIns="0" tIns="0" rIns="0" bIns="0" rtlCol="0" anchor="t">
            <a:spAutoFit/>
          </a:bodyPr>
          <a:lstStyle/>
          <a:p>
            <a:pPr algn="ctr">
              <a:lnSpc>
                <a:spcPts val="2933"/>
              </a:lnSpc>
            </a:pPr>
            <a:r>
              <a:rPr lang="en-US" sz="2136" b="1" dirty="0">
                <a:solidFill>
                  <a:srgbClr val="0F172A"/>
                </a:solidFill>
                <a:latin typeface="Montserrat" pitchFamily="34" charset="0"/>
                <a:ea typeface="Montserrat" pitchFamily="34" charset="-122"/>
                <a:cs typeface="Montserrat" pitchFamily="34" charset="-120"/>
              </a:rPr>
              <a:t>Upstream and Downstream Process Control Limits</a:t>
            </a:r>
            <a:endParaRPr lang="en-US" sz="2136" dirty="0"/>
          </a:p>
        </p:txBody>
      </p:sp>
      <p:sp>
        <p:nvSpPr>
          <p:cNvPr id="4" name="Text 1"/>
          <p:cNvSpPr/>
          <p:nvPr/>
        </p:nvSpPr>
        <p:spPr>
          <a:xfrm>
            <a:off x="2464397" y="1133475"/>
            <a:ext cx="7263207" cy="233654"/>
          </a:xfrm>
          <a:prstGeom prst="rect">
            <a:avLst/>
          </a:prstGeom>
          <a:noFill/>
          <a:ln/>
        </p:spPr>
        <p:txBody>
          <a:bodyPr wrap="none" lIns="0" tIns="0" rIns="0" bIns="0" rtlCol="0" anchor="t">
            <a:spAutoFit/>
          </a:bodyPr>
          <a:lstStyle/>
          <a:p>
            <a:pPr algn="ctr">
              <a:lnSpc>
                <a:spcPts val="1867"/>
              </a:lnSpc>
            </a:pPr>
            <a:r>
              <a:rPr lang="en-US" sz="1400" dirty="0">
                <a:solidFill>
                  <a:srgbClr val="0D9488"/>
                </a:solidFill>
                <a:latin typeface="Open Sans" pitchFamily="34" charset="0"/>
                <a:ea typeface="Open Sans" pitchFamily="34" charset="-122"/>
                <a:cs typeface="Open Sans" pitchFamily="34" charset="-120"/>
              </a:rPr>
              <a:t>Tight control of environmental parameters minimizes the formation of charge variants.</a:t>
            </a:r>
            <a:endParaRPr lang="en-US" sz="1400" dirty="0"/>
          </a:p>
        </p:txBody>
      </p:sp>
      <p:sp>
        <p:nvSpPr>
          <p:cNvPr id="5" name="Text 2"/>
          <p:cNvSpPr/>
          <p:nvPr/>
        </p:nvSpPr>
        <p:spPr>
          <a:xfrm>
            <a:off x="1333501" y="1869282"/>
            <a:ext cx="2660985" cy="244747"/>
          </a:xfrm>
          <a:prstGeom prst="rect">
            <a:avLst/>
          </a:prstGeom>
          <a:noFill/>
          <a:ln/>
        </p:spPr>
        <p:txBody>
          <a:bodyPr wrap="none" lIns="0" tIns="0" rIns="0" bIns="0" rtlCol="0" anchor="t">
            <a:spAutoFit/>
          </a:bodyPr>
          <a:lstStyle/>
          <a:p>
            <a:pPr>
              <a:lnSpc>
                <a:spcPts val="2000"/>
              </a:lnSpc>
            </a:pPr>
            <a:r>
              <a:rPr lang="en-US" sz="1453" b="1" dirty="0">
                <a:solidFill>
                  <a:srgbClr val="0F172A"/>
                </a:solidFill>
                <a:latin typeface="Montserrat" pitchFamily="34" charset="0"/>
                <a:ea typeface="Montserrat" pitchFamily="34" charset="-122"/>
                <a:cs typeface="Montserrat" pitchFamily="34" charset="-120"/>
              </a:rPr>
              <a:t>Upstream Process Controls</a:t>
            </a:r>
            <a:endParaRPr lang="en-US" sz="1453" dirty="0"/>
          </a:p>
        </p:txBody>
      </p:sp>
      <p:sp>
        <p:nvSpPr>
          <p:cNvPr id="6" name="Shape 3"/>
          <p:cNvSpPr/>
          <p:nvPr/>
        </p:nvSpPr>
        <p:spPr>
          <a:xfrm>
            <a:off x="1338264" y="2271712"/>
            <a:ext cx="1962633" cy="461963"/>
          </a:xfrm>
          <a:prstGeom prst="rect">
            <a:avLst/>
          </a:prstGeom>
          <a:solidFill>
            <a:srgbClr val="0F172A"/>
          </a:solidFill>
          <a:ln w="9144">
            <a:solidFill>
              <a:srgbClr val="E2E8F0"/>
            </a:solidFill>
            <a:prstDash val="solid"/>
          </a:ln>
        </p:spPr>
      </p:sp>
      <p:sp>
        <p:nvSpPr>
          <p:cNvPr id="7" name="Text 4"/>
          <p:cNvSpPr/>
          <p:nvPr/>
        </p:nvSpPr>
        <p:spPr>
          <a:xfrm>
            <a:off x="1338264" y="2251352"/>
            <a:ext cx="1962633" cy="502682"/>
          </a:xfrm>
          <a:prstGeom prst="rect">
            <a:avLst/>
          </a:prstGeom>
          <a:noFill/>
          <a:ln/>
        </p:spPr>
        <p:txBody>
          <a:bodyPr wrap="square" lIns="158835" tIns="158835" rIns="158835" bIns="158835" rtlCol="0" anchor="ctr">
            <a:spAutoFit/>
          </a:bodyPr>
          <a:lstStyle/>
          <a:p>
            <a:pPr>
              <a:lnSpc>
                <a:spcPts val="1467"/>
              </a:lnSpc>
            </a:pPr>
            <a:r>
              <a:rPr lang="en-US" sz="1045" b="1" dirty="0">
                <a:solidFill>
                  <a:srgbClr val="F8FAFC"/>
                </a:solidFill>
                <a:latin typeface="Montserrat" pitchFamily="34" charset="0"/>
                <a:ea typeface="Montserrat" pitchFamily="34" charset="-122"/>
                <a:cs typeface="Montserrat" pitchFamily="34" charset="-120"/>
              </a:rPr>
              <a:t>Parameter</a:t>
            </a:r>
            <a:endParaRPr lang="en-US" sz="1045" dirty="0"/>
          </a:p>
        </p:txBody>
      </p:sp>
      <p:sp>
        <p:nvSpPr>
          <p:cNvPr id="8" name="Shape 5"/>
          <p:cNvSpPr/>
          <p:nvPr/>
        </p:nvSpPr>
        <p:spPr>
          <a:xfrm>
            <a:off x="3300896" y="2271712"/>
            <a:ext cx="1944403" cy="461963"/>
          </a:xfrm>
          <a:prstGeom prst="rect">
            <a:avLst/>
          </a:prstGeom>
          <a:solidFill>
            <a:srgbClr val="0F172A"/>
          </a:solidFill>
          <a:ln w="9144">
            <a:solidFill>
              <a:srgbClr val="E2E8F0"/>
            </a:solidFill>
            <a:prstDash val="solid"/>
          </a:ln>
        </p:spPr>
      </p:sp>
      <p:sp>
        <p:nvSpPr>
          <p:cNvPr id="9" name="Text 6"/>
          <p:cNvSpPr/>
          <p:nvPr/>
        </p:nvSpPr>
        <p:spPr>
          <a:xfrm>
            <a:off x="3300896" y="2251352"/>
            <a:ext cx="1944403" cy="502682"/>
          </a:xfrm>
          <a:prstGeom prst="rect">
            <a:avLst/>
          </a:prstGeom>
          <a:noFill/>
          <a:ln/>
        </p:spPr>
        <p:txBody>
          <a:bodyPr wrap="square" lIns="158835" tIns="158835" rIns="158835" bIns="158835" rtlCol="0" anchor="ctr">
            <a:spAutoFit/>
          </a:bodyPr>
          <a:lstStyle/>
          <a:p>
            <a:pPr>
              <a:lnSpc>
                <a:spcPts val="1467"/>
              </a:lnSpc>
            </a:pPr>
            <a:r>
              <a:rPr lang="en-US" sz="1045" b="1" dirty="0">
                <a:solidFill>
                  <a:srgbClr val="F8FAFC"/>
                </a:solidFill>
                <a:latin typeface="Montserrat" pitchFamily="34" charset="0"/>
                <a:ea typeface="Montserrat" pitchFamily="34" charset="-122"/>
                <a:cs typeface="Montserrat" pitchFamily="34" charset="-120"/>
              </a:rPr>
              <a:t>Control Range</a:t>
            </a:r>
            <a:endParaRPr lang="en-US" sz="1045" dirty="0"/>
          </a:p>
        </p:txBody>
      </p:sp>
      <p:sp>
        <p:nvSpPr>
          <p:cNvPr id="10" name="Shape 7"/>
          <p:cNvSpPr/>
          <p:nvPr/>
        </p:nvSpPr>
        <p:spPr>
          <a:xfrm>
            <a:off x="5245299" y="2271712"/>
            <a:ext cx="5608439" cy="461963"/>
          </a:xfrm>
          <a:prstGeom prst="rect">
            <a:avLst/>
          </a:prstGeom>
          <a:solidFill>
            <a:srgbClr val="0F172A"/>
          </a:solidFill>
          <a:ln w="9144">
            <a:solidFill>
              <a:srgbClr val="E2E8F0"/>
            </a:solidFill>
            <a:prstDash val="solid"/>
          </a:ln>
        </p:spPr>
      </p:sp>
      <p:sp>
        <p:nvSpPr>
          <p:cNvPr id="11" name="Text 8"/>
          <p:cNvSpPr/>
          <p:nvPr/>
        </p:nvSpPr>
        <p:spPr>
          <a:xfrm>
            <a:off x="5245299" y="2251352"/>
            <a:ext cx="5608439" cy="502682"/>
          </a:xfrm>
          <a:prstGeom prst="rect">
            <a:avLst/>
          </a:prstGeom>
          <a:noFill/>
          <a:ln/>
        </p:spPr>
        <p:txBody>
          <a:bodyPr wrap="square" lIns="158835" tIns="158835" rIns="158835" bIns="158835" rtlCol="0" anchor="ctr">
            <a:spAutoFit/>
          </a:bodyPr>
          <a:lstStyle/>
          <a:p>
            <a:pPr>
              <a:lnSpc>
                <a:spcPts val="1467"/>
              </a:lnSpc>
            </a:pPr>
            <a:r>
              <a:rPr lang="en-US" sz="1045" b="1" dirty="0">
                <a:solidFill>
                  <a:srgbClr val="F8FAFC"/>
                </a:solidFill>
                <a:latin typeface="Montserrat" pitchFamily="34" charset="0"/>
                <a:ea typeface="Montserrat" pitchFamily="34" charset="-122"/>
                <a:cs typeface="Montserrat" pitchFamily="34" charset="-120"/>
              </a:rPr>
              <a:t>Impact on Charge Variants</a:t>
            </a:r>
            <a:endParaRPr lang="en-US" sz="1045" dirty="0"/>
          </a:p>
        </p:txBody>
      </p:sp>
      <p:sp>
        <p:nvSpPr>
          <p:cNvPr id="12" name="Shape 9"/>
          <p:cNvSpPr/>
          <p:nvPr/>
        </p:nvSpPr>
        <p:spPr>
          <a:xfrm>
            <a:off x="1338264" y="2724151"/>
            <a:ext cx="1962633" cy="471488"/>
          </a:xfrm>
          <a:prstGeom prst="rect">
            <a:avLst/>
          </a:prstGeom>
          <a:solidFill>
            <a:srgbClr val="FFFFFF"/>
          </a:solidFill>
          <a:ln w="9144">
            <a:solidFill>
              <a:srgbClr val="E2E8F0"/>
            </a:solidFill>
            <a:prstDash val="solid"/>
          </a:ln>
        </p:spPr>
      </p:sp>
      <p:sp>
        <p:nvSpPr>
          <p:cNvPr id="13" name="Text 10"/>
          <p:cNvSpPr/>
          <p:nvPr/>
        </p:nvSpPr>
        <p:spPr>
          <a:xfrm>
            <a:off x="1471612" y="2859882"/>
            <a:ext cx="868828" cy="160685"/>
          </a:xfrm>
          <a:prstGeom prst="rect">
            <a:avLst/>
          </a:prstGeom>
          <a:noFill/>
          <a:ln/>
        </p:spPr>
        <p:txBody>
          <a:bodyPr wrap="none" lIns="0" tIns="0" rIns="0" bIns="0" rtlCol="0" anchor="t">
            <a:spAutoFit/>
          </a:bodyPr>
          <a:lstStyle/>
          <a:p>
            <a:pPr>
              <a:lnSpc>
                <a:spcPts val="1333"/>
              </a:lnSpc>
            </a:pPr>
            <a:r>
              <a:rPr lang="en-US" sz="979" b="1" dirty="0">
                <a:solidFill>
                  <a:srgbClr val="0D9488"/>
                </a:solidFill>
                <a:latin typeface="Open Sans" pitchFamily="34" charset="0"/>
                <a:ea typeface="Open Sans" pitchFamily="34" charset="-122"/>
                <a:cs typeface="Open Sans" pitchFamily="34" charset="-120"/>
              </a:rPr>
              <a:t>Bioreactor pH</a:t>
            </a:r>
            <a:endParaRPr lang="en-US" sz="979" dirty="0"/>
          </a:p>
        </p:txBody>
      </p:sp>
      <p:sp>
        <p:nvSpPr>
          <p:cNvPr id="14" name="Shape 11"/>
          <p:cNvSpPr/>
          <p:nvPr/>
        </p:nvSpPr>
        <p:spPr>
          <a:xfrm>
            <a:off x="3300896" y="2724151"/>
            <a:ext cx="1944403" cy="471488"/>
          </a:xfrm>
          <a:prstGeom prst="rect">
            <a:avLst/>
          </a:prstGeom>
          <a:solidFill>
            <a:srgbClr val="FFFFFF"/>
          </a:solidFill>
          <a:ln w="9144">
            <a:solidFill>
              <a:srgbClr val="E2E8F0"/>
            </a:solidFill>
            <a:prstDash val="solid"/>
          </a:ln>
        </p:spPr>
      </p:sp>
      <p:sp>
        <p:nvSpPr>
          <p:cNvPr id="15" name="Text 12"/>
          <p:cNvSpPr/>
          <p:nvPr/>
        </p:nvSpPr>
        <p:spPr>
          <a:xfrm>
            <a:off x="3300896" y="2718076"/>
            <a:ext cx="1944403" cy="483637"/>
          </a:xfrm>
          <a:prstGeom prst="rect">
            <a:avLst/>
          </a:prstGeom>
          <a:noFill/>
          <a:ln/>
        </p:spPr>
        <p:txBody>
          <a:bodyPr wrap="square" lIns="158835" tIns="158835" rIns="158835" bIns="158835" rtlCol="0" anchor="ctr">
            <a:spAutoFit/>
          </a:bodyPr>
          <a:lstStyle/>
          <a:p>
            <a:pPr>
              <a:lnSpc>
                <a:spcPts val="1333"/>
              </a:lnSpc>
            </a:pPr>
            <a:r>
              <a:rPr lang="en-US" sz="1040" dirty="0">
                <a:solidFill>
                  <a:srgbClr val="334155"/>
                </a:solidFill>
                <a:latin typeface="Open Sans" pitchFamily="34" charset="0"/>
                <a:ea typeface="Open Sans" pitchFamily="34" charset="-122"/>
                <a:cs typeface="Open Sans" pitchFamily="34" charset="-120"/>
              </a:rPr>
              <a:t>6.8 - 7.2</a:t>
            </a:r>
            <a:endParaRPr lang="en-US" sz="1040" dirty="0"/>
          </a:p>
        </p:txBody>
      </p:sp>
      <p:sp>
        <p:nvSpPr>
          <p:cNvPr id="16" name="Shape 13"/>
          <p:cNvSpPr/>
          <p:nvPr/>
        </p:nvSpPr>
        <p:spPr>
          <a:xfrm>
            <a:off x="5245299" y="2724151"/>
            <a:ext cx="5608439" cy="471488"/>
          </a:xfrm>
          <a:prstGeom prst="rect">
            <a:avLst/>
          </a:prstGeom>
          <a:solidFill>
            <a:srgbClr val="FFFFFF"/>
          </a:solidFill>
          <a:ln w="9144">
            <a:solidFill>
              <a:srgbClr val="E2E8F0"/>
            </a:solidFill>
            <a:prstDash val="solid"/>
          </a:ln>
        </p:spPr>
      </p:sp>
      <p:sp>
        <p:nvSpPr>
          <p:cNvPr id="17" name="Text 14"/>
          <p:cNvSpPr/>
          <p:nvPr/>
        </p:nvSpPr>
        <p:spPr>
          <a:xfrm>
            <a:off x="5245299" y="2718076"/>
            <a:ext cx="5608439" cy="483637"/>
          </a:xfrm>
          <a:prstGeom prst="rect">
            <a:avLst/>
          </a:prstGeom>
          <a:noFill/>
          <a:ln/>
        </p:spPr>
        <p:txBody>
          <a:bodyPr wrap="square" lIns="158835" tIns="158835" rIns="158835" bIns="158835" rtlCol="0" anchor="ctr">
            <a:spAutoFit/>
          </a:bodyPr>
          <a:lstStyle/>
          <a:p>
            <a:pPr>
              <a:lnSpc>
                <a:spcPts val="1333"/>
              </a:lnSpc>
            </a:pPr>
            <a:r>
              <a:rPr lang="en-US" sz="1040" dirty="0">
                <a:solidFill>
                  <a:srgbClr val="334155"/>
                </a:solidFill>
                <a:latin typeface="Open Sans" pitchFamily="34" charset="0"/>
                <a:ea typeface="Open Sans" pitchFamily="34" charset="-122"/>
                <a:cs typeface="Open Sans" pitchFamily="34" charset="-120"/>
              </a:rPr>
              <a:t>Critical for controlling deamidation rates of Asn residues.</a:t>
            </a:r>
            <a:endParaRPr lang="en-US" sz="1040" dirty="0"/>
          </a:p>
        </p:txBody>
      </p:sp>
      <p:sp>
        <p:nvSpPr>
          <p:cNvPr id="18" name="Shape 15"/>
          <p:cNvSpPr/>
          <p:nvPr/>
        </p:nvSpPr>
        <p:spPr>
          <a:xfrm>
            <a:off x="1338264" y="3186112"/>
            <a:ext cx="1962633" cy="471488"/>
          </a:xfrm>
          <a:prstGeom prst="rect">
            <a:avLst/>
          </a:prstGeom>
          <a:solidFill>
            <a:srgbClr val="F1F5F9"/>
          </a:solidFill>
          <a:ln w="9144">
            <a:solidFill>
              <a:srgbClr val="E2E8F0"/>
            </a:solidFill>
            <a:prstDash val="solid"/>
          </a:ln>
        </p:spPr>
      </p:sp>
      <p:sp>
        <p:nvSpPr>
          <p:cNvPr id="19" name="Text 16"/>
          <p:cNvSpPr/>
          <p:nvPr/>
        </p:nvSpPr>
        <p:spPr>
          <a:xfrm>
            <a:off x="1471612" y="3321845"/>
            <a:ext cx="823944" cy="160685"/>
          </a:xfrm>
          <a:prstGeom prst="rect">
            <a:avLst/>
          </a:prstGeom>
          <a:noFill/>
          <a:ln/>
        </p:spPr>
        <p:txBody>
          <a:bodyPr wrap="none" lIns="0" tIns="0" rIns="0" bIns="0" rtlCol="0" anchor="t">
            <a:spAutoFit/>
          </a:bodyPr>
          <a:lstStyle/>
          <a:p>
            <a:pPr>
              <a:lnSpc>
                <a:spcPts val="1333"/>
              </a:lnSpc>
            </a:pPr>
            <a:r>
              <a:rPr lang="en-US" sz="979" b="1" dirty="0">
                <a:solidFill>
                  <a:srgbClr val="0D9488"/>
                </a:solidFill>
                <a:latin typeface="Open Sans" pitchFamily="34" charset="0"/>
                <a:ea typeface="Open Sans" pitchFamily="34" charset="-122"/>
                <a:cs typeface="Open Sans" pitchFamily="34" charset="-120"/>
              </a:rPr>
              <a:t>Temperature</a:t>
            </a:r>
            <a:endParaRPr lang="en-US" sz="979" dirty="0"/>
          </a:p>
        </p:txBody>
      </p:sp>
      <p:sp>
        <p:nvSpPr>
          <p:cNvPr id="20" name="Shape 17"/>
          <p:cNvSpPr/>
          <p:nvPr/>
        </p:nvSpPr>
        <p:spPr>
          <a:xfrm>
            <a:off x="3300896" y="3186112"/>
            <a:ext cx="1944403" cy="471488"/>
          </a:xfrm>
          <a:prstGeom prst="rect">
            <a:avLst/>
          </a:prstGeom>
          <a:solidFill>
            <a:srgbClr val="F1F5F9"/>
          </a:solidFill>
          <a:ln w="9144">
            <a:solidFill>
              <a:srgbClr val="E2E8F0"/>
            </a:solidFill>
            <a:prstDash val="solid"/>
          </a:ln>
        </p:spPr>
      </p:sp>
      <p:sp>
        <p:nvSpPr>
          <p:cNvPr id="21" name="Text 18"/>
          <p:cNvSpPr/>
          <p:nvPr/>
        </p:nvSpPr>
        <p:spPr>
          <a:xfrm>
            <a:off x="3300896" y="3180038"/>
            <a:ext cx="1944403" cy="483637"/>
          </a:xfrm>
          <a:prstGeom prst="rect">
            <a:avLst/>
          </a:prstGeom>
          <a:noFill/>
          <a:ln/>
        </p:spPr>
        <p:txBody>
          <a:bodyPr wrap="square" lIns="158835" tIns="158835" rIns="158835" bIns="158835" rtlCol="0" anchor="ctr">
            <a:spAutoFit/>
          </a:bodyPr>
          <a:lstStyle/>
          <a:p>
            <a:pPr>
              <a:lnSpc>
                <a:spcPts val="1333"/>
              </a:lnSpc>
            </a:pPr>
            <a:r>
              <a:rPr lang="en-US" sz="1040" dirty="0">
                <a:solidFill>
                  <a:srgbClr val="334155"/>
                </a:solidFill>
                <a:latin typeface="Open Sans" pitchFamily="34" charset="0"/>
                <a:ea typeface="Open Sans" pitchFamily="34" charset="-122"/>
                <a:cs typeface="Open Sans" pitchFamily="34" charset="-120"/>
              </a:rPr>
              <a:t>32 - 37°C</a:t>
            </a:r>
            <a:endParaRPr lang="en-US" sz="1040" dirty="0"/>
          </a:p>
        </p:txBody>
      </p:sp>
      <p:sp>
        <p:nvSpPr>
          <p:cNvPr id="22" name="Shape 19"/>
          <p:cNvSpPr/>
          <p:nvPr/>
        </p:nvSpPr>
        <p:spPr>
          <a:xfrm>
            <a:off x="5245299" y="3186112"/>
            <a:ext cx="5608439" cy="471488"/>
          </a:xfrm>
          <a:prstGeom prst="rect">
            <a:avLst/>
          </a:prstGeom>
          <a:solidFill>
            <a:srgbClr val="F1F5F9"/>
          </a:solidFill>
          <a:ln w="9144">
            <a:solidFill>
              <a:srgbClr val="E2E8F0"/>
            </a:solidFill>
            <a:prstDash val="solid"/>
          </a:ln>
        </p:spPr>
      </p:sp>
      <p:sp>
        <p:nvSpPr>
          <p:cNvPr id="23" name="Text 20"/>
          <p:cNvSpPr/>
          <p:nvPr/>
        </p:nvSpPr>
        <p:spPr>
          <a:xfrm>
            <a:off x="5245299" y="3180038"/>
            <a:ext cx="5608439" cy="483637"/>
          </a:xfrm>
          <a:prstGeom prst="rect">
            <a:avLst/>
          </a:prstGeom>
          <a:noFill/>
          <a:ln/>
        </p:spPr>
        <p:txBody>
          <a:bodyPr wrap="square" lIns="158835" tIns="158835" rIns="158835" bIns="158835" rtlCol="0" anchor="ctr">
            <a:spAutoFit/>
          </a:bodyPr>
          <a:lstStyle/>
          <a:p>
            <a:pPr>
              <a:lnSpc>
                <a:spcPts val="1333"/>
              </a:lnSpc>
            </a:pPr>
            <a:r>
              <a:rPr lang="en-US" sz="1040" dirty="0">
                <a:solidFill>
                  <a:srgbClr val="334155"/>
                </a:solidFill>
                <a:latin typeface="Open Sans" pitchFamily="34" charset="0"/>
                <a:ea typeface="Open Sans" pitchFamily="34" charset="-122"/>
                <a:cs typeface="Open Sans" pitchFamily="34" charset="-120"/>
              </a:rPr>
              <a:t>Directly affects degradation kinetics and PTM accumulation.</a:t>
            </a:r>
            <a:endParaRPr lang="en-US" sz="1040" dirty="0"/>
          </a:p>
        </p:txBody>
      </p:sp>
      <p:sp>
        <p:nvSpPr>
          <p:cNvPr id="24" name="Shape 21"/>
          <p:cNvSpPr/>
          <p:nvPr/>
        </p:nvSpPr>
        <p:spPr>
          <a:xfrm>
            <a:off x="1338264" y="3648075"/>
            <a:ext cx="1962633" cy="471488"/>
          </a:xfrm>
          <a:prstGeom prst="rect">
            <a:avLst/>
          </a:prstGeom>
          <a:solidFill>
            <a:srgbClr val="FFFFFF"/>
          </a:solidFill>
          <a:ln w="9144">
            <a:solidFill>
              <a:srgbClr val="E2E8F0"/>
            </a:solidFill>
            <a:prstDash val="solid"/>
          </a:ln>
        </p:spPr>
      </p:sp>
      <p:sp>
        <p:nvSpPr>
          <p:cNvPr id="25" name="Text 22"/>
          <p:cNvSpPr/>
          <p:nvPr/>
        </p:nvSpPr>
        <p:spPr>
          <a:xfrm>
            <a:off x="1466851" y="3786189"/>
            <a:ext cx="1210268" cy="160685"/>
          </a:xfrm>
          <a:prstGeom prst="rect">
            <a:avLst/>
          </a:prstGeom>
          <a:noFill/>
          <a:ln/>
        </p:spPr>
        <p:txBody>
          <a:bodyPr wrap="none" lIns="0" tIns="0" rIns="0" bIns="0" rtlCol="0" anchor="t">
            <a:spAutoFit/>
          </a:bodyPr>
          <a:lstStyle/>
          <a:p>
            <a:pPr>
              <a:lnSpc>
                <a:spcPts val="1333"/>
              </a:lnSpc>
            </a:pPr>
            <a:r>
              <a:rPr lang="en-US" sz="979" b="1" dirty="0">
                <a:solidFill>
                  <a:srgbClr val="0D9488"/>
                </a:solidFill>
                <a:latin typeface="Open Sans" pitchFamily="34" charset="0"/>
                <a:ea typeface="Open Sans" pitchFamily="34" charset="-122"/>
                <a:cs typeface="Open Sans" pitchFamily="34" charset="-120"/>
              </a:rPr>
              <a:t>Media Components</a:t>
            </a:r>
            <a:endParaRPr lang="en-US" sz="979" dirty="0"/>
          </a:p>
        </p:txBody>
      </p:sp>
      <p:sp>
        <p:nvSpPr>
          <p:cNvPr id="26" name="Shape 23"/>
          <p:cNvSpPr/>
          <p:nvPr/>
        </p:nvSpPr>
        <p:spPr>
          <a:xfrm>
            <a:off x="3292264" y="3648075"/>
            <a:ext cx="1946597" cy="471488"/>
          </a:xfrm>
          <a:prstGeom prst="rect">
            <a:avLst/>
          </a:prstGeom>
          <a:solidFill>
            <a:srgbClr val="FFFFFF"/>
          </a:solidFill>
          <a:ln w="9144">
            <a:solidFill>
              <a:srgbClr val="E2E8F0"/>
            </a:solidFill>
            <a:prstDash val="solid"/>
          </a:ln>
        </p:spPr>
      </p:sp>
      <p:sp>
        <p:nvSpPr>
          <p:cNvPr id="27" name="Text 24"/>
          <p:cNvSpPr/>
          <p:nvPr/>
        </p:nvSpPr>
        <p:spPr>
          <a:xfrm>
            <a:off x="3292264" y="3642000"/>
            <a:ext cx="1946597" cy="483637"/>
          </a:xfrm>
          <a:prstGeom prst="rect">
            <a:avLst/>
          </a:prstGeom>
          <a:noFill/>
          <a:ln/>
        </p:spPr>
        <p:txBody>
          <a:bodyPr wrap="square" lIns="158835" tIns="158835" rIns="158835" bIns="158835" rtlCol="0" anchor="ctr">
            <a:spAutoFit/>
          </a:bodyPr>
          <a:lstStyle/>
          <a:p>
            <a:pPr>
              <a:lnSpc>
                <a:spcPts val="1333"/>
              </a:lnSpc>
            </a:pPr>
            <a:r>
              <a:rPr lang="en-US" sz="1040" dirty="0">
                <a:solidFill>
                  <a:srgbClr val="334155"/>
                </a:solidFill>
                <a:latin typeface="Open Sans" pitchFamily="34" charset="0"/>
                <a:ea typeface="Open Sans" pitchFamily="34" charset="-122"/>
                <a:cs typeface="Open Sans" pitchFamily="34" charset="-120"/>
              </a:rPr>
              <a:t>Optimized Cysteine</a:t>
            </a:r>
            <a:endParaRPr lang="en-US" sz="1040" dirty="0"/>
          </a:p>
        </p:txBody>
      </p:sp>
      <p:sp>
        <p:nvSpPr>
          <p:cNvPr id="28" name="Shape 25"/>
          <p:cNvSpPr/>
          <p:nvPr/>
        </p:nvSpPr>
        <p:spPr>
          <a:xfrm>
            <a:off x="5231718" y="3648075"/>
            <a:ext cx="5622020" cy="471488"/>
          </a:xfrm>
          <a:prstGeom prst="rect">
            <a:avLst/>
          </a:prstGeom>
          <a:solidFill>
            <a:srgbClr val="FFFFFF"/>
          </a:solidFill>
          <a:ln w="9144">
            <a:solidFill>
              <a:srgbClr val="E2E8F0"/>
            </a:solidFill>
            <a:prstDash val="solid"/>
          </a:ln>
        </p:spPr>
      </p:sp>
      <p:sp>
        <p:nvSpPr>
          <p:cNvPr id="29" name="Text 26"/>
          <p:cNvSpPr/>
          <p:nvPr/>
        </p:nvSpPr>
        <p:spPr>
          <a:xfrm>
            <a:off x="5231718" y="3642000"/>
            <a:ext cx="5622020" cy="483637"/>
          </a:xfrm>
          <a:prstGeom prst="rect">
            <a:avLst/>
          </a:prstGeom>
          <a:noFill/>
          <a:ln/>
        </p:spPr>
        <p:txBody>
          <a:bodyPr wrap="square" lIns="158835" tIns="158835" rIns="158835" bIns="158835" rtlCol="0" anchor="ctr">
            <a:spAutoFit/>
          </a:bodyPr>
          <a:lstStyle/>
          <a:p>
            <a:pPr>
              <a:lnSpc>
                <a:spcPts val="1333"/>
              </a:lnSpc>
            </a:pPr>
            <a:r>
              <a:rPr lang="en-US" sz="1040" dirty="0">
                <a:solidFill>
                  <a:srgbClr val="334155"/>
                </a:solidFill>
                <a:latin typeface="Open Sans" pitchFamily="34" charset="0"/>
                <a:ea typeface="Open Sans" pitchFamily="34" charset="-122"/>
                <a:cs typeface="Open Sans" pitchFamily="34" charset="-120"/>
              </a:rPr>
              <a:t>Prevents disulfide bond disruption and acidic species formation.</a:t>
            </a:r>
            <a:endParaRPr lang="en-US" sz="1040" dirty="0"/>
          </a:p>
        </p:txBody>
      </p:sp>
      <p:sp>
        <p:nvSpPr>
          <p:cNvPr id="30" name="Text 27"/>
          <p:cNvSpPr/>
          <p:nvPr/>
        </p:nvSpPr>
        <p:spPr>
          <a:xfrm>
            <a:off x="1333501" y="4486276"/>
            <a:ext cx="2963953" cy="244747"/>
          </a:xfrm>
          <a:prstGeom prst="rect">
            <a:avLst/>
          </a:prstGeom>
          <a:noFill/>
          <a:ln/>
        </p:spPr>
        <p:txBody>
          <a:bodyPr wrap="none" lIns="0" tIns="0" rIns="0" bIns="0" rtlCol="0" anchor="t">
            <a:spAutoFit/>
          </a:bodyPr>
          <a:lstStyle/>
          <a:p>
            <a:pPr>
              <a:lnSpc>
                <a:spcPts val="2000"/>
              </a:lnSpc>
            </a:pPr>
            <a:r>
              <a:rPr lang="en-US" sz="1453" b="1" dirty="0">
                <a:solidFill>
                  <a:srgbClr val="0F172A"/>
                </a:solidFill>
                <a:latin typeface="Montserrat" pitchFamily="34" charset="0"/>
                <a:ea typeface="Montserrat" pitchFamily="34" charset="-122"/>
                <a:cs typeface="Montserrat" pitchFamily="34" charset="-120"/>
              </a:rPr>
              <a:t>Downstream Process Controls</a:t>
            </a:r>
            <a:endParaRPr lang="en-US" sz="1453" dirty="0"/>
          </a:p>
        </p:txBody>
      </p:sp>
      <p:sp>
        <p:nvSpPr>
          <p:cNvPr id="31" name="Shape 28"/>
          <p:cNvSpPr/>
          <p:nvPr/>
        </p:nvSpPr>
        <p:spPr>
          <a:xfrm>
            <a:off x="1338263" y="4888707"/>
            <a:ext cx="1767445" cy="461963"/>
          </a:xfrm>
          <a:prstGeom prst="rect">
            <a:avLst/>
          </a:prstGeom>
          <a:solidFill>
            <a:srgbClr val="0F172A"/>
          </a:solidFill>
          <a:ln w="9144">
            <a:solidFill>
              <a:srgbClr val="E2E8F0"/>
            </a:solidFill>
            <a:prstDash val="solid"/>
          </a:ln>
        </p:spPr>
      </p:sp>
      <p:sp>
        <p:nvSpPr>
          <p:cNvPr id="32" name="Text 29"/>
          <p:cNvSpPr/>
          <p:nvPr/>
        </p:nvSpPr>
        <p:spPr>
          <a:xfrm>
            <a:off x="1338263" y="4868347"/>
            <a:ext cx="1767445" cy="502682"/>
          </a:xfrm>
          <a:prstGeom prst="rect">
            <a:avLst/>
          </a:prstGeom>
          <a:noFill/>
          <a:ln/>
        </p:spPr>
        <p:txBody>
          <a:bodyPr wrap="square" lIns="158835" tIns="158835" rIns="158835" bIns="158835" rtlCol="0" anchor="ctr">
            <a:spAutoFit/>
          </a:bodyPr>
          <a:lstStyle/>
          <a:p>
            <a:pPr>
              <a:lnSpc>
                <a:spcPts val="1467"/>
              </a:lnSpc>
            </a:pPr>
            <a:r>
              <a:rPr lang="en-US" sz="1045" b="1" dirty="0">
                <a:solidFill>
                  <a:srgbClr val="F8FAFC"/>
                </a:solidFill>
                <a:latin typeface="Montserrat" pitchFamily="34" charset="0"/>
                <a:ea typeface="Montserrat" pitchFamily="34" charset="-122"/>
                <a:cs typeface="Montserrat" pitchFamily="34" charset="-120"/>
              </a:rPr>
              <a:t>Parameter</a:t>
            </a:r>
            <a:endParaRPr lang="en-US" sz="1045" dirty="0"/>
          </a:p>
        </p:txBody>
      </p:sp>
      <p:sp>
        <p:nvSpPr>
          <p:cNvPr id="33" name="Shape 30"/>
          <p:cNvSpPr/>
          <p:nvPr/>
        </p:nvSpPr>
        <p:spPr>
          <a:xfrm>
            <a:off x="3105709" y="4888707"/>
            <a:ext cx="1985329" cy="461963"/>
          </a:xfrm>
          <a:prstGeom prst="rect">
            <a:avLst/>
          </a:prstGeom>
          <a:solidFill>
            <a:srgbClr val="0F172A"/>
          </a:solidFill>
          <a:ln w="9144">
            <a:solidFill>
              <a:srgbClr val="E2E8F0"/>
            </a:solidFill>
            <a:prstDash val="solid"/>
          </a:ln>
        </p:spPr>
      </p:sp>
      <p:sp>
        <p:nvSpPr>
          <p:cNvPr id="34" name="Text 31"/>
          <p:cNvSpPr/>
          <p:nvPr/>
        </p:nvSpPr>
        <p:spPr>
          <a:xfrm>
            <a:off x="3105709" y="4868347"/>
            <a:ext cx="1985329" cy="502682"/>
          </a:xfrm>
          <a:prstGeom prst="rect">
            <a:avLst/>
          </a:prstGeom>
          <a:noFill/>
          <a:ln/>
        </p:spPr>
        <p:txBody>
          <a:bodyPr wrap="square" lIns="158835" tIns="158835" rIns="158835" bIns="158835" rtlCol="0" anchor="ctr">
            <a:spAutoFit/>
          </a:bodyPr>
          <a:lstStyle/>
          <a:p>
            <a:pPr>
              <a:lnSpc>
                <a:spcPts val="1467"/>
              </a:lnSpc>
            </a:pPr>
            <a:r>
              <a:rPr lang="en-US" sz="1045" b="1" dirty="0">
                <a:solidFill>
                  <a:srgbClr val="F8FAFC"/>
                </a:solidFill>
                <a:latin typeface="Montserrat" pitchFamily="34" charset="0"/>
                <a:ea typeface="Montserrat" pitchFamily="34" charset="-122"/>
                <a:cs typeface="Montserrat" pitchFamily="34" charset="-120"/>
              </a:rPr>
              <a:t>Control Strategy</a:t>
            </a:r>
            <a:endParaRPr lang="en-US" sz="1045" dirty="0"/>
          </a:p>
        </p:txBody>
      </p:sp>
      <p:sp>
        <p:nvSpPr>
          <p:cNvPr id="35" name="Shape 32"/>
          <p:cNvSpPr/>
          <p:nvPr/>
        </p:nvSpPr>
        <p:spPr>
          <a:xfrm>
            <a:off x="5087318" y="4888707"/>
            <a:ext cx="5766420" cy="461963"/>
          </a:xfrm>
          <a:prstGeom prst="rect">
            <a:avLst/>
          </a:prstGeom>
          <a:solidFill>
            <a:srgbClr val="0F172A"/>
          </a:solidFill>
          <a:ln w="9144">
            <a:solidFill>
              <a:srgbClr val="E2E8F0"/>
            </a:solidFill>
            <a:prstDash val="solid"/>
          </a:ln>
        </p:spPr>
      </p:sp>
      <p:sp>
        <p:nvSpPr>
          <p:cNvPr id="36" name="Text 33"/>
          <p:cNvSpPr/>
          <p:nvPr/>
        </p:nvSpPr>
        <p:spPr>
          <a:xfrm>
            <a:off x="5087318" y="4868347"/>
            <a:ext cx="5766420" cy="502682"/>
          </a:xfrm>
          <a:prstGeom prst="rect">
            <a:avLst/>
          </a:prstGeom>
          <a:noFill/>
          <a:ln/>
        </p:spPr>
        <p:txBody>
          <a:bodyPr wrap="square" lIns="158835" tIns="158835" rIns="158835" bIns="158835" rtlCol="0" anchor="ctr">
            <a:spAutoFit/>
          </a:bodyPr>
          <a:lstStyle/>
          <a:p>
            <a:pPr>
              <a:lnSpc>
                <a:spcPts val="1467"/>
              </a:lnSpc>
            </a:pPr>
            <a:r>
              <a:rPr lang="en-US" sz="1045" b="1" dirty="0">
                <a:solidFill>
                  <a:srgbClr val="F8FAFC"/>
                </a:solidFill>
                <a:latin typeface="Montserrat" pitchFamily="34" charset="0"/>
                <a:ea typeface="Montserrat" pitchFamily="34" charset="-122"/>
                <a:cs typeface="Montserrat" pitchFamily="34" charset="-120"/>
              </a:rPr>
              <a:t>Impact on Charge Variants</a:t>
            </a:r>
            <a:endParaRPr lang="en-US" sz="1045" dirty="0"/>
          </a:p>
        </p:txBody>
      </p:sp>
      <p:sp>
        <p:nvSpPr>
          <p:cNvPr id="37" name="Shape 34"/>
          <p:cNvSpPr/>
          <p:nvPr/>
        </p:nvSpPr>
        <p:spPr>
          <a:xfrm>
            <a:off x="1338263" y="5341144"/>
            <a:ext cx="1769715" cy="471488"/>
          </a:xfrm>
          <a:prstGeom prst="rect">
            <a:avLst/>
          </a:prstGeom>
          <a:solidFill>
            <a:srgbClr val="FFFFFF"/>
          </a:solidFill>
          <a:ln w="9144">
            <a:solidFill>
              <a:srgbClr val="E2E8F0"/>
            </a:solidFill>
            <a:prstDash val="solid"/>
          </a:ln>
        </p:spPr>
      </p:sp>
      <p:sp>
        <p:nvSpPr>
          <p:cNvPr id="38" name="Text 35"/>
          <p:cNvSpPr/>
          <p:nvPr/>
        </p:nvSpPr>
        <p:spPr>
          <a:xfrm>
            <a:off x="1471612" y="5476875"/>
            <a:ext cx="1048364" cy="160685"/>
          </a:xfrm>
          <a:prstGeom prst="rect">
            <a:avLst/>
          </a:prstGeom>
          <a:noFill/>
          <a:ln/>
        </p:spPr>
        <p:txBody>
          <a:bodyPr wrap="none" lIns="0" tIns="0" rIns="0" bIns="0" rtlCol="0" anchor="t">
            <a:spAutoFit/>
          </a:bodyPr>
          <a:lstStyle/>
          <a:p>
            <a:pPr>
              <a:lnSpc>
                <a:spcPts val="1333"/>
              </a:lnSpc>
            </a:pPr>
            <a:r>
              <a:rPr lang="en-US" sz="979" b="1" dirty="0">
                <a:solidFill>
                  <a:srgbClr val="0D9488"/>
                </a:solidFill>
                <a:latin typeface="Open Sans" pitchFamily="34" charset="0"/>
                <a:ea typeface="Open Sans" pitchFamily="34" charset="-122"/>
                <a:cs typeface="Open Sans" pitchFamily="34" charset="-120"/>
              </a:rPr>
              <a:t>Processing Temp</a:t>
            </a:r>
            <a:endParaRPr lang="en-US" sz="979" dirty="0"/>
          </a:p>
        </p:txBody>
      </p:sp>
      <p:sp>
        <p:nvSpPr>
          <p:cNvPr id="39" name="Shape 36"/>
          <p:cNvSpPr/>
          <p:nvPr/>
        </p:nvSpPr>
        <p:spPr>
          <a:xfrm>
            <a:off x="3102993" y="5341144"/>
            <a:ext cx="1976847" cy="471488"/>
          </a:xfrm>
          <a:prstGeom prst="rect">
            <a:avLst/>
          </a:prstGeom>
          <a:solidFill>
            <a:srgbClr val="FFFFFF"/>
          </a:solidFill>
          <a:ln w="9144">
            <a:solidFill>
              <a:srgbClr val="E2E8F0"/>
            </a:solidFill>
            <a:prstDash val="solid"/>
          </a:ln>
        </p:spPr>
      </p:sp>
      <p:sp>
        <p:nvSpPr>
          <p:cNvPr id="40" name="Text 37"/>
          <p:cNvSpPr/>
          <p:nvPr/>
        </p:nvSpPr>
        <p:spPr>
          <a:xfrm>
            <a:off x="3102993" y="5335070"/>
            <a:ext cx="1976847" cy="483637"/>
          </a:xfrm>
          <a:prstGeom prst="rect">
            <a:avLst/>
          </a:prstGeom>
          <a:noFill/>
          <a:ln/>
        </p:spPr>
        <p:txBody>
          <a:bodyPr wrap="square" lIns="158835" tIns="158835" rIns="158835" bIns="158835" rtlCol="0" anchor="ctr">
            <a:spAutoFit/>
          </a:bodyPr>
          <a:lstStyle/>
          <a:p>
            <a:pPr>
              <a:lnSpc>
                <a:spcPts val="1333"/>
              </a:lnSpc>
            </a:pPr>
            <a:r>
              <a:rPr lang="en-US" sz="1040" dirty="0">
                <a:solidFill>
                  <a:srgbClr val="334155"/>
                </a:solidFill>
                <a:latin typeface="Open Sans" pitchFamily="34" charset="0"/>
                <a:ea typeface="Open Sans" pitchFamily="34" charset="-122"/>
                <a:cs typeface="Open Sans" pitchFamily="34" charset="-120"/>
              </a:rPr>
              <a:t>2 - 8°C</a:t>
            </a:r>
            <a:endParaRPr lang="en-US" sz="1040" dirty="0"/>
          </a:p>
        </p:txBody>
      </p:sp>
      <p:sp>
        <p:nvSpPr>
          <p:cNvPr id="41" name="Shape 38"/>
          <p:cNvSpPr/>
          <p:nvPr/>
        </p:nvSpPr>
        <p:spPr>
          <a:xfrm>
            <a:off x="5076119" y="5341144"/>
            <a:ext cx="5777620" cy="471488"/>
          </a:xfrm>
          <a:prstGeom prst="rect">
            <a:avLst/>
          </a:prstGeom>
          <a:solidFill>
            <a:srgbClr val="FFFFFF"/>
          </a:solidFill>
          <a:ln w="9144">
            <a:solidFill>
              <a:srgbClr val="E2E8F0"/>
            </a:solidFill>
            <a:prstDash val="solid"/>
          </a:ln>
        </p:spPr>
      </p:sp>
      <p:sp>
        <p:nvSpPr>
          <p:cNvPr id="42" name="Text 39"/>
          <p:cNvSpPr/>
          <p:nvPr/>
        </p:nvSpPr>
        <p:spPr>
          <a:xfrm>
            <a:off x="5076119" y="5335070"/>
            <a:ext cx="5777620" cy="483637"/>
          </a:xfrm>
          <a:prstGeom prst="rect">
            <a:avLst/>
          </a:prstGeom>
          <a:noFill/>
          <a:ln/>
        </p:spPr>
        <p:txBody>
          <a:bodyPr wrap="square" lIns="158835" tIns="158835" rIns="158835" bIns="158835" rtlCol="0" anchor="ctr">
            <a:spAutoFit/>
          </a:bodyPr>
          <a:lstStyle/>
          <a:p>
            <a:pPr>
              <a:lnSpc>
                <a:spcPts val="1333"/>
              </a:lnSpc>
            </a:pPr>
            <a:r>
              <a:rPr lang="en-US" sz="1040" dirty="0">
                <a:solidFill>
                  <a:srgbClr val="334155"/>
                </a:solidFill>
                <a:latin typeface="Open Sans" pitchFamily="34" charset="0"/>
                <a:ea typeface="Open Sans" pitchFamily="34" charset="-122"/>
                <a:cs typeface="Open Sans" pitchFamily="34" charset="-120"/>
              </a:rPr>
              <a:t>Minimizes spontaneous chemical degradation during purification.</a:t>
            </a:r>
            <a:endParaRPr lang="en-US" sz="1040" dirty="0"/>
          </a:p>
        </p:txBody>
      </p:sp>
      <p:sp>
        <p:nvSpPr>
          <p:cNvPr id="43" name="Shape 40"/>
          <p:cNvSpPr/>
          <p:nvPr/>
        </p:nvSpPr>
        <p:spPr>
          <a:xfrm>
            <a:off x="1338263" y="5803107"/>
            <a:ext cx="1761976" cy="471488"/>
          </a:xfrm>
          <a:prstGeom prst="rect">
            <a:avLst/>
          </a:prstGeom>
          <a:solidFill>
            <a:srgbClr val="F1F5F9"/>
          </a:solidFill>
          <a:ln w="9144">
            <a:solidFill>
              <a:srgbClr val="E2E8F0"/>
            </a:solidFill>
            <a:prstDash val="solid"/>
          </a:ln>
        </p:spPr>
      </p:sp>
      <p:sp>
        <p:nvSpPr>
          <p:cNvPr id="44" name="Text 41"/>
          <p:cNvSpPr/>
          <p:nvPr/>
        </p:nvSpPr>
        <p:spPr>
          <a:xfrm>
            <a:off x="1471612" y="5938838"/>
            <a:ext cx="971420" cy="160685"/>
          </a:xfrm>
          <a:prstGeom prst="rect">
            <a:avLst/>
          </a:prstGeom>
          <a:noFill/>
          <a:ln/>
        </p:spPr>
        <p:txBody>
          <a:bodyPr wrap="none" lIns="0" tIns="0" rIns="0" bIns="0" rtlCol="0" anchor="t">
            <a:spAutoFit/>
          </a:bodyPr>
          <a:lstStyle/>
          <a:p>
            <a:pPr>
              <a:lnSpc>
                <a:spcPts val="1333"/>
              </a:lnSpc>
            </a:pPr>
            <a:r>
              <a:rPr lang="en-US" sz="979" b="1" dirty="0">
                <a:solidFill>
                  <a:srgbClr val="0D9488"/>
                </a:solidFill>
                <a:latin typeface="Open Sans" pitchFamily="34" charset="0"/>
                <a:ea typeface="Open Sans" pitchFamily="34" charset="-122"/>
                <a:cs typeface="Open Sans" pitchFamily="34" charset="-120"/>
              </a:rPr>
              <a:t>Residence Time</a:t>
            </a:r>
            <a:endParaRPr lang="en-US" sz="979" dirty="0"/>
          </a:p>
        </p:txBody>
      </p:sp>
      <p:sp>
        <p:nvSpPr>
          <p:cNvPr id="45" name="Shape 42"/>
          <p:cNvSpPr/>
          <p:nvPr/>
        </p:nvSpPr>
        <p:spPr>
          <a:xfrm>
            <a:off x="3100239" y="5803107"/>
            <a:ext cx="1980716" cy="471488"/>
          </a:xfrm>
          <a:prstGeom prst="rect">
            <a:avLst/>
          </a:prstGeom>
          <a:solidFill>
            <a:srgbClr val="F1F5F9"/>
          </a:solidFill>
          <a:ln w="9144">
            <a:solidFill>
              <a:srgbClr val="E2E8F0"/>
            </a:solidFill>
            <a:prstDash val="solid"/>
          </a:ln>
        </p:spPr>
      </p:sp>
      <p:sp>
        <p:nvSpPr>
          <p:cNvPr id="46" name="Text 43"/>
          <p:cNvSpPr/>
          <p:nvPr/>
        </p:nvSpPr>
        <p:spPr>
          <a:xfrm>
            <a:off x="3100239" y="5797032"/>
            <a:ext cx="1980716" cy="483637"/>
          </a:xfrm>
          <a:prstGeom prst="rect">
            <a:avLst/>
          </a:prstGeom>
          <a:noFill/>
          <a:ln/>
        </p:spPr>
        <p:txBody>
          <a:bodyPr wrap="square" lIns="158835" tIns="158835" rIns="158835" bIns="158835" rtlCol="0" anchor="ctr">
            <a:spAutoFit/>
          </a:bodyPr>
          <a:lstStyle/>
          <a:p>
            <a:pPr>
              <a:lnSpc>
                <a:spcPts val="1333"/>
              </a:lnSpc>
            </a:pPr>
            <a:r>
              <a:rPr lang="en-US" sz="1040" dirty="0">
                <a:solidFill>
                  <a:srgbClr val="334155"/>
                </a:solidFill>
                <a:latin typeface="Open Sans" pitchFamily="34" charset="0"/>
                <a:ea typeface="Open Sans" pitchFamily="34" charset="-122"/>
                <a:cs typeface="Open Sans" pitchFamily="34" charset="-120"/>
              </a:rPr>
              <a:t>Minimize Duration</a:t>
            </a:r>
            <a:endParaRPr lang="en-US" sz="1040" dirty="0"/>
          </a:p>
        </p:txBody>
      </p:sp>
      <p:sp>
        <p:nvSpPr>
          <p:cNvPr id="47" name="Shape 44"/>
          <p:cNvSpPr/>
          <p:nvPr/>
        </p:nvSpPr>
        <p:spPr>
          <a:xfrm>
            <a:off x="5080955" y="5803107"/>
            <a:ext cx="5772783" cy="471488"/>
          </a:xfrm>
          <a:prstGeom prst="rect">
            <a:avLst/>
          </a:prstGeom>
          <a:solidFill>
            <a:srgbClr val="F1F5F9"/>
          </a:solidFill>
          <a:ln w="9144">
            <a:solidFill>
              <a:srgbClr val="E2E8F0"/>
            </a:solidFill>
            <a:prstDash val="solid"/>
          </a:ln>
        </p:spPr>
      </p:sp>
      <p:sp>
        <p:nvSpPr>
          <p:cNvPr id="48" name="Text 45"/>
          <p:cNvSpPr/>
          <p:nvPr/>
        </p:nvSpPr>
        <p:spPr>
          <a:xfrm>
            <a:off x="5080955" y="5797032"/>
            <a:ext cx="5772783" cy="483637"/>
          </a:xfrm>
          <a:prstGeom prst="rect">
            <a:avLst/>
          </a:prstGeom>
          <a:noFill/>
          <a:ln/>
        </p:spPr>
        <p:txBody>
          <a:bodyPr wrap="square" lIns="158835" tIns="158835" rIns="158835" bIns="158835" rtlCol="0" anchor="ctr">
            <a:spAutoFit/>
          </a:bodyPr>
          <a:lstStyle/>
          <a:p>
            <a:pPr>
              <a:lnSpc>
                <a:spcPts val="1333"/>
              </a:lnSpc>
            </a:pPr>
            <a:r>
              <a:rPr lang="en-US" sz="1040" dirty="0">
                <a:solidFill>
                  <a:srgbClr val="334155"/>
                </a:solidFill>
                <a:latin typeface="Open Sans" pitchFamily="34" charset="0"/>
                <a:ea typeface="Open Sans" pitchFamily="34" charset="-122"/>
                <a:cs typeface="Open Sans" pitchFamily="34" charset="-120"/>
              </a:rPr>
              <a:t>Reduces the accumulation of variants in intermediate pools.</a:t>
            </a:r>
            <a:endParaRPr lang="en-US" sz="1040" dirty="0"/>
          </a:p>
        </p:txBody>
      </p:sp>
      <p:sp>
        <p:nvSpPr>
          <p:cNvPr id="49" name="Shape 46"/>
          <p:cNvSpPr/>
          <p:nvPr/>
        </p:nvSpPr>
        <p:spPr>
          <a:xfrm>
            <a:off x="1338263" y="6265069"/>
            <a:ext cx="1761976" cy="471488"/>
          </a:xfrm>
          <a:prstGeom prst="rect">
            <a:avLst/>
          </a:prstGeom>
          <a:solidFill>
            <a:srgbClr val="FFFFFF"/>
          </a:solidFill>
          <a:ln w="9144">
            <a:solidFill>
              <a:srgbClr val="E2E8F0"/>
            </a:solidFill>
            <a:prstDash val="solid"/>
          </a:ln>
        </p:spPr>
      </p:sp>
      <p:sp>
        <p:nvSpPr>
          <p:cNvPr id="50" name="Text 47"/>
          <p:cNvSpPr/>
          <p:nvPr/>
        </p:nvSpPr>
        <p:spPr>
          <a:xfrm>
            <a:off x="1466852" y="6403182"/>
            <a:ext cx="1008289" cy="160685"/>
          </a:xfrm>
          <a:prstGeom prst="rect">
            <a:avLst/>
          </a:prstGeom>
          <a:noFill/>
          <a:ln/>
        </p:spPr>
        <p:txBody>
          <a:bodyPr wrap="none" lIns="0" tIns="0" rIns="0" bIns="0" rtlCol="0" anchor="t">
            <a:spAutoFit/>
          </a:bodyPr>
          <a:lstStyle/>
          <a:p>
            <a:pPr>
              <a:lnSpc>
                <a:spcPts val="1333"/>
              </a:lnSpc>
            </a:pPr>
            <a:r>
              <a:rPr lang="en-US" sz="979" b="1" dirty="0">
                <a:solidFill>
                  <a:srgbClr val="0D9488"/>
                </a:solidFill>
                <a:latin typeface="Open Sans" pitchFamily="34" charset="0"/>
                <a:ea typeface="Open Sans" pitchFamily="34" charset="-122"/>
                <a:cs typeface="Open Sans" pitchFamily="34" charset="-120"/>
              </a:rPr>
              <a:t>Buffer pH/Cond.</a:t>
            </a:r>
            <a:endParaRPr lang="en-US" sz="979" dirty="0"/>
          </a:p>
        </p:txBody>
      </p:sp>
      <p:sp>
        <p:nvSpPr>
          <p:cNvPr id="51" name="Shape 48"/>
          <p:cNvSpPr/>
          <p:nvPr/>
        </p:nvSpPr>
        <p:spPr>
          <a:xfrm>
            <a:off x="3096370" y="6265069"/>
            <a:ext cx="1981684" cy="471488"/>
          </a:xfrm>
          <a:prstGeom prst="rect">
            <a:avLst/>
          </a:prstGeom>
          <a:solidFill>
            <a:srgbClr val="FFFFFF"/>
          </a:solidFill>
          <a:ln w="9144">
            <a:solidFill>
              <a:srgbClr val="E2E8F0"/>
            </a:solidFill>
            <a:prstDash val="solid"/>
          </a:ln>
        </p:spPr>
      </p:sp>
      <p:sp>
        <p:nvSpPr>
          <p:cNvPr id="52" name="Text 49"/>
          <p:cNvSpPr/>
          <p:nvPr/>
        </p:nvSpPr>
        <p:spPr>
          <a:xfrm>
            <a:off x="3096370" y="6258995"/>
            <a:ext cx="1981684" cy="483637"/>
          </a:xfrm>
          <a:prstGeom prst="rect">
            <a:avLst/>
          </a:prstGeom>
          <a:noFill/>
          <a:ln/>
        </p:spPr>
        <p:txBody>
          <a:bodyPr wrap="square" lIns="158835" tIns="158835" rIns="158835" bIns="158835" rtlCol="0" anchor="ctr">
            <a:spAutoFit/>
          </a:bodyPr>
          <a:lstStyle/>
          <a:p>
            <a:pPr>
              <a:lnSpc>
                <a:spcPts val="1333"/>
              </a:lnSpc>
            </a:pPr>
            <a:r>
              <a:rPr lang="en-US" sz="1040" dirty="0">
                <a:solidFill>
                  <a:srgbClr val="334155"/>
                </a:solidFill>
                <a:latin typeface="Open Sans" pitchFamily="34" charset="0"/>
                <a:ea typeface="Open Sans" pitchFamily="34" charset="-122"/>
                <a:cs typeface="Open Sans" pitchFamily="34" charset="-120"/>
              </a:rPr>
              <a:t>Optimized per Step</a:t>
            </a:r>
            <a:endParaRPr lang="en-US" sz="1040" dirty="0"/>
          </a:p>
        </p:txBody>
      </p:sp>
      <p:sp>
        <p:nvSpPr>
          <p:cNvPr id="53" name="Shape 50"/>
          <p:cNvSpPr/>
          <p:nvPr/>
        </p:nvSpPr>
        <p:spPr>
          <a:xfrm>
            <a:off x="5078054" y="6265069"/>
            <a:ext cx="5775685" cy="471488"/>
          </a:xfrm>
          <a:prstGeom prst="rect">
            <a:avLst/>
          </a:prstGeom>
          <a:solidFill>
            <a:srgbClr val="FFFFFF"/>
          </a:solidFill>
          <a:ln w="9144">
            <a:solidFill>
              <a:srgbClr val="E2E8F0"/>
            </a:solidFill>
            <a:prstDash val="solid"/>
          </a:ln>
        </p:spPr>
      </p:sp>
      <p:sp>
        <p:nvSpPr>
          <p:cNvPr id="54" name="Text 51"/>
          <p:cNvSpPr/>
          <p:nvPr/>
        </p:nvSpPr>
        <p:spPr>
          <a:xfrm>
            <a:off x="5078054" y="6258995"/>
            <a:ext cx="5775685" cy="483637"/>
          </a:xfrm>
          <a:prstGeom prst="rect">
            <a:avLst/>
          </a:prstGeom>
          <a:noFill/>
          <a:ln/>
        </p:spPr>
        <p:txBody>
          <a:bodyPr wrap="square" lIns="158835" tIns="158835" rIns="158835" bIns="158835" rtlCol="0" anchor="ctr">
            <a:spAutoFit/>
          </a:bodyPr>
          <a:lstStyle/>
          <a:p>
            <a:pPr>
              <a:lnSpc>
                <a:spcPts val="1333"/>
              </a:lnSpc>
            </a:pPr>
            <a:r>
              <a:rPr lang="en-US" sz="1040" dirty="0">
                <a:solidFill>
                  <a:srgbClr val="334155"/>
                </a:solidFill>
                <a:latin typeface="Open Sans" pitchFamily="34" charset="0"/>
                <a:ea typeface="Open Sans" pitchFamily="34" charset="-122"/>
                <a:cs typeface="Open Sans" pitchFamily="34" charset="-120"/>
              </a:rPr>
              <a:t>Ensures stability and consistent elution profiles across scales.</a:t>
            </a:r>
            <a:endParaRPr lang="en-US" sz="1040" dirty="0"/>
          </a:p>
        </p:txBody>
      </p:sp>
      <p:sp>
        <p:nvSpPr>
          <p:cNvPr id="56" name="标题 55">
            <a:extLst>
              <a:ext uri="{FF2B5EF4-FFF2-40B4-BE49-F238E27FC236}">
                <a16:creationId xmlns:a16="http://schemas.microsoft.com/office/drawing/2014/main" id="{A3AFA044-443E-052F-D2E8-A31698333D73}"/>
              </a:ext>
            </a:extLst>
          </p:cNvPr>
          <p:cNvSpPr>
            <a:spLocks noGrp="1"/>
          </p:cNvSpPr>
          <p:nvPr>
            <p:ph type="title"/>
          </p:nvPr>
        </p:nvSpPr>
        <p:spPr/>
        <p:txBody>
          <a:bodyPr/>
          <a:lstStyle/>
          <a:p>
            <a:endParaRPr lang="zh-CN" altLang="en-US"/>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6328"/>
            <a:ext cx="12192000" cy="6858000"/>
          </a:xfrm>
          <a:prstGeom prst="rect">
            <a:avLst/>
          </a:prstGeom>
        </p:spPr>
      </p:pic>
      <p:sp>
        <p:nvSpPr>
          <p:cNvPr id="3" name="Text 0"/>
          <p:cNvSpPr/>
          <p:nvPr/>
        </p:nvSpPr>
        <p:spPr>
          <a:xfrm>
            <a:off x="1500993" y="571501"/>
            <a:ext cx="9190016" cy="355931"/>
          </a:xfrm>
          <a:prstGeom prst="rect">
            <a:avLst/>
          </a:prstGeom>
          <a:noFill/>
          <a:ln/>
        </p:spPr>
        <p:txBody>
          <a:bodyPr wrap="none" lIns="0" tIns="0" rIns="0" bIns="0" rtlCol="0" anchor="t">
            <a:spAutoFit/>
          </a:bodyPr>
          <a:lstStyle/>
          <a:p>
            <a:pPr algn="ctr">
              <a:lnSpc>
                <a:spcPts val="2933"/>
              </a:lnSpc>
            </a:pPr>
            <a:r>
              <a:rPr lang="en-US" sz="2136" b="1" dirty="0">
                <a:solidFill>
                  <a:srgbClr val="0F172A"/>
                </a:solidFill>
                <a:latin typeface="Montserrat" pitchFamily="34" charset="0"/>
                <a:ea typeface="Montserrat" pitchFamily="34" charset="-122"/>
                <a:cs typeface="Montserrat" pitchFamily="34" charset="-120"/>
              </a:rPr>
              <a:t>Fraction Collection is the Industry Standard for Variant Removal</a:t>
            </a:r>
            <a:endParaRPr lang="en-US" sz="2136" dirty="0"/>
          </a:p>
        </p:txBody>
      </p:sp>
      <p:sp>
        <p:nvSpPr>
          <p:cNvPr id="4" name="Text 1"/>
          <p:cNvSpPr/>
          <p:nvPr/>
        </p:nvSpPr>
        <p:spPr>
          <a:xfrm>
            <a:off x="2697635" y="1133475"/>
            <a:ext cx="6796732" cy="233654"/>
          </a:xfrm>
          <a:prstGeom prst="rect">
            <a:avLst/>
          </a:prstGeom>
          <a:noFill/>
          <a:ln/>
        </p:spPr>
        <p:txBody>
          <a:bodyPr wrap="none" lIns="0" tIns="0" rIns="0" bIns="0" rtlCol="0" anchor="t">
            <a:spAutoFit/>
          </a:bodyPr>
          <a:lstStyle/>
          <a:p>
            <a:pPr algn="ctr">
              <a:lnSpc>
                <a:spcPts val="1867"/>
              </a:lnSpc>
            </a:pPr>
            <a:r>
              <a:rPr lang="en-US" sz="1400" dirty="0">
                <a:solidFill>
                  <a:srgbClr val="0D9488"/>
                </a:solidFill>
                <a:latin typeface="Open Sans" pitchFamily="34" charset="0"/>
                <a:ea typeface="Open Sans" pitchFamily="34" charset="-122"/>
                <a:cs typeface="Open Sans" pitchFamily="34" charset="-120"/>
              </a:rPr>
              <a:t>Strategic "peak cutting" during CEX purification balances product purity and yield.</a:t>
            </a:r>
            <a:endParaRPr lang="en-US" sz="1400" dirty="0"/>
          </a:p>
        </p:txBody>
      </p:sp>
      <p:sp>
        <p:nvSpPr>
          <p:cNvPr id="5" name="Text 2"/>
          <p:cNvSpPr/>
          <p:nvPr/>
        </p:nvSpPr>
        <p:spPr>
          <a:xfrm>
            <a:off x="1333500" y="1774031"/>
            <a:ext cx="9525000" cy="1055545"/>
          </a:xfrm>
          <a:prstGeom prst="rect">
            <a:avLst/>
          </a:prstGeom>
          <a:noFill/>
          <a:ln/>
        </p:spPr>
        <p:txBody>
          <a:bodyPr wrap="square" lIns="0" tIns="0" rIns="0" bIns="0" rtlCol="0" anchor="t">
            <a:spAutoFit/>
          </a:bodyPr>
          <a:lstStyle/>
          <a:p>
            <a:pPr algn="just">
              <a:lnSpc>
                <a:spcPts val="2133"/>
              </a:lnSpc>
            </a:pPr>
            <a:r>
              <a:rPr lang="en-US" sz="1256" dirty="0">
                <a:solidFill>
                  <a:srgbClr val="334155"/>
                </a:solidFill>
                <a:latin typeface="Open Sans" pitchFamily="34" charset="0"/>
                <a:ea typeface="Open Sans" pitchFamily="34" charset="-122"/>
                <a:cs typeface="Open Sans" pitchFamily="34" charset="-120"/>
              </a:rPr>
              <a:t>The most common industrial strategy for controlling charge variants is </a:t>
            </a:r>
            <a:r>
              <a:rPr lang="en-US" sz="1180" b="1" dirty="0">
                <a:solidFill>
                  <a:srgbClr val="334155"/>
                </a:solidFill>
                <a:latin typeface="Open Sans" pitchFamily="34" charset="0"/>
                <a:ea typeface="Open Sans" pitchFamily="34" charset="-122"/>
                <a:cs typeface="Open Sans" pitchFamily="34" charset="-120"/>
              </a:rPr>
              <a:t>fraction collection</a:t>
            </a:r>
            <a:r>
              <a:rPr lang="en-US" sz="1256" dirty="0">
                <a:solidFill>
                  <a:srgbClr val="334155"/>
                </a:solidFill>
                <a:latin typeface="Open Sans" pitchFamily="34" charset="0"/>
                <a:ea typeface="Open Sans" pitchFamily="34" charset="-122"/>
                <a:cs typeface="Open Sans" pitchFamily="34" charset="-120"/>
              </a:rPr>
              <a:t> (or "peak cutting") during the CEX polishing step. By discarding the early-eluting acidic fractions and late-eluting basic fractions, manufacturers can significantly enrich the main isoform. This process requires a careful balance between </a:t>
            </a:r>
            <a:r>
              <a:rPr lang="en-US" sz="1180" b="1" dirty="0">
                <a:solidFill>
                  <a:srgbClr val="334155"/>
                </a:solidFill>
                <a:latin typeface="Open Sans" pitchFamily="34" charset="0"/>
                <a:ea typeface="Open Sans" pitchFamily="34" charset="-122"/>
                <a:cs typeface="Open Sans" pitchFamily="34" charset="-120"/>
              </a:rPr>
              <a:t>product purity</a:t>
            </a:r>
            <a:r>
              <a:rPr lang="en-US" sz="1256" dirty="0">
                <a:solidFill>
                  <a:srgbClr val="334155"/>
                </a:solidFill>
                <a:latin typeface="Open Sans" pitchFamily="34" charset="0"/>
                <a:ea typeface="Open Sans" pitchFamily="34" charset="-122"/>
                <a:cs typeface="Open Sans" pitchFamily="34" charset="-120"/>
              </a:rPr>
              <a:t> and </a:t>
            </a:r>
            <a:r>
              <a:rPr lang="en-US" sz="1180" b="1" dirty="0">
                <a:solidFill>
                  <a:srgbClr val="334155"/>
                </a:solidFill>
                <a:latin typeface="Open Sans" pitchFamily="34" charset="0"/>
                <a:ea typeface="Open Sans" pitchFamily="34" charset="-122"/>
                <a:cs typeface="Open Sans" pitchFamily="34" charset="-120"/>
              </a:rPr>
              <a:t>step yield</a:t>
            </a:r>
            <a:r>
              <a:rPr lang="en-US" sz="1256" dirty="0">
                <a:solidFill>
                  <a:srgbClr val="334155"/>
                </a:solidFill>
                <a:latin typeface="Open Sans" pitchFamily="34" charset="0"/>
                <a:ea typeface="Open Sans" pitchFamily="34" charset="-122"/>
                <a:cs typeface="Open Sans" pitchFamily="34" charset="-120"/>
              </a:rPr>
              <a:t>, as aggressive cutting can lead to significant material loss.</a:t>
            </a:r>
            <a:endParaRPr lang="en-US" sz="1256" dirty="0"/>
          </a:p>
        </p:txBody>
      </p:sp>
      <p:sp>
        <p:nvSpPr>
          <p:cNvPr id="6" name="Shape 3"/>
          <p:cNvSpPr/>
          <p:nvPr/>
        </p:nvSpPr>
        <p:spPr>
          <a:xfrm>
            <a:off x="1338263" y="3447455"/>
            <a:ext cx="1893168" cy="561975"/>
          </a:xfrm>
          <a:prstGeom prst="rect">
            <a:avLst/>
          </a:prstGeom>
          <a:solidFill>
            <a:srgbClr val="0F172A"/>
          </a:solidFill>
          <a:ln w="9144">
            <a:solidFill>
              <a:srgbClr val="E2E8F0"/>
            </a:solidFill>
            <a:prstDash val="solid"/>
          </a:ln>
        </p:spPr>
      </p:sp>
      <p:sp>
        <p:nvSpPr>
          <p:cNvPr id="7" name="Text 4"/>
          <p:cNvSpPr/>
          <p:nvPr/>
        </p:nvSpPr>
        <p:spPr>
          <a:xfrm>
            <a:off x="1338263" y="3424202"/>
            <a:ext cx="1893168" cy="608480"/>
          </a:xfrm>
          <a:prstGeom prst="rect">
            <a:avLst/>
          </a:prstGeom>
          <a:noFill/>
          <a:ln/>
        </p:spPr>
        <p:txBody>
          <a:bodyPr wrap="square" lIns="204047" tIns="204047" rIns="204047" bIns="204047" rtlCol="0" anchor="ctr">
            <a:spAutoFit/>
          </a:bodyPr>
          <a:lstStyle/>
          <a:p>
            <a:pPr>
              <a:lnSpc>
                <a:spcPts val="1600"/>
              </a:lnSpc>
            </a:pPr>
            <a:r>
              <a:rPr lang="en-US" sz="1180" b="1" dirty="0">
                <a:solidFill>
                  <a:srgbClr val="F8FAFC"/>
                </a:solidFill>
                <a:latin typeface="Montserrat" pitchFamily="34" charset="0"/>
                <a:ea typeface="Montserrat" pitchFamily="34" charset="-122"/>
                <a:cs typeface="Montserrat" pitchFamily="34" charset="-120"/>
              </a:rPr>
              <a:t>Parameter</a:t>
            </a:r>
            <a:endParaRPr lang="en-US" sz="1180" dirty="0"/>
          </a:p>
        </p:txBody>
      </p:sp>
      <p:sp>
        <p:nvSpPr>
          <p:cNvPr id="8" name="Shape 5"/>
          <p:cNvSpPr/>
          <p:nvPr/>
        </p:nvSpPr>
        <p:spPr>
          <a:xfrm>
            <a:off x="3225775" y="3447455"/>
            <a:ext cx="7627963" cy="561975"/>
          </a:xfrm>
          <a:prstGeom prst="rect">
            <a:avLst/>
          </a:prstGeom>
          <a:solidFill>
            <a:srgbClr val="0F172A"/>
          </a:solidFill>
          <a:ln w="9144">
            <a:solidFill>
              <a:srgbClr val="E2E8F0"/>
            </a:solidFill>
            <a:prstDash val="solid"/>
          </a:ln>
        </p:spPr>
      </p:sp>
      <p:sp>
        <p:nvSpPr>
          <p:cNvPr id="9" name="Text 6"/>
          <p:cNvSpPr/>
          <p:nvPr/>
        </p:nvSpPr>
        <p:spPr>
          <a:xfrm>
            <a:off x="3225775" y="3424202"/>
            <a:ext cx="7627963" cy="608480"/>
          </a:xfrm>
          <a:prstGeom prst="rect">
            <a:avLst/>
          </a:prstGeom>
          <a:noFill/>
          <a:ln/>
        </p:spPr>
        <p:txBody>
          <a:bodyPr wrap="square" lIns="204047" tIns="204047" rIns="204047" bIns="204047" rtlCol="0" anchor="ctr">
            <a:spAutoFit/>
          </a:bodyPr>
          <a:lstStyle/>
          <a:p>
            <a:pPr>
              <a:lnSpc>
                <a:spcPts val="1600"/>
              </a:lnSpc>
            </a:pPr>
            <a:r>
              <a:rPr lang="en-US" sz="1180" b="1" dirty="0">
                <a:solidFill>
                  <a:srgbClr val="F8FAFC"/>
                </a:solidFill>
                <a:latin typeface="Montserrat" pitchFamily="34" charset="0"/>
                <a:ea typeface="Montserrat" pitchFamily="34" charset="-122"/>
                <a:cs typeface="Montserrat" pitchFamily="34" charset="-120"/>
              </a:rPr>
              <a:t>Optimization Strategy</a:t>
            </a:r>
            <a:endParaRPr lang="en-US" sz="1180" dirty="0"/>
          </a:p>
        </p:txBody>
      </p:sp>
      <p:sp>
        <p:nvSpPr>
          <p:cNvPr id="10" name="Shape 7"/>
          <p:cNvSpPr/>
          <p:nvPr/>
        </p:nvSpPr>
        <p:spPr>
          <a:xfrm>
            <a:off x="1338263" y="3999906"/>
            <a:ext cx="1881820" cy="559593"/>
          </a:xfrm>
          <a:prstGeom prst="rect">
            <a:avLst/>
          </a:prstGeom>
          <a:solidFill>
            <a:srgbClr val="FFFFFF"/>
          </a:solidFill>
          <a:ln w="9144">
            <a:solidFill>
              <a:srgbClr val="E2E8F0"/>
            </a:solidFill>
            <a:prstDash val="solid"/>
          </a:ln>
        </p:spPr>
      </p:sp>
      <p:sp>
        <p:nvSpPr>
          <p:cNvPr id="11" name="Text 8"/>
          <p:cNvSpPr/>
          <p:nvPr/>
        </p:nvSpPr>
        <p:spPr>
          <a:xfrm>
            <a:off x="1509713" y="4173737"/>
            <a:ext cx="674865" cy="182229"/>
          </a:xfrm>
          <a:prstGeom prst="rect">
            <a:avLst/>
          </a:prstGeom>
          <a:noFill/>
          <a:ln/>
        </p:spPr>
        <p:txBody>
          <a:bodyPr wrap="non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Triggering</a:t>
            </a:r>
            <a:endParaRPr lang="en-US" sz="1045" dirty="0"/>
          </a:p>
        </p:txBody>
      </p:sp>
      <p:sp>
        <p:nvSpPr>
          <p:cNvPr id="12" name="Shape 9"/>
          <p:cNvSpPr/>
          <p:nvPr/>
        </p:nvSpPr>
        <p:spPr>
          <a:xfrm>
            <a:off x="3220083" y="3999906"/>
            <a:ext cx="7633655" cy="559593"/>
          </a:xfrm>
          <a:prstGeom prst="rect">
            <a:avLst/>
          </a:prstGeom>
          <a:solidFill>
            <a:srgbClr val="FFFFFF"/>
          </a:solidFill>
          <a:ln w="9144">
            <a:solidFill>
              <a:srgbClr val="E2E8F0"/>
            </a:solidFill>
            <a:prstDash val="solid"/>
          </a:ln>
        </p:spPr>
      </p:sp>
      <p:sp>
        <p:nvSpPr>
          <p:cNvPr id="13" name="Text 10"/>
          <p:cNvSpPr/>
          <p:nvPr/>
        </p:nvSpPr>
        <p:spPr>
          <a:xfrm>
            <a:off x="3220083" y="3981297"/>
            <a:ext cx="7633655" cy="596810"/>
          </a:xfrm>
          <a:prstGeom prst="rect">
            <a:avLst/>
          </a:prstGeom>
          <a:noFill/>
          <a:ln/>
        </p:spPr>
        <p:txBody>
          <a:bodyPr wrap="square" lIns="204047" tIns="204047" rIns="204047" bIns="204047" rtlCol="0" anchor="ctr">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Use UV threshold (&gt;5% height) or slope-based detection for precision.</a:t>
            </a:r>
            <a:endParaRPr lang="en-US" sz="1112" dirty="0"/>
          </a:p>
        </p:txBody>
      </p:sp>
      <p:sp>
        <p:nvSpPr>
          <p:cNvPr id="14" name="Shape 11"/>
          <p:cNvSpPr/>
          <p:nvPr/>
        </p:nvSpPr>
        <p:spPr>
          <a:xfrm>
            <a:off x="1338263" y="4549974"/>
            <a:ext cx="1884611" cy="559593"/>
          </a:xfrm>
          <a:prstGeom prst="rect">
            <a:avLst/>
          </a:prstGeom>
          <a:solidFill>
            <a:srgbClr val="F1F5F9"/>
          </a:solidFill>
          <a:ln w="9144">
            <a:solidFill>
              <a:srgbClr val="E2E8F0"/>
            </a:solidFill>
            <a:prstDash val="solid"/>
          </a:ln>
        </p:spPr>
      </p:sp>
      <p:sp>
        <p:nvSpPr>
          <p:cNvPr id="15" name="Text 12"/>
          <p:cNvSpPr/>
          <p:nvPr/>
        </p:nvSpPr>
        <p:spPr>
          <a:xfrm>
            <a:off x="1509713" y="4723806"/>
            <a:ext cx="658835" cy="182229"/>
          </a:xfrm>
          <a:prstGeom prst="rect">
            <a:avLst/>
          </a:prstGeom>
          <a:noFill/>
          <a:ln/>
        </p:spPr>
        <p:txBody>
          <a:bodyPr wrap="non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Yield Loss</a:t>
            </a:r>
            <a:endParaRPr lang="en-US" sz="1045" dirty="0"/>
          </a:p>
        </p:txBody>
      </p:sp>
      <p:sp>
        <p:nvSpPr>
          <p:cNvPr id="16" name="Shape 13"/>
          <p:cNvSpPr/>
          <p:nvPr/>
        </p:nvSpPr>
        <p:spPr>
          <a:xfrm>
            <a:off x="3222873" y="4549974"/>
            <a:ext cx="7630864" cy="559593"/>
          </a:xfrm>
          <a:prstGeom prst="rect">
            <a:avLst/>
          </a:prstGeom>
          <a:solidFill>
            <a:srgbClr val="F1F5F9"/>
          </a:solidFill>
          <a:ln w="9144">
            <a:solidFill>
              <a:srgbClr val="E2E8F0"/>
            </a:solidFill>
            <a:prstDash val="solid"/>
          </a:ln>
        </p:spPr>
      </p:sp>
      <p:sp>
        <p:nvSpPr>
          <p:cNvPr id="17" name="Text 14"/>
          <p:cNvSpPr/>
          <p:nvPr/>
        </p:nvSpPr>
        <p:spPr>
          <a:xfrm>
            <a:off x="3222873" y="4531365"/>
            <a:ext cx="7630864" cy="596810"/>
          </a:xfrm>
          <a:prstGeom prst="rect">
            <a:avLst/>
          </a:prstGeom>
          <a:noFill/>
          <a:ln/>
        </p:spPr>
        <p:txBody>
          <a:bodyPr wrap="square" lIns="204047" tIns="204047" rIns="204047" bIns="204047" rtlCol="0" anchor="ctr">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Typically 10-20% loss for 50-80% variant removal efficiency.</a:t>
            </a:r>
            <a:endParaRPr lang="en-US" sz="1112" dirty="0"/>
          </a:p>
        </p:txBody>
      </p:sp>
      <p:sp>
        <p:nvSpPr>
          <p:cNvPr id="18" name="Shape 15"/>
          <p:cNvSpPr/>
          <p:nvPr/>
        </p:nvSpPr>
        <p:spPr>
          <a:xfrm>
            <a:off x="1338263" y="5100044"/>
            <a:ext cx="1884611" cy="559593"/>
          </a:xfrm>
          <a:prstGeom prst="rect">
            <a:avLst/>
          </a:prstGeom>
          <a:solidFill>
            <a:srgbClr val="FFFFFF"/>
          </a:solidFill>
          <a:ln w="9144">
            <a:solidFill>
              <a:srgbClr val="E2E8F0"/>
            </a:solidFill>
            <a:prstDash val="solid"/>
          </a:ln>
        </p:spPr>
      </p:sp>
      <p:sp>
        <p:nvSpPr>
          <p:cNvPr id="19" name="Text 16"/>
          <p:cNvSpPr/>
          <p:nvPr/>
        </p:nvSpPr>
        <p:spPr>
          <a:xfrm>
            <a:off x="1509713" y="5273874"/>
            <a:ext cx="771045" cy="182229"/>
          </a:xfrm>
          <a:prstGeom prst="rect">
            <a:avLst/>
          </a:prstGeom>
          <a:noFill/>
          <a:ln/>
        </p:spPr>
        <p:txBody>
          <a:bodyPr wrap="non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Robustness</a:t>
            </a:r>
            <a:endParaRPr lang="en-US" sz="1045" dirty="0"/>
          </a:p>
        </p:txBody>
      </p:sp>
      <p:sp>
        <p:nvSpPr>
          <p:cNvPr id="20" name="Shape 17"/>
          <p:cNvSpPr/>
          <p:nvPr/>
        </p:nvSpPr>
        <p:spPr>
          <a:xfrm>
            <a:off x="3222873" y="5100044"/>
            <a:ext cx="7630864" cy="559593"/>
          </a:xfrm>
          <a:prstGeom prst="rect">
            <a:avLst/>
          </a:prstGeom>
          <a:solidFill>
            <a:srgbClr val="FFFFFF"/>
          </a:solidFill>
          <a:ln w="9144">
            <a:solidFill>
              <a:srgbClr val="E2E8F0"/>
            </a:solidFill>
            <a:prstDash val="solid"/>
          </a:ln>
        </p:spPr>
      </p:sp>
      <p:sp>
        <p:nvSpPr>
          <p:cNvPr id="21" name="Text 18"/>
          <p:cNvSpPr/>
          <p:nvPr/>
        </p:nvSpPr>
        <p:spPr>
          <a:xfrm>
            <a:off x="3222873" y="5081435"/>
            <a:ext cx="7630864" cy="596810"/>
          </a:xfrm>
          <a:prstGeom prst="rect">
            <a:avLst/>
          </a:prstGeom>
          <a:noFill/>
          <a:ln/>
        </p:spPr>
        <p:txBody>
          <a:bodyPr wrap="square" lIns="204047" tIns="204047" rIns="204047" bIns="204047" rtlCol="0" anchor="ctr">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Validate cut points across the expected range of variant levels.</a:t>
            </a:r>
            <a:endParaRPr lang="en-US" sz="1112" dirty="0"/>
          </a:p>
        </p:txBody>
      </p:sp>
      <p:sp>
        <p:nvSpPr>
          <p:cNvPr id="22" name="Shape 19"/>
          <p:cNvSpPr/>
          <p:nvPr/>
        </p:nvSpPr>
        <p:spPr>
          <a:xfrm>
            <a:off x="1338263" y="5650112"/>
            <a:ext cx="1884611" cy="559593"/>
          </a:xfrm>
          <a:prstGeom prst="rect">
            <a:avLst/>
          </a:prstGeom>
          <a:solidFill>
            <a:srgbClr val="F1F5F9"/>
          </a:solidFill>
          <a:ln w="9144">
            <a:solidFill>
              <a:srgbClr val="E2E8F0"/>
            </a:solidFill>
            <a:prstDash val="solid"/>
          </a:ln>
        </p:spPr>
      </p:sp>
      <p:sp>
        <p:nvSpPr>
          <p:cNvPr id="23" name="Text 20"/>
          <p:cNvSpPr/>
          <p:nvPr/>
        </p:nvSpPr>
        <p:spPr>
          <a:xfrm>
            <a:off x="1504951" y="5826325"/>
            <a:ext cx="804707" cy="182229"/>
          </a:xfrm>
          <a:prstGeom prst="rect">
            <a:avLst/>
          </a:prstGeom>
          <a:noFill/>
          <a:ln/>
        </p:spPr>
        <p:txBody>
          <a:bodyPr wrap="non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Automation</a:t>
            </a:r>
            <a:endParaRPr lang="en-US" sz="1045" dirty="0"/>
          </a:p>
        </p:txBody>
      </p:sp>
      <p:sp>
        <p:nvSpPr>
          <p:cNvPr id="24" name="Shape 21"/>
          <p:cNvSpPr/>
          <p:nvPr/>
        </p:nvSpPr>
        <p:spPr>
          <a:xfrm>
            <a:off x="3219078" y="5650112"/>
            <a:ext cx="7634660" cy="559593"/>
          </a:xfrm>
          <a:prstGeom prst="rect">
            <a:avLst/>
          </a:prstGeom>
          <a:solidFill>
            <a:srgbClr val="F1F5F9"/>
          </a:solidFill>
          <a:ln w="9144">
            <a:solidFill>
              <a:srgbClr val="E2E8F0"/>
            </a:solidFill>
            <a:prstDash val="solid"/>
          </a:ln>
        </p:spPr>
      </p:sp>
      <p:sp>
        <p:nvSpPr>
          <p:cNvPr id="25" name="Text 22"/>
          <p:cNvSpPr/>
          <p:nvPr/>
        </p:nvSpPr>
        <p:spPr>
          <a:xfrm>
            <a:off x="3219078" y="5631503"/>
            <a:ext cx="7634660" cy="596810"/>
          </a:xfrm>
          <a:prstGeom prst="rect">
            <a:avLst/>
          </a:prstGeom>
          <a:noFill/>
          <a:ln/>
        </p:spPr>
        <p:txBody>
          <a:bodyPr wrap="square" lIns="204047" tIns="204047" rIns="204047" bIns="204047" rtlCol="0" anchor="ctr">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Implement automated fractionators for manufacturing consistency.</a:t>
            </a:r>
            <a:endParaRPr lang="en-US" sz="1112" dirty="0"/>
          </a:p>
        </p:txBody>
      </p:sp>
      <p:sp>
        <p:nvSpPr>
          <p:cNvPr id="27" name="标题 26">
            <a:extLst>
              <a:ext uri="{FF2B5EF4-FFF2-40B4-BE49-F238E27FC236}">
                <a16:creationId xmlns:a16="http://schemas.microsoft.com/office/drawing/2014/main" id="{5C8314AC-3C29-2B8D-DCD4-3538CAF35076}"/>
              </a:ext>
            </a:extLst>
          </p:cNvPr>
          <p:cNvSpPr>
            <a:spLocks noGrp="1"/>
          </p:cNvSpPr>
          <p:nvPr>
            <p:ph type="title"/>
          </p:nvPr>
        </p:nvSpPr>
        <p:spPr/>
        <p:txBody>
          <a:bodyPr/>
          <a:lstStyle/>
          <a:p>
            <a:endParaRPr lang="zh-CN" altLang="en-US"/>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035552"/>
          </a:xfrm>
          <a:prstGeom prst="rect">
            <a:avLst/>
          </a:prstGeom>
        </p:spPr>
      </p:pic>
      <p:sp>
        <p:nvSpPr>
          <p:cNvPr id="3" name="Text 0"/>
          <p:cNvSpPr/>
          <p:nvPr/>
        </p:nvSpPr>
        <p:spPr>
          <a:xfrm>
            <a:off x="2264823" y="571501"/>
            <a:ext cx="7662354" cy="355931"/>
          </a:xfrm>
          <a:prstGeom prst="rect">
            <a:avLst/>
          </a:prstGeom>
          <a:noFill/>
          <a:ln/>
        </p:spPr>
        <p:txBody>
          <a:bodyPr wrap="none" lIns="0" tIns="0" rIns="0" bIns="0" rtlCol="0" anchor="t">
            <a:spAutoFit/>
          </a:bodyPr>
          <a:lstStyle/>
          <a:p>
            <a:pPr algn="ctr">
              <a:lnSpc>
                <a:spcPts val="2933"/>
              </a:lnSpc>
            </a:pPr>
            <a:r>
              <a:rPr lang="en-US" sz="2136" b="1" dirty="0">
                <a:solidFill>
                  <a:srgbClr val="0F172A"/>
                </a:solidFill>
                <a:latin typeface="Montserrat" pitchFamily="34" charset="0"/>
                <a:ea typeface="Montserrat" pitchFamily="34" charset="-122"/>
                <a:cs typeface="Montserrat" pitchFamily="34" charset="-120"/>
              </a:rPr>
              <a:t>Enzymatic and Multimodal Strategies Enhance Purity</a:t>
            </a:r>
            <a:endParaRPr lang="en-US" sz="2136" dirty="0"/>
          </a:p>
        </p:txBody>
      </p:sp>
      <p:sp>
        <p:nvSpPr>
          <p:cNvPr id="4" name="Text 1"/>
          <p:cNvSpPr/>
          <p:nvPr/>
        </p:nvSpPr>
        <p:spPr>
          <a:xfrm>
            <a:off x="2367416" y="1133475"/>
            <a:ext cx="7457170" cy="233654"/>
          </a:xfrm>
          <a:prstGeom prst="rect">
            <a:avLst/>
          </a:prstGeom>
          <a:noFill/>
          <a:ln/>
        </p:spPr>
        <p:txBody>
          <a:bodyPr wrap="none" lIns="0" tIns="0" rIns="0" bIns="0" rtlCol="0" anchor="t">
            <a:spAutoFit/>
          </a:bodyPr>
          <a:lstStyle/>
          <a:p>
            <a:pPr algn="ctr">
              <a:lnSpc>
                <a:spcPts val="1867"/>
              </a:lnSpc>
            </a:pPr>
            <a:r>
              <a:rPr lang="en-US" sz="1400" dirty="0">
                <a:solidFill>
                  <a:srgbClr val="0D9488"/>
                </a:solidFill>
                <a:latin typeface="Open Sans" pitchFamily="34" charset="0"/>
                <a:ea typeface="Open Sans" pitchFamily="34" charset="-122"/>
                <a:cs typeface="Open Sans" pitchFamily="34" charset="-120"/>
              </a:rPr>
              <a:t>Targeted enzymatic treatment and advanced resins provide alternative control pathways.</a:t>
            </a:r>
            <a:endParaRPr lang="en-US" sz="1400" dirty="0"/>
          </a:p>
        </p:txBody>
      </p:sp>
      <p:sp>
        <p:nvSpPr>
          <p:cNvPr id="5" name="Text 2"/>
          <p:cNvSpPr/>
          <p:nvPr/>
        </p:nvSpPr>
        <p:spPr>
          <a:xfrm>
            <a:off x="1333500" y="1774032"/>
            <a:ext cx="9525000" cy="786241"/>
          </a:xfrm>
          <a:prstGeom prst="rect">
            <a:avLst/>
          </a:prstGeom>
          <a:noFill/>
          <a:ln/>
        </p:spPr>
        <p:txBody>
          <a:bodyPr wrap="square" lIns="0" tIns="0" rIns="0" bIns="0" rtlCol="0" anchor="t">
            <a:spAutoFit/>
          </a:bodyPr>
          <a:lstStyle/>
          <a:p>
            <a:pPr algn="just">
              <a:lnSpc>
                <a:spcPts val="2133"/>
              </a:lnSpc>
            </a:pPr>
            <a:r>
              <a:rPr lang="en-US" sz="1256" dirty="0">
                <a:solidFill>
                  <a:srgbClr val="334155"/>
                </a:solidFill>
                <a:latin typeface="Open Sans" pitchFamily="34" charset="0"/>
                <a:ea typeface="Open Sans" pitchFamily="34" charset="-122"/>
                <a:cs typeface="Open Sans" pitchFamily="34" charset="-120"/>
              </a:rPr>
              <a:t>For products with high levels of basic variants, targeted enzymatic treatment offers a highly specific solution. Additionally, advanced chromatographic resins provide enhanced selectivity for difficult separations where traditional ion-exchange methods may reach their resolution limits.</a:t>
            </a:r>
            <a:endParaRPr lang="en-US" sz="1256" dirty="0"/>
          </a:p>
        </p:txBody>
      </p:sp>
      <p:sp>
        <p:nvSpPr>
          <p:cNvPr id="6" name="Shape 3"/>
          <p:cNvSpPr/>
          <p:nvPr/>
        </p:nvSpPr>
        <p:spPr>
          <a:xfrm>
            <a:off x="1338263" y="3173165"/>
            <a:ext cx="2030091" cy="561975"/>
          </a:xfrm>
          <a:prstGeom prst="rect">
            <a:avLst/>
          </a:prstGeom>
          <a:solidFill>
            <a:srgbClr val="0F172A"/>
          </a:solidFill>
          <a:ln w="9144">
            <a:solidFill>
              <a:srgbClr val="E2E8F0"/>
            </a:solidFill>
            <a:prstDash val="solid"/>
          </a:ln>
        </p:spPr>
      </p:sp>
      <p:sp>
        <p:nvSpPr>
          <p:cNvPr id="7" name="Text 4"/>
          <p:cNvSpPr/>
          <p:nvPr/>
        </p:nvSpPr>
        <p:spPr>
          <a:xfrm>
            <a:off x="1338263" y="3149912"/>
            <a:ext cx="2030091" cy="608480"/>
          </a:xfrm>
          <a:prstGeom prst="rect">
            <a:avLst/>
          </a:prstGeom>
          <a:noFill/>
          <a:ln/>
        </p:spPr>
        <p:txBody>
          <a:bodyPr wrap="square" lIns="204047" tIns="204047" rIns="204047" bIns="204047" rtlCol="0" anchor="ctr">
            <a:spAutoFit/>
          </a:bodyPr>
          <a:lstStyle/>
          <a:p>
            <a:pPr>
              <a:lnSpc>
                <a:spcPts val="1600"/>
              </a:lnSpc>
            </a:pPr>
            <a:r>
              <a:rPr lang="en-US" sz="1180" b="1" dirty="0">
                <a:solidFill>
                  <a:srgbClr val="F8FAFC"/>
                </a:solidFill>
                <a:latin typeface="Montserrat" pitchFamily="34" charset="0"/>
                <a:ea typeface="Montserrat" pitchFamily="34" charset="-122"/>
                <a:cs typeface="Montserrat" pitchFamily="34" charset="-120"/>
              </a:rPr>
              <a:t>Strategy</a:t>
            </a:r>
            <a:endParaRPr lang="en-US" sz="1180" dirty="0"/>
          </a:p>
        </p:txBody>
      </p:sp>
      <p:sp>
        <p:nvSpPr>
          <p:cNvPr id="8" name="Shape 5"/>
          <p:cNvSpPr/>
          <p:nvPr/>
        </p:nvSpPr>
        <p:spPr>
          <a:xfrm>
            <a:off x="3368353" y="3173165"/>
            <a:ext cx="7485385" cy="561975"/>
          </a:xfrm>
          <a:prstGeom prst="rect">
            <a:avLst/>
          </a:prstGeom>
          <a:solidFill>
            <a:srgbClr val="0F172A"/>
          </a:solidFill>
          <a:ln w="9144">
            <a:solidFill>
              <a:srgbClr val="E2E8F0"/>
            </a:solidFill>
            <a:prstDash val="solid"/>
          </a:ln>
        </p:spPr>
      </p:sp>
      <p:sp>
        <p:nvSpPr>
          <p:cNvPr id="9" name="Text 6"/>
          <p:cNvSpPr/>
          <p:nvPr/>
        </p:nvSpPr>
        <p:spPr>
          <a:xfrm>
            <a:off x="3368353" y="3149912"/>
            <a:ext cx="7485385" cy="608480"/>
          </a:xfrm>
          <a:prstGeom prst="rect">
            <a:avLst/>
          </a:prstGeom>
          <a:noFill/>
          <a:ln/>
        </p:spPr>
        <p:txBody>
          <a:bodyPr wrap="square" lIns="204047" tIns="204047" rIns="204047" bIns="204047" rtlCol="0" anchor="ctr">
            <a:spAutoFit/>
          </a:bodyPr>
          <a:lstStyle/>
          <a:p>
            <a:pPr>
              <a:lnSpc>
                <a:spcPts val="1600"/>
              </a:lnSpc>
            </a:pPr>
            <a:r>
              <a:rPr lang="en-US" sz="1180" b="1" dirty="0">
                <a:solidFill>
                  <a:srgbClr val="F8FAFC"/>
                </a:solidFill>
                <a:latin typeface="Montserrat" pitchFamily="34" charset="0"/>
                <a:ea typeface="Montserrat" pitchFamily="34" charset="-122"/>
                <a:cs typeface="Montserrat" pitchFamily="34" charset="-120"/>
              </a:rPr>
              <a:t>Mechanism and Efficiency</a:t>
            </a:r>
            <a:endParaRPr lang="en-US" sz="1180" dirty="0"/>
          </a:p>
        </p:txBody>
      </p:sp>
      <p:sp>
        <p:nvSpPr>
          <p:cNvPr id="10" name="Shape 7"/>
          <p:cNvSpPr/>
          <p:nvPr/>
        </p:nvSpPr>
        <p:spPr>
          <a:xfrm>
            <a:off x="1338263" y="3725615"/>
            <a:ext cx="2030091" cy="766763"/>
          </a:xfrm>
          <a:prstGeom prst="rect">
            <a:avLst/>
          </a:prstGeom>
          <a:solidFill>
            <a:srgbClr val="FFFFFF"/>
          </a:solidFill>
          <a:ln w="9144">
            <a:solidFill>
              <a:srgbClr val="E2E8F0"/>
            </a:solidFill>
            <a:prstDash val="solid"/>
          </a:ln>
        </p:spPr>
      </p:sp>
      <p:sp>
        <p:nvSpPr>
          <p:cNvPr id="11" name="Text 8"/>
          <p:cNvSpPr/>
          <p:nvPr/>
        </p:nvSpPr>
        <p:spPr>
          <a:xfrm>
            <a:off x="1509712" y="3897064"/>
            <a:ext cx="1371600" cy="374590"/>
          </a:xfrm>
          <a:prstGeom prst="rect">
            <a:avLst/>
          </a:prstGeom>
          <a:noFill/>
          <a:ln/>
        </p:spPr>
        <p:txBody>
          <a:bodyPr wrap="squar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Carboxypeptidase B (CpB)</a:t>
            </a:r>
            <a:endParaRPr lang="en-US" sz="1045" dirty="0"/>
          </a:p>
        </p:txBody>
      </p:sp>
      <p:sp>
        <p:nvSpPr>
          <p:cNvPr id="12" name="Shape 9"/>
          <p:cNvSpPr/>
          <p:nvPr/>
        </p:nvSpPr>
        <p:spPr>
          <a:xfrm>
            <a:off x="3366567" y="3725615"/>
            <a:ext cx="7487171" cy="766763"/>
          </a:xfrm>
          <a:prstGeom prst="rect">
            <a:avLst/>
          </a:prstGeom>
          <a:solidFill>
            <a:srgbClr val="FFFFFF"/>
          </a:solidFill>
          <a:ln w="9144">
            <a:solidFill>
              <a:srgbClr val="E2E8F0"/>
            </a:solidFill>
            <a:prstDash val="solid"/>
          </a:ln>
        </p:spPr>
      </p:sp>
      <p:sp>
        <p:nvSpPr>
          <p:cNvPr id="13" name="Text 10"/>
          <p:cNvSpPr/>
          <p:nvPr/>
        </p:nvSpPr>
        <p:spPr>
          <a:xfrm>
            <a:off x="3536641" y="3892302"/>
            <a:ext cx="4796185" cy="184731"/>
          </a:xfrm>
          <a:prstGeom prst="rect">
            <a:avLst/>
          </a:prstGeom>
          <a:noFill/>
          <a:ln/>
        </p:spPr>
        <p:txBody>
          <a:bodyPr wrap="none" lIns="0" tIns="0" rIns="0" bIns="0" rtlCol="0" anchor="t">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Enzymatically removes C-terminal lysine and arginine residues. Achieves</a:t>
            </a:r>
            <a:endParaRPr lang="en-US" sz="1112" dirty="0"/>
          </a:p>
        </p:txBody>
      </p:sp>
      <p:sp>
        <p:nvSpPr>
          <p:cNvPr id="14" name="Text 11"/>
          <p:cNvSpPr/>
          <p:nvPr/>
        </p:nvSpPr>
        <p:spPr>
          <a:xfrm>
            <a:off x="8472971" y="3892302"/>
            <a:ext cx="1620636" cy="182229"/>
          </a:xfrm>
          <a:prstGeom prst="rect">
            <a:avLst/>
          </a:prstGeom>
          <a:noFill/>
          <a:ln/>
        </p:spPr>
        <p:txBody>
          <a:bodyPr wrap="non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&gt;95% removal efficiency</a:t>
            </a:r>
            <a:endParaRPr lang="en-US" sz="1045" dirty="0"/>
          </a:p>
        </p:txBody>
      </p:sp>
      <p:sp>
        <p:nvSpPr>
          <p:cNvPr id="15" name="Text 12"/>
          <p:cNvSpPr/>
          <p:nvPr/>
        </p:nvSpPr>
        <p:spPr>
          <a:xfrm>
            <a:off x="3536641" y="3892302"/>
            <a:ext cx="6762751" cy="184731"/>
          </a:xfrm>
          <a:prstGeom prst="rect">
            <a:avLst/>
          </a:prstGeom>
          <a:noFill/>
          <a:ln/>
        </p:spPr>
        <p:txBody>
          <a:bodyPr wrap="square" lIns="0" tIns="0" rIns="0" bIns="0" rtlCol="0" anchor="t">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of basic variants, effectively converting them into the main isoform.</a:t>
            </a:r>
            <a:endParaRPr lang="en-US" sz="1112" dirty="0"/>
          </a:p>
        </p:txBody>
      </p:sp>
      <p:sp>
        <p:nvSpPr>
          <p:cNvPr id="16" name="Shape 13"/>
          <p:cNvSpPr/>
          <p:nvPr/>
        </p:nvSpPr>
        <p:spPr>
          <a:xfrm>
            <a:off x="1338263" y="4482852"/>
            <a:ext cx="2026928" cy="766763"/>
          </a:xfrm>
          <a:prstGeom prst="rect">
            <a:avLst/>
          </a:prstGeom>
          <a:solidFill>
            <a:srgbClr val="F1F5F9"/>
          </a:solidFill>
          <a:ln w="9144">
            <a:solidFill>
              <a:srgbClr val="E2E8F0"/>
            </a:solidFill>
            <a:prstDash val="solid"/>
          </a:ln>
        </p:spPr>
      </p:sp>
      <p:sp>
        <p:nvSpPr>
          <p:cNvPr id="17" name="Text 14"/>
          <p:cNvSpPr/>
          <p:nvPr/>
        </p:nvSpPr>
        <p:spPr>
          <a:xfrm>
            <a:off x="1509712" y="4654302"/>
            <a:ext cx="1162051" cy="374590"/>
          </a:xfrm>
          <a:prstGeom prst="rect">
            <a:avLst/>
          </a:prstGeom>
          <a:noFill/>
          <a:ln/>
        </p:spPr>
        <p:txBody>
          <a:bodyPr wrap="squar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Multimodal Chromatography</a:t>
            </a:r>
            <a:endParaRPr lang="en-US" sz="1045" dirty="0"/>
          </a:p>
        </p:txBody>
      </p:sp>
      <p:sp>
        <p:nvSpPr>
          <p:cNvPr id="18" name="Shape 15"/>
          <p:cNvSpPr/>
          <p:nvPr/>
        </p:nvSpPr>
        <p:spPr>
          <a:xfrm>
            <a:off x="3362511" y="4482852"/>
            <a:ext cx="7491227" cy="766763"/>
          </a:xfrm>
          <a:prstGeom prst="rect">
            <a:avLst/>
          </a:prstGeom>
          <a:solidFill>
            <a:srgbClr val="F1F5F9"/>
          </a:solidFill>
          <a:ln w="9144">
            <a:solidFill>
              <a:srgbClr val="E2E8F0"/>
            </a:solidFill>
            <a:prstDash val="solid"/>
          </a:ln>
        </p:spPr>
      </p:sp>
      <p:sp>
        <p:nvSpPr>
          <p:cNvPr id="19" name="Text 16"/>
          <p:cNvSpPr/>
          <p:nvPr/>
        </p:nvSpPr>
        <p:spPr>
          <a:xfrm>
            <a:off x="3362511" y="4482852"/>
            <a:ext cx="7491227" cy="789170"/>
          </a:xfrm>
          <a:prstGeom prst="rect">
            <a:avLst/>
          </a:prstGeom>
          <a:noFill/>
          <a:ln/>
        </p:spPr>
        <p:txBody>
          <a:bodyPr wrap="square" lIns="204047" tIns="204047" rIns="204047" bIns="204047" rtlCol="0" anchor="t">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Combines ion exchange with hydrophobic interactions (HIC). Provides enhanced selectivity for variants with similar pI but different surface hydrophobicity.</a:t>
            </a:r>
            <a:endParaRPr lang="en-US" sz="1112" dirty="0"/>
          </a:p>
        </p:txBody>
      </p:sp>
      <p:sp>
        <p:nvSpPr>
          <p:cNvPr id="20" name="Shape 17"/>
          <p:cNvSpPr/>
          <p:nvPr/>
        </p:nvSpPr>
        <p:spPr>
          <a:xfrm>
            <a:off x="1338263" y="5240089"/>
            <a:ext cx="2021831" cy="766763"/>
          </a:xfrm>
          <a:prstGeom prst="rect">
            <a:avLst/>
          </a:prstGeom>
          <a:solidFill>
            <a:srgbClr val="FFFFFF"/>
          </a:solidFill>
          <a:ln w="9144">
            <a:solidFill>
              <a:srgbClr val="E2E8F0"/>
            </a:solidFill>
            <a:prstDash val="solid"/>
          </a:ln>
        </p:spPr>
      </p:sp>
      <p:sp>
        <p:nvSpPr>
          <p:cNvPr id="21" name="Text 18"/>
          <p:cNvSpPr/>
          <p:nvPr/>
        </p:nvSpPr>
        <p:spPr>
          <a:xfrm>
            <a:off x="1504951" y="5411541"/>
            <a:ext cx="1444306" cy="182229"/>
          </a:xfrm>
          <a:prstGeom prst="rect">
            <a:avLst/>
          </a:prstGeom>
          <a:noFill/>
          <a:ln/>
        </p:spPr>
        <p:txBody>
          <a:bodyPr wrap="none" lIns="0" tIns="0" rIns="0" bIns="0" rtlCol="0" anchor="t">
            <a:spAutoFit/>
          </a:bodyPr>
          <a:lstStyle/>
          <a:p>
            <a:pPr>
              <a:lnSpc>
                <a:spcPts val="1467"/>
              </a:lnSpc>
            </a:pPr>
            <a:r>
              <a:rPr lang="en-US" sz="1045" b="1" dirty="0">
                <a:solidFill>
                  <a:srgbClr val="0D9488"/>
                </a:solidFill>
                <a:latin typeface="Open Sans" pitchFamily="34" charset="0"/>
                <a:ea typeface="Open Sans" pitchFamily="34" charset="-122"/>
                <a:cs typeface="Open Sans" pitchFamily="34" charset="-120"/>
              </a:rPr>
              <a:t>Anion Exchange (AEX)</a:t>
            </a:r>
            <a:endParaRPr lang="en-US" sz="1045" dirty="0"/>
          </a:p>
        </p:txBody>
      </p:sp>
      <p:sp>
        <p:nvSpPr>
          <p:cNvPr id="22" name="Shape 19"/>
          <p:cNvSpPr/>
          <p:nvPr/>
        </p:nvSpPr>
        <p:spPr>
          <a:xfrm>
            <a:off x="3355665" y="5240089"/>
            <a:ext cx="7498072" cy="766763"/>
          </a:xfrm>
          <a:prstGeom prst="rect">
            <a:avLst/>
          </a:prstGeom>
          <a:solidFill>
            <a:srgbClr val="FFFFFF"/>
          </a:solidFill>
          <a:ln w="9144">
            <a:solidFill>
              <a:srgbClr val="E2E8F0"/>
            </a:solidFill>
            <a:prstDash val="solid"/>
          </a:ln>
        </p:spPr>
      </p:sp>
      <p:sp>
        <p:nvSpPr>
          <p:cNvPr id="23" name="Text 20"/>
          <p:cNvSpPr/>
          <p:nvPr/>
        </p:nvSpPr>
        <p:spPr>
          <a:xfrm>
            <a:off x="3355665" y="5240089"/>
            <a:ext cx="7498072" cy="789170"/>
          </a:xfrm>
          <a:prstGeom prst="rect">
            <a:avLst/>
          </a:prstGeom>
          <a:noFill/>
          <a:ln/>
        </p:spPr>
        <p:txBody>
          <a:bodyPr wrap="square" lIns="204047" tIns="204047" rIns="204047" bIns="204047" rtlCol="0" anchor="t">
            <a:spAutoFit/>
          </a:bodyPr>
          <a:lstStyle/>
          <a:p>
            <a:pPr>
              <a:lnSpc>
                <a:spcPts val="1467"/>
              </a:lnSpc>
            </a:pPr>
            <a:r>
              <a:rPr lang="en-US" sz="1112" dirty="0">
                <a:solidFill>
                  <a:srgbClr val="334155"/>
                </a:solidFill>
                <a:latin typeface="Open Sans" pitchFamily="34" charset="0"/>
                <a:ea typeface="Open Sans" pitchFamily="34" charset="-122"/>
                <a:cs typeface="Open Sans" pitchFamily="34" charset="-120"/>
              </a:rPr>
              <a:t>Frequently employed as a polishing step to specifically target and remove acidic species, host cell proteins, and viral contaminants.</a:t>
            </a:r>
            <a:endParaRPr lang="en-US" sz="1112" dirty="0"/>
          </a:p>
        </p:txBody>
      </p:sp>
      <p:sp>
        <p:nvSpPr>
          <p:cNvPr id="24" name="Shape 21"/>
          <p:cNvSpPr/>
          <p:nvPr/>
        </p:nvSpPr>
        <p:spPr>
          <a:xfrm>
            <a:off x="1333500" y="6373564"/>
            <a:ext cx="9525000" cy="614363"/>
          </a:xfrm>
          <a:prstGeom prst="rect">
            <a:avLst/>
          </a:prstGeom>
          <a:solidFill>
            <a:srgbClr val="000000">
              <a:alpha val="0"/>
            </a:srgbClr>
          </a:solidFill>
          <a:ln/>
        </p:spPr>
      </p:sp>
      <p:sp>
        <p:nvSpPr>
          <p:cNvPr id="25" name="Shape 22"/>
          <p:cNvSpPr/>
          <p:nvPr/>
        </p:nvSpPr>
        <p:spPr>
          <a:xfrm>
            <a:off x="1333500" y="6373564"/>
            <a:ext cx="9525000" cy="9525"/>
          </a:xfrm>
          <a:prstGeom prst="rect">
            <a:avLst/>
          </a:prstGeom>
          <a:solidFill>
            <a:srgbClr val="E2E8F0"/>
          </a:solidFill>
          <a:ln/>
        </p:spPr>
      </p:sp>
      <p:sp>
        <p:nvSpPr>
          <p:cNvPr id="26" name="Text 23"/>
          <p:cNvSpPr/>
          <p:nvPr/>
        </p:nvSpPr>
        <p:spPr>
          <a:xfrm>
            <a:off x="1333500" y="6373565"/>
            <a:ext cx="9525000" cy="413682"/>
          </a:xfrm>
          <a:prstGeom prst="rect">
            <a:avLst/>
          </a:prstGeom>
          <a:noFill/>
          <a:ln/>
        </p:spPr>
        <p:txBody>
          <a:bodyPr wrap="square" lIns="0" tIns="226737" rIns="0" bIns="0" rtlCol="0" anchor="t">
            <a:spAutoFit/>
          </a:bodyPr>
          <a:lstStyle/>
          <a:p>
            <a:pPr algn="ctr">
              <a:lnSpc>
                <a:spcPts val="1467"/>
              </a:lnSpc>
            </a:pPr>
            <a:r>
              <a:rPr lang="en-US" sz="1112" i="1" dirty="0">
                <a:solidFill>
                  <a:srgbClr val="64748B"/>
                </a:solidFill>
                <a:latin typeface="Open Sans" pitchFamily="34" charset="0"/>
                <a:ea typeface="Open Sans" pitchFamily="34" charset="-122"/>
                <a:cs typeface="Open Sans" pitchFamily="34" charset="-120"/>
              </a:rPr>
              <a:t>Advanced SMB (Simulated Moving Bed) systems can further improve productivity and variant removal efficiency in continuous manufacturing.</a:t>
            </a:r>
            <a:endParaRPr lang="en-US" sz="1112" dirty="0"/>
          </a:p>
        </p:txBody>
      </p:sp>
      <p:sp>
        <p:nvSpPr>
          <p:cNvPr id="28" name="标题 27">
            <a:extLst>
              <a:ext uri="{FF2B5EF4-FFF2-40B4-BE49-F238E27FC236}">
                <a16:creationId xmlns:a16="http://schemas.microsoft.com/office/drawing/2014/main" id="{8E480840-8F2F-0876-5386-AC9131B2B798}"/>
              </a:ext>
            </a:extLst>
          </p:cNvPr>
          <p:cNvSpPr>
            <a:spLocks noGrp="1"/>
          </p:cNvSpPr>
          <p:nvPr>
            <p:ph type="title"/>
          </p:nvPr>
        </p:nvSpPr>
        <p:spPr/>
        <p:txBody>
          <a:bodyPr/>
          <a:lstStyle/>
          <a:p>
            <a:endParaRPr lang="zh-CN" altLang="en-US"/>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2268030" y="571501"/>
            <a:ext cx="7655942" cy="355931"/>
          </a:xfrm>
          <a:prstGeom prst="rect">
            <a:avLst/>
          </a:prstGeom>
          <a:noFill/>
          <a:ln/>
        </p:spPr>
        <p:txBody>
          <a:bodyPr wrap="none" lIns="0" tIns="0" rIns="0" bIns="0" rtlCol="0" anchor="t">
            <a:spAutoFit/>
          </a:bodyPr>
          <a:lstStyle/>
          <a:p>
            <a:pPr algn="ctr">
              <a:lnSpc>
                <a:spcPts val="2933"/>
              </a:lnSpc>
            </a:pPr>
            <a:r>
              <a:rPr lang="en-US" sz="2136" b="1" dirty="0">
                <a:solidFill>
                  <a:srgbClr val="0F172A"/>
                </a:solidFill>
                <a:latin typeface="Montserrat" pitchFamily="34" charset="0"/>
                <a:ea typeface="Montserrat" pitchFamily="34" charset="-122"/>
                <a:cs typeface="Montserrat" pitchFamily="34" charset="-120"/>
              </a:rPr>
              <a:t>Implementation Roadmap for Charge Variant Control</a:t>
            </a:r>
            <a:endParaRPr lang="en-US" sz="2136" dirty="0"/>
          </a:p>
        </p:txBody>
      </p:sp>
      <p:sp>
        <p:nvSpPr>
          <p:cNvPr id="4" name="Text 1"/>
          <p:cNvSpPr/>
          <p:nvPr/>
        </p:nvSpPr>
        <p:spPr>
          <a:xfrm>
            <a:off x="2538136" y="1133475"/>
            <a:ext cx="7115731" cy="233654"/>
          </a:xfrm>
          <a:prstGeom prst="rect">
            <a:avLst/>
          </a:prstGeom>
          <a:noFill/>
          <a:ln/>
        </p:spPr>
        <p:txBody>
          <a:bodyPr wrap="none" lIns="0" tIns="0" rIns="0" bIns="0" rtlCol="0" anchor="t">
            <a:spAutoFit/>
          </a:bodyPr>
          <a:lstStyle/>
          <a:p>
            <a:pPr algn="ctr">
              <a:lnSpc>
                <a:spcPts val="1867"/>
              </a:lnSpc>
            </a:pPr>
            <a:r>
              <a:rPr lang="en-US" sz="1400" dirty="0">
                <a:solidFill>
                  <a:srgbClr val="0D9488"/>
                </a:solidFill>
                <a:latin typeface="Open Sans" pitchFamily="34" charset="0"/>
                <a:ea typeface="Open Sans" pitchFamily="34" charset="-122"/>
                <a:cs typeface="Open Sans" pitchFamily="34" charset="-120"/>
              </a:rPr>
              <a:t>A phased approach ensures robust process development and regulatory compliance.</a:t>
            </a:r>
            <a:endParaRPr lang="en-US" sz="1400" dirty="0"/>
          </a:p>
        </p:txBody>
      </p:sp>
      <p:sp>
        <p:nvSpPr>
          <p:cNvPr id="5" name="Text 2"/>
          <p:cNvSpPr/>
          <p:nvPr/>
        </p:nvSpPr>
        <p:spPr>
          <a:xfrm>
            <a:off x="1333500" y="1774032"/>
            <a:ext cx="9525000" cy="786241"/>
          </a:xfrm>
          <a:prstGeom prst="rect">
            <a:avLst/>
          </a:prstGeom>
          <a:noFill/>
          <a:ln/>
        </p:spPr>
        <p:txBody>
          <a:bodyPr wrap="square" lIns="0" tIns="0" rIns="0" bIns="0" rtlCol="0" anchor="t">
            <a:spAutoFit/>
          </a:bodyPr>
          <a:lstStyle/>
          <a:p>
            <a:pPr algn="just">
              <a:lnSpc>
                <a:spcPts val="2133"/>
              </a:lnSpc>
            </a:pPr>
            <a:r>
              <a:rPr lang="en-US" sz="1256" dirty="0">
                <a:solidFill>
                  <a:srgbClr val="334155"/>
                </a:solidFill>
                <a:latin typeface="Open Sans" pitchFamily="34" charset="0"/>
                <a:ea typeface="Open Sans" pitchFamily="34" charset="-122"/>
                <a:cs typeface="Open Sans" pitchFamily="34" charset="-120"/>
              </a:rPr>
              <a:t>A successful charge variant control strategy is implemented in three distinct phases, moving from initial molecular understanding to full-scale manufacturing validation. This structured approach ensures that the final control strategy is both scientifically sound and operationally robust.</a:t>
            </a:r>
            <a:endParaRPr lang="en-US" sz="1256" dirty="0"/>
          </a:p>
        </p:txBody>
      </p:sp>
      <p:sp>
        <p:nvSpPr>
          <p:cNvPr id="6" name="Shape 3"/>
          <p:cNvSpPr/>
          <p:nvPr/>
        </p:nvSpPr>
        <p:spPr>
          <a:xfrm>
            <a:off x="1338263" y="3173164"/>
            <a:ext cx="1895959" cy="600075"/>
          </a:xfrm>
          <a:prstGeom prst="rect">
            <a:avLst/>
          </a:prstGeom>
          <a:solidFill>
            <a:srgbClr val="0F172A"/>
          </a:solidFill>
          <a:ln w="9144">
            <a:solidFill>
              <a:srgbClr val="E2E8F0"/>
            </a:solidFill>
            <a:prstDash val="solid"/>
          </a:ln>
        </p:spPr>
      </p:sp>
      <p:sp>
        <p:nvSpPr>
          <p:cNvPr id="7" name="Text 4"/>
          <p:cNvSpPr/>
          <p:nvPr/>
        </p:nvSpPr>
        <p:spPr>
          <a:xfrm>
            <a:off x="1338263" y="3173164"/>
            <a:ext cx="1895959" cy="654303"/>
          </a:xfrm>
          <a:prstGeom prst="rect">
            <a:avLst/>
          </a:prstGeom>
          <a:noFill/>
          <a:ln/>
        </p:spPr>
        <p:txBody>
          <a:bodyPr wrap="square" lIns="226737" tIns="226737" rIns="226737" bIns="226737" rtlCol="0" anchor="t">
            <a:spAutoFit/>
          </a:bodyPr>
          <a:lstStyle/>
          <a:p>
            <a:pPr>
              <a:lnSpc>
                <a:spcPts val="1600"/>
              </a:lnSpc>
            </a:pPr>
            <a:r>
              <a:rPr lang="en-US" sz="1180" b="1" dirty="0">
                <a:solidFill>
                  <a:srgbClr val="F8FAFC"/>
                </a:solidFill>
                <a:latin typeface="Montserrat" pitchFamily="34" charset="0"/>
                <a:ea typeface="Montserrat" pitchFamily="34" charset="-122"/>
                <a:cs typeface="Montserrat" pitchFamily="34" charset="-120"/>
              </a:rPr>
              <a:t>Phase</a:t>
            </a:r>
            <a:endParaRPr lang="en-US" sz="1180" dirty="0"/>
          </a:p>
        </p:txBody>
      </p:sp>
      <p:sp>
        <p:nvSpPr>
          <p:cNvPr id="8" name="Shape 5"/>
          <p:cNvSpPr/>
          <p:nvPr/>
        </p:nvSpPr>
        <p:spPr>
          <a:xfrm>
            <a:off x="3234222" y="3173164"/>
            <a:ext cx="7619516" cy="600075"/>
          </a:xfrm>
          <a:prstGeom prst="rect">
            <a:avLst/>
          </a:prstGeom>
          <a:solidFill>
            <a:srgbClr val="0F172A"/>
          </a:solidFill>
          <a:ln w="9144">
            <a:solidFill>
              <a:srgbClr val="E2E8F0"/>
            </a:solidFill>
            <a:prstDash val="solid"/>
          </a:ln>
        </p:spPr>
      </p:sp>
      <p:sp>
        <p:nvSpPr>
          <p:cNvPr id="9" name="Text 6"/>
          <p:cNvSpPr/>
          <p:nvPr/>
        </p:nvSpPr>
        <p:spPr>
          <a:xfrm>
            <a:off x="3234222" y="3173164"/>
            <a:ext cx="7619516" cy="654303"/>
          </a:xfrm>
          <a:prstGeom prst="rect">
            <a:avLst/>
          </a:prstGeom>
          <a:noFill/>
          <a:ln/>
        </p:spPr>
        <p:txBody>
          <a:bodyPr wrap="square" lIns="226737" tIns="226737" rIns="226737" bIns="226737" rtlCol="0" anchor="t">
            <a:spAutoFit/>
          </a:bodyPr>
          <a:lstStyle/>
          <a:p>
            <a:pPr>
              <a:lnSpc>
                <a:spcPts val="1600"/>
              </a:lnSpc>
            </a:pPr>
            <a:r>
              <a:rPr lang="en-US" sz="1180" b="1" dirty="0">
                <a:solidFill>
                  <a:srgbClr val="F8FAFC"/>
                </a:solidFill>
                <a:latin typeface="Montserrat" pitchFamily="34" charset="0"/>
                <a:ea typeface="Montserrat" pitchFamily="34" charset="-122"/>
                <a:cs typeface="Montserrat" pitchFamily="34" charset="-120"/>
              </a:rPr>
              <a:t>Key Objectives and Deliverables</a:t>
            </a:r>
            <a:endParaRPr lang="en-US" sz="1180" dirty="0"/>
          </a:p>
        </p:txBody>
      </p:sp>
      <p:sp>
        <p:nvSpPr>
          <p:cNvPr id="10" name="Shape 7"/>
          <p:cNvSpPr/>
          <p:nvPr/>
        </p:nvSpPr>
        <p:spPr>
          <a:xfrm>
            <a:off x="1338264" y="3763715"/>
            <a:ext cx="1896145" cy="819151"/>
          </a:xfrm>
          <a:prstGeom prst="rect">
            <a:avLst/>
          </a:prstGeom>
          <a:solidFill>
            <a:srgbClr val="FFFFFF"/>
          </a:solidFill>
          <a:ln w="9144">
            <a:solidFill>
              <a:srgbClr val="E2E8F0"/>
            </a:solidFill>
            <a:prstDash val="solid"/>
          </a:ln>
        </p:spPr>
      </p:sp>
      <p:sp>
        <p:nvSpPr>
          <p:cNvPr id="11" name="Text 8"/>
          <p:cNvSpPr/>
          <p:nvPr/>
        </p:nvSpPr>
        <p:spPr>
          <a:xfrm>
            <a:off x="1528763" y="3963740"/>
            <a:ext cx="1095375" cy="419346"/>
          </a:xfrm>
          <a:prstGeom prst="rect">
            <a:avLst/>
          </a:prstGeom>
          <a:noFill/>
          <a:ln/>
        </p:spPr>
        <p:txBody>
          <a:bodyPr wrap="square" lIns="0" tIns="0" rIns="0" bIns="0" rtlCol="0" anchor="t">
            <a:spAutoFit/>
          </a:bodyPr>
          <a:lstStyle/>
          <a:p>
            <a:pPr>
              <a:lnSpc>
                <a:spcPts val="1733"/>
              </a:lnSpc>
            </a:pPr>
            <a:r>
              <a:rPr lang="en-US" sz="1040" dirty="0">
                <a:solidFill>
                  <a:srgbClr val="0D9488"/>
                </a:solidFill>
                <a:latin typeface="Open Sans" pitchFamily="34" charset="0"/>
                <a:ea typeface="Open Sans" pitchFamily="34" charset="-122"/>
                <a:cs typeface="Open Sans" pitchFamily="34" charset="-120"/>
              </a:rPr>
              <a:t>Phase 1: Characterization</a:t>
            </a:r>
            <a:endParaRPr lang="en-US" sz="1040" dirty="0"/>
          </a:p>
        </p:txBody>
      </p:sp>
      <p:sp>
        <p:nvSpPr>
          <p:cNvPr id="12" name="Shape 9"/>
          <p:cNvSpPr/>
          <p:nvPr/>
        </p:nvSpPr>
        <p:spPr>
          <a:xfrm>
            <a:off x="3229943" y="3763715"/>
            <a:ext cx="7623795" cy="819151"/>
          </a:xfrm>
          <a:prstGeom prst="rect">
            <a:avLst/>
          </a:prstGeom>
          <a:solidFill>
            <a:srgbClr val="FFFFFF"/>
          </a:solidFill>
          <a:ln w="9144">
            <a:solidFill>
              <a:srgbClr val="E2E8F0"/>
            </a:solidFill>
            <a:prstDash val="solid"/>
          </a:ln>
        </p:spPr>
      </p:sp>
      <p:sp>
        <p:nvSpPr>
          <p:cNvPr id="13" name="Text 10"/>
          <p:cNvSpPr/>
          <p:nvPr/>
        </p:nvSpPr>
        <p:spPr>
          <a:xfrm>
            <a:off x="3229943" y="3763715"/>
            <a:ext cx="7623795" cy="877248"/>
          </a:xfrm>
          <a:prstGeom prst="rect">
            <a:avLst/>
          </a:prstGeom>
          <a:noFill/>
          <a:ln/>
        </p:spPr>
        <p:txBody>
          <a:bodyPr wrap="square" lIns="226737" tIns="226737" rIns="226737" bIns="226737" rtlCol="0" anchor="t">
            <a:spAutoFit/>
          </a:bodyPr>
          <a:lstStyle/>
          <a:p>
            <a:pPr>
              <a:lnSpc>
                <a:spcPts val="1733"/>
              </a:lnSpc>
            </a:pPr>
            <a:r>
              <a:rPr lang="en-US" sz="1040" dirty="0">
                <a:solidFill>
                  <a:srgbClr val="334155"/>
                </a:solidFill>
                <a:latin typeface="Open Sans" pitchFamily="34" charset="0"/>
                <a:ea typeface="Open Sans" pitchFamily="34" charset="-122"/>
                <a:cs typeface="Open Sans" pitchFamily="34" charset="-120"/>
              </a:rPr>
              <a:t>Develop and validate analytical methods (icIEF, CEX). Identify major variants via LC-MS/MS and establish baseline process capability.</a:t>
            </a:r>
            <a:endParaRPr lang="en-US" sz="1040" dirty="0"/>
          </a:p>
        </p:txBody>
      </p:sp>
      <p:sp>
        <p:nvSpPr>
          <p:cNvPr id="14" name="Shape 11"/>
          <p:cNvSpPr/>
          <p:nvPr/>
        </p:nvSpPr>
        <p:spPr>
          <a:xfrm>
            <a:off x="1338263" y="4573341"/>
            <a:ext cx="1887215" cy="819151"/>
          </a:xfrm>
          <a:prstGeom prst="rect">
            <a:avLst/>
          </a:prstGeom>
          <a:solidFill>
            <a:srgbClr val="F1F5F9"/>
          </a:solidFill>
          <a:ln w="9144">
            <a:solidFill>
              <a:srgbClr val="E2E8F0"/>
            </a:solidFill>
            <a:prstDash val="solid"/>
          </a:ln>
        </p:spPr>
      </p:sp>
      <p:sp>
        <p:nvSpPr>
          <p:cNvPr id="15" name="Text 12"/>
          <p:cNvSpPr/>
          <p:nvPr/>
        </p:nvSpPr>
        <p:spPr>
          <a:xfrm>
            <a:off x="1528763" y="4773365"/>
            <a:ext cx="1396216" cy="201337"/>
          </a:xfrm>
          <a:prstGeom prst="rect">
            <a:avLst/>
          </a:prstGeom>
          <a:noFill/>
          <a:ln/>
        </p:spPr>
        <p:txBody>
          <a:bodyPr wrap="none" lIns="0" tIns="0" rIns="0" bIns="0" rtlCol="0" anchor="t">
            <a:spAutoFit/>
          </a:bodyPr>
          <a:lstStyle/>
          <a:p>
            <a:pPr>
              <a:lnSpc>
                <a:spcPts val="1733"/>
              </a:lnSpc>
            </a:pPr>
            <a:r>
              <a:rPr lang="en-US" sz="1040" dirty="0">
                <a:solidFill>
                  <a:srgbClr val="0D9488"/>
                </a:solidFill>
                <a:latin typeface="Open Sans" pitchFamily="34" charset="0"/>
                <a:ea typeface="Open Sans" pitchFamily="34" charset="-122"/>
                <a:cs typeface="Open Sans" pitchFamily="34" charset="-120"/>
              </a:rPr>
              <a:t>Phase 2: Development</a:t>
            </a:r>
            <a:endParaRPr lang="en-US" sz="1040" dirty="0"/>
          </a:p>
        </p:txBody>
      </p:sp>
      <p:sp>
        <p:nvSpPr>
          <p:cNvPr id="16" name="Shape 13"/>
          <p:cNvSpPr/>
          <p:nvPr/>
        </p:nvSpPr>
        <p:spPr>
          <a:xfrm>
            <a:off x="3225478" y="4573341"/>
            <a:ext cx="7628260" cy="819151"/>
          </a:xfrm>
          <a:prstGeom prst="rect">
            <a:avLst/>
          </a:prstGeom>
          <a:solidFill>
            <a:srgbClr val="F1F5F9"/>
          </a:solidFill>
          <a:ln w="9144">
            <a:solidFill>
              <a:srgbClr val="E2E8F0"/>
            </a:solidFill>
            <a:prstDash val="solid"/>
          </a:ln>
        </p:spPr>
      </p:sp>
      <p:sp>
        <p:nvSpPr>
          <p:cNvPr id="17" name="Text 14"/>
          <p:cNvSpPr/>
          <p:nvPr/>
        </p:nvSpPr>
        <p:spPr>
          <a:xfrm>
            <a:off x="3225478" y="4573341"/>
            <a:ext cx="7628260" cy="877248"/>
          </a:xfrm>
          <a:prstGeom prst="rect">
            <a:avLst/>
          </a:prstGeom>
          <a:noFill/>
          <a:ln/>
        </p:spPr>
        <p:txBody>
          <a:bodyPr wrap="square" lIns="226737" tIns="226737" rIns="226737" bIns="226737" rtlCol="0" anchor="t">
            <a:spAutoFit/>
          </a:bodyPr>
          <a:lstStyle/>
          <a:p>
            <a:pPr>
              <a:lnSpc>
                <a:spcPts val="1733"/>
              </a:lnSpc>
            </a:pPr>
            <a:r>
              <a:rPr lang="en-US" sz="1040" dirty="0">
                <a:solidFill>
                  <a:srgbClr val="334155"/>
                </a:solidFill>
                <a:latin typeface="Open Sans" pitchFamily="34" charset="0"/>
                <a:ea typeface="Open Sans" pitchFamily="34" charset="-122"/>
                <a:cs typeface="Open Sans" pitchFamily="34" charset="-120"/>
              </a:rPr>
              <a:t>Optimize CEX parameters and fraction collection cut points. Conduct Design of Experiments (DoE) to establish process robustness and design space.</a:t>
            </a:r>
            <a:endParaRPr lang="en-US" sz="1040" dirty="0"/>
          </a:p>
        </p:txBody>
      </p:sp>
      <p:sp>
        <p:nvSpPr>
          <p:cNvPr id="18" name="Shape 15"/>
          <p:cNvSpPr/>
          <p:nvPr/>
        </p:nvSpPr>
        <p:spPr>
          <a:xfrm>
            <a:off x="1338263" y="5382965"/>
            <a:ext cx="1887215" cy="819151"/>
          </a:xfrm>
          <a:prstGeom prst="rect">
            <a:avLst/>
          </a:prstGeom>
          <a:solidFill>
            <a:srgbClr val="FFFFFF"/>
          </a:solidFill>
          <a:ln w="9144">
            <a:solidFill>
              <a:srgbClr val="E2E8F0"/>
            </a:solidFill>
            <a:prstDash val="solid"/>
          </a:ln>
        </p:spPr>
      </p:sp>
      <p:sp>
        <p:nvSpPr>
          <p:cNvPr id="19" name="Text 16"/>
          <p:cNvSpPr/>
          <p:nvPr/>
        </p:nvSpPr>
        <p:spPr>
          <a:xfrm>
            <a:off x="1524000" y="5582990"/>
            <a:ext cx="1176604" cy="201337"/>
          </a:xfrm>
          <a:prstGeom prst="rect">
            <a:avLst/>
          </a:prstGeom>
          <a:noFill/>
          <a:ln/>
        </p:spPr>
        <p:txBody>
          <a:bodyPr wrap="none" lIns="0" tIns="0" rIns="0" bIns="0" rtlCol="0" anchor="t">
            <a:spAutoFit/>
          </a:bodyPr>
          <a:lstStyle/>
          <a:p>
            <a:pPr>
              <a:lnSpc>
                <a:spcPts val="1733"/>
              </a:lnSpc>
            </a:pPr>
            <a:r>
              <a:rPr lang="en-US" sz="1040" dirty="0">
                <a:solidFill>
                  <a:srgbClr val="0D9488"/>
                </a:solidFill>
                <a:latin typeface="Open Sans" pitchFamily="34" charset="0"/>
                <a:ea typeface="Open Sans" pitchFamily="34" charset="-122"/>
                <a:cs typeface="Open Sans" pitchFamily="34" charset="-120"/>
              </a:rPr>
              <a:t>Phase 3: Validation</a:t>
            </a:r>
            <a:endParaRPr lang="en-US" sz="1040" dirty="0"/>
          </a:p>
        </p:txBody>
      </p:sp>
      <p:sp>
        <p:nvSpPr>
          <p:cNvPr id="20" name="Shape 17"/>
          <p:cNvSpPr/>
          <p:nvPr/>
        </p:nvSpPr>
        <p:spPr>
          <a:xfrm>
            <a:off x="3221014" y="5382965"/>
            <a:ext cx="7632725" cy="819151"/>
          </a:xfrm>
          <a:prstGeom prst="rect">
            <a:avLst/>
          </a:prstGeom>
          <a:solidFill>
            <a:srgbClr val="FFFFFF"/>
          </a:solidFill>
          <a:ln w="9144">
            <a:solidFill>
              <a:srgbClr val="E2E8F0"/>
            </a:solidFill>
            <a:prstDash val="solid"/>
          </a:ln>
        </p:spPr>
      </p:sp>
      <p:sp>
        <p:nvSpPr>
          <p:cNvPr id="21" name="Text 18"/>
          <p:cNvSpPr/>
          <p:nvPr/>
        </p:nvSpPr>
        <p:spPr>
          <a:xfrm>
            <a:off x="3221014" y="5382965"/>
            <a:ext cx="7632725" cy="877248"/>
          </a:xfrm>
          <a:prstGeom prst="rect">
            <a:avLst/>
          </a:prstGeom>
          <a:noFill/>
          <a:ln/>
        </p:spPr>
        <p:txBody>
          <a:bodyPr wrap="square" lIns="226737" tIns="226737" rIns="226737" bIns="226737" rtlCol="0" anchor="t">
            <a:spAutoFit/>
          </a:bodyPr>
          <a:lstStyle/>
          <a:p>
            <a:pPr>
              <a:lnSpc>
                <a:spcPts val="1733"/>
              </a:lnSpc>
            </a:pPr>
            <a:r>
              <a:rPr lang="en-US" sz="1040" dirty="0">
                <a:solidFill>
                  <a:srgbClr val="334155"/>
                </a:solidFill>
                <a:latin typeface="Open Sans" pitchFamily="34" charset="0"/>
                <a:ea typeface="Open Sans" pitchFamily="34" charset="-122"/>
                <a:cs typeface="Open Sans" pitchFamily="34" charset="-120"/>
              </a:rPr>
              <a:t>Implement the control strategy at manufacturing scale. Validate fraction collection protocols and establish ongoing monitoring and trending programs.</a:t>
            </a:r>
            <a:endParaRPr lang="en-US" sz="1040" dirty="0"/>
          </a:p>
        </p:txBody>
      </p:sp>
      <p:sp>
        <p:nvSpPr>
          <p:cNvPr id="22" name="Text 19"/>
          <p:cNvSpPr/>
          <p:nvPr/>
        </p:nvSpPr>
        <p:spPr>
          <a:xfrm>
            <a:off x="3233838" y="6568827"/>
            <a:ext cx="5724324" cy="150682"/>
          </a:xfrm>
          <a:prstGeom prst="rect">
            <a:avLst/>
          </a:prstGeom>
          <a:noFill/>
          <a:ln/>
        </p:spPr>
        <p:txBody>
          <a:bodyPr wrap="none" lIns="0" tIns="0" rIns="0" bIns="0" rtlCol="0" anchor="t">
            <a:spAutoFit/>
          </a:bodyPr>
          <a:lstStyle/>
          <a:p>
            <a:pPr algn="ctr">
              <a:lnSpc>
                <a:spcPts val="1200"/>
              </a:lnSpc>
            </a:pPr>
            <a:r>
              <a:rPr lang="en-US" sz="969" i="1" dirty="0">
                <a:solidFill>
                  <a:srgbClr val="64748B"/>
                </a:solidFill>
                <a:latin typeface="Open Sans" pitchFamily="34" charset="0"/>
                <a:ea typeface="Open Sans" pitchFamily="34" charset="-122"/>
                <a:cs typeface="Open Sans" pitchFamily="34" charset="-120"/>
              </a:rPr>
              <a:t>Continuous improvement: Leverage lifecycle data to refine specifications and optimize purification yields.</a:t>
            </a:r>
            <a:endParaRPr lang="en-US" sz="969" dirty="0"/>
          </a:p>
        </p:txBody>
      </p:sp>
      <p:sp>
        <p:nvSpPr>
          <p:cNvPr id="24" name="标题 23">
            <a:extLst>
              <a:ext uri="{FF2B5EF4-FFF2-40B4-BE49-F238E27FC236}">
                <a16:creationId xmlns:a16="http://schemas.microsoft.com/office/drawing/2014/main" id="{EF26C761-E49E-DD45-CAA1-747013DDD032}"/>
              </a:ext>
            </a:extLst>
          </p:cNvPr>
          <p:cNvSpPr>
            <a:spLocks noGrp="1"/>
          </p:cNvSpPr>
          <p:nvPr>
            <p:ph type="title"/>
          </p:nvPr>
        </p:nvSpPr>
        <p:spPr/>
        <p:txBody>
          <a:bodyPr/>
          <a:lstStyle/>
          <a:p>
            <a:endParaRPr lang="zh-CN" altLang="en-US"/>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D0865D-F186-4BEA-BF84-899E7C0FFCCD}"/>
              </a:ext>
            </a:extLst>
          </p:cNvPr>
          <p:cNvSpPr>
            <a:spLocks noGrp="1"/>
          </p:cNvSpPr>
          <p:nvPr>
            <p:ph type="title"/>
          </p:nvPr>
        </p:nvSpPr>
        <p:spPr/>
        <p:txBody>
          <a:bodyPr wrap="square">
            <a:normAutofit fontScale="90000"/>
          </a:bodyPr>
          <a:lstStyle/>
          <a:p>
            <a:pPr>
              <a:defRPr/>
            </a:pPr>
            <a:r>
              <a:rPr lang="en-US" altLang="zh-CN" sz="2133" dirty="0"/>
              <a:t>Case study 1</a:t>
            </a:r>
            <a:r>
              <a:rPr lang="zh-CN" altLang="en-US" sz="2133" dirty="0"/>
              <a:t>: </a:t>
            </a:r>
            <a:r>
              <a:rPr lang="en-US" altLang="zh-CN" sz="2133" dirty="0"/>
              <a:t>Finetuning the slope of elution step to removal </a:t>
            </a:r>
            <a:r>
              <a:rPr lang="zh-CN" altLang="en-US" sz="2133" dirty="0"/>
              <a:t>Acid-Base Peak Separation</a:t>
            </a:r>
          </a:p>
        </p:txBody>
      </p:sp>
      <p:pic>
        <p:nvPicPr>
          <p:cNvPr id="3" name="图片 2">
            <a:extLst>
              <a:ext uri="{FF2B5EF4-FFF2-40B4-BE49-F238E27FC236}">
                <a16:creationId xmlns:a16="http://schemas.microsoft.com/office/drawing/2014/main" id="{AB1009C9-57BA-46EA-BF4C-3C2843E5484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6979" y="1796820"/>
            <a:ext cx="4846947" cy="184050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C7972E25-E181-4915-9CD3-BBFD1567C38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6979" y="4360780"/>
            <a:ext cx="4846947" cy="1840507"/>
          </a:xfrm>
          <a:prstGeom prst="rect">
            <a:avLst/>
          </a:prstGeom>
          <a:noFill/>
          <a:ln>
            <a:solidFill>
              <a:schemeClr val="tx1"/>
            </a:solidFill>
          </a:ln>
        </p:spPr>
      </p:pic>
      <p:sp>
        <p:nvSpPr>
          <p:cNvPr id="7" name="文本框 6">
            <a:extLst>
              <a:ext uri="{FF2B5EF4-FFF2-40B4-BE49-F238E27FC236}">
                <a16:creationId xmlns:a16="http://schemas.microsoft.com/office/drawing/2014/main" id="{A0CBA23E-AA35-4A69-B3CF-00D0D273C52A}"/>
              </a:ext>
            </a:extLst>
          </p:cNvPr>
          <p:cNvSpPr txBox="1"/>
          <p:nvPr/>
        </p:nvSpPr>
        <p:spPr>
          <a:xfrm>
            <a:off x="527381" y="1153393"/>
            <a:ext cx="4992555" cy="420564"/>
          </a:xfrm>
          <a:prstGeom prst="rect">
            <a:avLst/>
          </a:prstGeom>
          <a:noFill/>
        </p:spPr>
        <p:txBody>
          <a:bodyPr wrap="square" rtlCol="0">
            <a:normAutofit fontScale="62500" lnSpcReduction="20000"/>
          </a:bodyPr>
          <a:lstStyle/>
          <a:p>
            <a:r>
              <a:rPr lang="zh-CN" altLang="en-US" sz="2133" dirty="0"/>
              <a:t>Effect of Concentration Gradient Slope on Separation of Acid-Base Peaks</a:t>
            </a:r>
          </a:p>
        </p:txBody>
      </p:sp>
      <p:pic>
        <p:nvPicPr>
          <p:cNvPr id="8" name="图片 7">
            <a:extLst>
              <a:ext uri="{FF2B5EF4-FFF2-40B4-BE49-F238E27FC236}">
                <a16:creationId xmlns:a16="http://schemas.microsoft.com/office/drawing/2014/main" id="{1DD3B836-D584-48E5-9340-4254D9AEED90}"/>
              </a:ext>
            </a:extLst>
          </p:cNvPr>
          <p:cNvPicPr>
            <a:picLocks noChangeAspect="1"/>
          </p:cNvPicPr>
          <p:nvPr/>
        </p:nvPicPr>
        <p:blipFill rotWithShape="1">
          <a:blip r:embed="rId5"/>
          <a:srcRect l="13531" t="12124" r="27836" b="8809"/>
          <a:stretch/>
        </p:blipFill>
        <p:spPr>
          <a:xfrm>
            <a:off x="5943160" y="1746127"/>
            <a:ext cx="5667925" cy="2501275"/>
          </a:xfrm>
          <a:prstGeom prst="rect">
            <a:avLst/>
          </a:prstGeom>
          <a:ln>
            <a:solidFill>
              <a:schemeClr val="tx1"/>
            </a:solidFill>
          </a:ln>
        </p:spPr>
      </p:pic>
      <p:graphicFrame>
        <p:nvGraphicFramePr>
          <p:cNvPr id="10" name="表格 9">
            <a:extLst>
              <a:ext uri="{FF2B5EF4-FFF2-40B4-BE49-F238E27FC236}">
                <a16:creationId xmlns:a16="http://schemas.microsoft.com/office/drawing/2014/main" id="{BAF92C5C-EC2A-4682-AFF4-47AF02E3346C}"/>
              </a:ext>
            </a:extLst>
          </p:cNvPr>
          <p:cNvGraphicFramePr>
            <a:graphicFrameLocks noGrp="1"/>
          </p:cNvGraphicFramePr>
          <p:nvPr/>
        </p:nvGraphicFramePr>
        <p:xfrm>
          <a:off x="6017613" y="4431213"/>
          <a:ext cx="5519020" cy="933881"/>
        </p:xfrm>
        <a:graphic>
          <a:graphicData uri="http://schemas.openxmlformats.org/drawingml/2006/table">
            <a:tbl>
              <a:tblPr/>
              <a:tblGrid>
                <a:gridCol w="1103804">
                  <a:extLst>
                    <a:ext uri="{9D8B030D-6E8A-4147-A177-3AD203B41FA5}">
                      <a16:colId xmlns:a16="http://schemas.microsoft.com/office/drawing/2014/main" val="2886393855"/>
                    </a:ext>
                  </a:extLst>
                </a:gridCol>
                <a:gridCol w="1103804">
                  <a:extLst>
                    <a:ext uri="{9D8B030D-6E8A-4147-A177-3AD203B41FA5}">
                      <a16:colId xmlns:a16="http://schemas.microsoft.com/office/drawing/2014/main" val="3745641112"/>
                    </a:ext>
                  </a:extLst>
                </a:gridCol>
                <a:gridCol w="1103804">
                  <a:extLst>
                    <a:ext uri="{9D8B030D-6E8A-4147-A177-3AD203B41FA5}">
                      <a16:colId xmlns:a16="http://schemas.microsoft.com/office/drawing/2014/main" val="253528645"/>
                    </a:ext>
                  </a:extLst>
                </a:gridCol>
                <a:gridCol w="1103804">
                  <a:extLst>
                    <a:ext uri="{9D8B030D-6E8A-4147-A177-3AD203B41FA5}">
                      <a16:colId xmlns:a16="http://schemas.microsoft.com/office/drawing/2014/main" val="3829617765"/>
                    </a:ext>
                  </a:extLst>
                </a:gridCol>
                <a:gridCol w="1103804">
                  <a:extLst>
                    <a:ext uri="{9D8B030D-6E8A-4147-A177-3AD203B41FA5}">
                      <a16:colId xmlns:a16="http://schemas.microsoft.com/office/drawing/2014/main" val="2374108297"/>
                    </a:ext>
                  </a:extLst>
                </a:gridCol>
              </a:tblGrid>
              <a:tr h="289821">
                <a:tc>
                  <a:txBody>
                    <a:bodyPr/>
                    <a:lstStyle/>
                    <a:p>
                      <a:pPr algn="ctr" fontAlgn="ctr"/>
                      <a:r>
                        <a:rPr lang="zh-CN" altLang="en-US" sz="1500" b="0" i="0" u="none" strike="noStrike">
                          <a:solidFill>
                            <a:srgbClr val="000000"/>
                          </a:solidFill>
                          <a:effectLst/>
                          <a:latin typeface="等线" panose="02010600030101010101" pitchFamily="2" charset="-122"/>
                          <a:ea typeface="等线" panose="02010600030101010101" pitchFamily="2" charset="-122"/>
                        </a:rPr>
                        <a:t>　</a:t>
                      </a:r>
                    </a:p>
                  </a:txBody>
                  <a:tcPr marL="8467" marR="8467" marT="8467"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t>Acid peak %</a:t>
                      </a:r>
                    </a:p>
                  </a:txBody>
                  <a:tcPr marL="8467" marR="8467" marT="8467"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t>Main peak%</a:t>
                      </a:r>
                    </a:p>
                  </a:txBody>
                  <a:tcPr marL="8467" marR="8467" marT="8467"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t>Alkaline peak %</a:t>
                      </a:r>
                    </a:p>
                  </a:txBody>
                  <a:tcPr marL="8467" marR="8467" marT="8467"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等线" panose="02010600030101010101" pitchFamily="2" charset="-122"/>
                          <a:ea typeface="等线" panose="02010600030101010101" pitchFamily="2" charset="-122"/>
                        </a:rPr>
                        <a:t>SEC%</a:t>
                      </a:r>
                    </a:p>
                  </a:txBody>
                  <a:tcPr marL="8467" marR="8467" marT="8467"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0576758"/>
                  </a:ext>
                </a:extLst>
              </a:tr>
              <a:tr h="279827">
                <a:tc>
                  <a:txBody>
                    <a:bodyPr/>
                    <a:lstStyle/>
                    <a:p>
                      <a:pPr algn="ctr" fontAlgn="ctr"/>
                      <a:r>
                        <a:rPr lang="en-US" sz="1500" b="0" i="0" u="none" strike="noStrike">
                          <a:solidFill>
                            <a:srgbClr val="000000"/>
                          </a:solidFill>
                          <a:effectLst/>
                          <a:latin typeface="等线" panose="02010600030101010101" pitchFamily="2" charset="-122"/>
                          <a:ea typeface="等线" panose="02010600030101010101" pitchFamily="2" charset="-122"/>
                        </a:rPr>
                        <a:t>load</a:t>
                      </a:r>
                    </a:p>
                  </a:txBody>
                  <a:tcPr marL="8467" marR="8467" marT="8467"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1500" b="0" i="0" u="none" strike="noStrike">
                          <a:solidFill>
                            <a:srgbClr val="000000"/>
                          </a:solidFill>
                          <a:effectLst/>
                          <a:latin typeface="等线" panose="02010600030101010101" pitchFamily="2" charset="-122"/>
                          <a:ea typeface="等线" panose="02010600030101010101" pitchFamily="2" charset="-122"/>
                        </a:rPr>
                        <a:t>30</a:t>
                      </a:r>
                    </a:p>
                  </a:txBody>
                  <a:tcPr marL="8467" marR="8467" marT="8467"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1500" b="0" i="0" u="none" strike="noStrike">
                          <a:solidFill>
                            <a:srgbClr val="000000"/>
                          </a:solidFill>
                          <a:effectLst/>
                          <a:latin typeface="等线" panose="02010600030101010101" pitchFamily="2" charset="-122"/>
                          <a:ea typeface="等线" panose="02010600030101010101" pitchFamily="2" charset="-122"/>
                        </a:rPr>
                        <a:t>50</a:t>
                      </a:r>
                    </a:p>
                  </a:txBody>
                  <a:tcPr marL="8467" marR="8467" marT="8467"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1500" b="0" i="0" u="none" strike="noStrike">
                          <a:solidFill>
                            <a:srgbClr val="000000"/>
                          </a:solidFill>
                          <a:effectLst/>
                          <a:latin typeface="等线" panose="02010600030101010101" pitchFamily="2" charset="-122"/>
                          <a:ea typeface="等线" panose="02010600030101010101" pitchFamily="2" charset="-122"/>
                        </a:rPr>
                        <a:t>20</a:t>
                      </a:r>
                    </a:p>
                  </a:txBody>
                  <a:tcPr marL="8467" marR="8467" marT="8467"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ctr"/>
                      <a:r>
                        <a:rPr lang="en-US" altLang="zh-CN" sz="1500" b="0" i="0" u="none" strike="noStrike">
                          <a:solidFill>
                            <a:srgbClr val="000000"/>
                          </a:solidFill>
                          <a:effectLst/>
                          <a:latin typeface="等线" panose="02010600030101010101" pitchFamily="2" charset="-122"/>
                          <a:ea typeface="等线" panose="02010600030101010101" pitchFamily="2" charset="-122"/>
                        </a:rPr>
                        <a:t>98.5</a:t>
                      </a:r>
                    </a:p>
                  </a:txBody>
                  <a:tcPr marL="8467" marR="8467" marT="8467"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917323910"/>
                  </a:ext>
                </a:extLst>
              </a:tr>
              <a:tr h="279827">
                <a:tc>
                  <a:txBody>
                    <a:bodyPr/>
                    <a:lstStyle/>
                    <a:p>
                      <a:pPr algn="ctr" fontAlgn="ctr"/>
                      <a:r>
                        <a:rPr lang="en-US" sz="1500" b="0" i="0" u="none" strike="noStrike">
                          <a:solidFill>
                            <a:srgbClr val="000000"/>
                          </a:solidFill>
                          <a:effectLst/>
                          <a:latin typeface="等线" panose="02010600030101010101" pitchFamily="2" charset="-122"/>
                          <a:ea typeface="等线" panose="02010600030101010101" pitchFamily="2" charset="-122"/>
                        </a:rPr>
                        <a:t>CEX Elu</a:t>
                      </a:r>
                    </a:p>
                  </a:txBody>
                  <a:tcPr marL="8467" marR="8467" marT="846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500" b="0" i="0" u="none" strike="noStrike">
                          <a:solidFill>
                            <a:srgbClr val="000000"/>
                          </a:solidFill>
                          <a:effectLst/>
                          <a:latin typeface="等线" panose="02010600030101010101" pitchFamily="2" charset="-122"/>
                          <a:ea typeface="等线" panose="02010600030101010101" pitchFamily="2" charset="-122"/>
                        </a:rPr>
                        <a:t>25</a:t>
                      </a:r>
                    </a:p>
                  </a:txBody>
                  <a:tcPr marL="8467" marR="8467" marT="846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500" b="0" i="0" u="none" strike="noStrike">
                          <a:solidFill>
                            <a:srgbClr val="000000"/>
                          </a:solidFill>
                          <a:effectLst/>
                          <a:latin typeface="等线" panose="02010600030101010101" pitchFamily="2" charset="-122"/>
                          <a:ea typeface="等线" panose="02010600030101010101" pitchFamily="2" charset="-122"/>
                        </a:rPr>
                        <a:t>62</a:t>
                      </a:r>
                    </a:p>
                  </a:txBody>
                  <a:tcPr marL="8467" marR="8467" marT="846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500" b="0" i="0" u="none" strike="noStrike">
                          <a:solidFill>
                            <a:srgbClr val="000000"/>
                          </a:solidFill>
                          <a:effectLst/>
                          <a:latin typeface="等线" panose="02010600030101010101" pitchFamily="2" charset="-122"/>
                          <a:ea typeface="等线" panose="02010600030101010101" pitchFamily="2" charset="-122"/>
                        </a:rPr>
                        <a:t>13</a:t>
                      </a:r>
                    </a:p>
                  </a:txBody>
                  <a:tcPr marL="8467" marR="8467" marT="8467"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500" b="0" i="0" u="none" strike="noStrike" dirty="0">
                          <a:solidFill>
                            <a:srgbClr val="000000"/>
                          </a:solidFill>
                          <a:effectLst/>
                          <a:latin typeface="等线" panose="02010600030101010101" pitchFamily="2" charset="-122"/>
                          <a:ea typeface="等线" panose="02010600030101010101" pitchFamily="2" charset="-122"/>
                        </a:rPr>
                        <a:t>99.5</a:t>
                      </a:r>
                    </a:p>
                  </a:txBody>
                  <a:tcPr marL="8467" marR="8467" marT="8467"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3687166"/>
                  </a:ext>
                </a:extLst>
              </a:tr>
            </a:tbl>
          </a:graphicData>
        </a:graphic>
      </p:graphicFrame>
      <p:sp>
        <p:nvSpPr>
          <p:cNvPr id="11" name="文本框 10">
            <a:extLst>
              <a:ext uri="{FF2B5EF4-FFF2-40B4-BE49-F238E27FC236}">
                <a16:creationId xmlns:a16="http://schemas.microsoft.com/office/drawing/2014/main" id="{5E838885-6A60-469E-9EE9-CBF5493AB2CB}"/>
              </a:ext>
            </a:extLst>
          </p:cNvPr>
          <p:cNvSpPr txBox="1"/>
          <p:nvPr/>
        </p:nvSpPr>
        <p:spPr>
          <a:xfrm>
            <a:off x="441147" y="3786717"/>
            <a:ext cx="5462832" cy="379656"/>
          </a:xfrm>
          <a:prstGeom prst="rect">
            <a:avLst/>
          </a:prstGeom>
          <a:noFill/>
        </p:spPr>
        <p:txBody>
          <a:bodyPr wrap="square" rtlCol="0">
            <a:normAutofit fontScale="70000" lnSpcReduction="20000"/>
          </a:bodyPr>
          <a:lstStyle/>
          <a:p>
            <a:r>
              <a:rPr lang="zh-CN" altLang="en-US" sz="1867" dirty="0"/>
              <a:t>Condition 1. Three-step slope K1=2 5CV, K2=0 3CV, K3=3.9 12CV</a:t>
            </a:r>
          </a:p>
        </p:txBody>
      </p:sp>
      <p:sp>
        <p:nvSpPr>
          <p:cNvPr id="12" name="文本框 11">
            <a:extLst>
              <a:ext uri="{FF2B5EF4-FFF2-40B4-BE49-F238E27FC236}">
                <a16:creationId xmlns:a16="http://schemas.microsoft.com/office/drawing/2014/main" id="{9A177E8F-64DA-4E9B-A177-812ED0D12F17}"/>
              </a:ext>
            </a:extLst>
          </p:cNvPr>
          <p:cNvSpPr txBox="1"/>
          <p:nvPr/>
        </p:nvSpPr>
        <p:spPr>
          <a:xfrm>
            <a:off x="484264" y="6386373"/>
            <a:ext cx="5462832" cy="666977"/>
          </a:xfrm>
          <a:prstGeom prst="rect">
            <a:avLst/>
          </a:prstGeom>
          <a:noFill/>
        </p:spPr>
        <p:txBody>
          <a:bodyPr wrap="square" rtlCol="0">
            <a:normAutofit/>
          </a:bodyPr>
          <a:lstStyle/>
          <a:p>
            <a:r>
              <a:rPr lang="zh-CN" altLang="en-US" sz="1867" dirty="0"/>
              <a:t>Condition 2. Three-step slope K1=0.6 8CV, K2=6 5CV, K3=1.25 8CV</a:t>
            </a:r>
          </a:p>
        </p:txBody>
      </p:sp>
      <p:sp>
        <p:nvSpPr>
          <p:cNvPr id="13" name="文本框 12">
            <a:extLst>
              <a:ext uri="{FF2B5EF4-FFF2-40B4-BE49-F238E27FC236}">
                <a16:creationId xmlns:a16="http://schemas.microsoft.com/office/drawing/2014/main" id="{6537DC37-AE8C-45E2-9F77-CDD1E92E5BB9}"/>
              </a:ext>
            </a:extLst>
          </p:cNvPr>
          <p:cNvSpPr txBox="1"/>
          <p:nvPr/>
        </p:nvSpPr>
        <p:spPr>
          <a:xfrm>
            <a:off x="5856856" y="5503660"/>
            <a:ext cx="5999784" cy="666977"/>
          </a:xfrm>
          <a:prstGeom prst="rect">
            <a:avLst/>
          </a:prstGeom>
          <a:noFill/>
        </p:spPr>
        <p:txBody>
          <a:bodyPr wrap="square" rtlCol="0">
            <a:normAutofit fontScale="62500" lnSpcReduction="20000"/>
          </a:bodyPr>
          <a:lstStyle/>
          <a:p>
            <a:r>
              <a:rPr lang="zh-CN" altLang="en-US" sz="1867" dirty="0">
                <a:latin typeface="+mn-ea"/>
              </a:rPr>
              <a:t>On the NanoGel 50SP HP packing material, the acidic and basic peaks of an antibody were separated under Condition 2, achieving a final recovery rate above 70% with the acidic and basic peaks meeting the required specifications.</a:t>
            </a:r>
          </a:p>
        </p:txBody>
      </p:sp>
      <p:sp>
        <p:nvSpPr>
          <p:cNvPr id="4" name="圆: 空心 3">
            <a:extLst>
              <a:ext uri="{FF2B5EF4-FFF2-40B4-BE49-F238E27FC236}">
                <a16:creationId xmlns:a16="http://schemas.microsoft.com/office/drawing/2014/main" id="{F58594BE-BE81-2C1B-DAF4-FFA8931800D8}"/>
              </a:ext>
            </a:extLst>
          </p:cNvPr>
          <p:cNvSpPr/>
          <p:nvPr/>
        </p:nvSpPr>
        <p:spPr>
          <a:xfrm>
            <a:off x="1763486" y="5380264"/>
            <a:ext cx="612322" cy="938893"/>
          </a:xfrm>
          <a:prstGeom prst="donut">
            <a:avLst>
              <a:gd name="adj" fmla="val 3689"/>
            </a:avLst>
          </a:prstGeom>
          <a:solidFill>
            <a:srgbClr val="FF0000"/>
          </a:solidFill>
          <a:ln w="12700"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orm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Verdana" panose="020B0604030504040204"/>
            </a:endParaRPr>
          </a:p>
        </p:txBody>
      </p:sp>
      <p:sp>
        <p:nvSpPr>
          <p:cNvPr id="6" name="文本框 5">
            <a:extLst>
              <a:ext uri="{FF2B5EF4-FFF2-40B4-BE49-F238E27FC236}">
                <a16:creationId xmlns:a16="http://schemas.microsoft.com/office/drawing/2014/main" id="{592070F2-3C4B-6775-0E4C-6C81B4877ABB}"/>
              </a:ext>
            </a:extLst>
          </p:cNvPr>
          <p:cNvSpPr txBox="1"/>
          <p:nvPr/>
        </p:nvSpPr>
        <p:spPr>
          <a:xfrm>
            <a:off x="1567543" y="5134043"/>
            <a:ext cx="1877786" cy="24622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ormAutofit/>
          </a:bodyPr>
          <a:lstStyle/>
          <a:p>
            <a:pPr algn="l"/>
            <a:r>
              <a:rPr lang="en-US" altLang="zh-CN" sz="1600" dirty="0">
                <a:solidFill>
                  <a:srgbClr val="FF000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Acidic peak</a:t>
            </a:r>
            <a:endParaRPr lang="zh-CN" altLang="en-US" sz="1600" dirty="0">
              <a:solidFill>
                <a:srgbClr val="FF000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p:txBody>
      </p:sp>
    </p:spTree>
    <p:extLst>
      <p:ext uri="{BB962C8B-B14F-4D97-AF65-F5344CB8AC3E}">
        <p14:creationId xmlns:p14="http://schemas.microsoft.com/office/powerpoint/2010/main" val="173815686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wrap="square">
            <a:noAutofit/>
          </a:bodyPr>
          <a:lstStyle/>
          <a:p>
            <a:pPr marL="342900" indent="-342900" algn="l"/>
            <a:r>
              <a:rPr lang="en-US" sz="2400" dirty="0">
                <a:latin typeface="Times New Roman" panose="02020603050405020304" pitchFamily="18" charset="0"/>
                <a:ea typeface="+mj-lt"/>
                <a:cs typeface="Times New Roman" panose="02020603050405020304" pitchFamily="18" charset="0"/>
              </a:rPr>
              <a:t>C</a:t>
            </a:r>
            <a:r>
              <a:rPr lang="en-US" altLang="zh-CN" sz="2400" dirty="0">
                <a:latin typeface="Times New Roman" panose="02020603050405020304" pitchFamily="18" charset="0"/>
                <a:ea typeface="+mj-lt"/>
                <a:cs typeface="Times New Roman" panose="02020603050405020304" pitchFamily="18" charset="0"/>
              </a:rPr>
              <a:t>ase study 2</a:t>
            </a:r>
            <a:r>
              <a:rPr lang="zh-CN" altLang="en-US" sz="2400" dirty="0">
                <a:latin typeface="Times New Roman" panose="02020603050405020304" pitchFamily="18" charset="0"/>
                <a:ea typeface="+mj-lt"/>
                <a:cs typeface="Times New Roman" panose="02020603050405020304" pitchFamily="18" charset="0"/>
              </a:rPr>
              <a:t>：</a:t>
            </a:r>
            <a:r>
              <a:rPr sz="2400" dirty="0">
                <a:latin typeface="Times New Roman" panose="02020603050405020304" pitchFamily="18" charset="0"/>
                <a:ea typeface="+mj-lt"/>
                <a:cs typeface="Times New Roman" panose="02020603050405020304" pitchFamily="18" charset="0"/>
              </a:rPr>
              <a:t>NanoGel 50SP HP—Removal of Acid-Base Isoforms</a:t>
            </a:r>
          </a:p>
        </p:txBody>
      </p:sp>
      <p:grpSp>
        <p:nvGrpSpPr>
          <p:cNvPr id="5" name="组合 4"/>
          <p:cNvGrpSpPr/>
          <p:nvPr/>
        </p:nvGrpSpPr>
        <p:grpSpPr>
          <a:xfrm>
            <a:off x="339611" y="921823"/>
            <a:ext cx="10720460" cy="3013415"/>
            <a:chOff x="836657" y="3488059"/>
            <a:chExt cx="10707899" cy="300988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3576" y="3504259"/>
              <a:ext cx="5122424" cy="2809911"/>
            </a:xfrm>
            <a:prstGeom prst="rect">
              <a:avLst/>
            </a:prstGeom>
            <a:noFill/>
            <a:ln>
              <a:solidFill>
                <a:schemeClr val="tx1">
                  <a:lumMod val="75000"/>
                  <a:lumOff val="25000"/>
                </a:schemeClr>
              </a:solidFill>
            </a:ln>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17378" t="25835" r="23646" b="28955"/>
            <a:stretch>
              <a:fillRect/>
            </a:stretch>
          </p:blipFill>
          <p:spPr>
            <a:xfrm>
              <a:off x="836657" y="3495632"/>
              <a:ext cx="5308979" cy="2866283"/>
            </a:xfrm>
            <a:prstGeom prst="rect">
              <a:avLst/>
            </a:prstGeom>
          </p:spPr>
        </p:pic>
        <p:pic>
          <p:nvPicPr>
            <p:cNvPr id="8" name="图片 7"/>
            <p:cNvPicPr>
              <a:picLocks noChangeAspect="1"/>
            </p:cNvPicPr>
            <p:nvPr/>
          </p:nvPicPr>
          <p:blipFill rotWithShape="1">
            <a:blip r:embed="rId5" cstate="print">
              <a:extLst>
                <a:ext uri="{28A0092B-C50C-407E-A947-70E740481C1C}">
                  <a14:useLocalDpi xmlns:a14="http://schemas.microsoft.com/office/drawing/2010/main" val="0"/>
                </a:ext>
              </a:extLst>
            </a:blip>
            <a:srcRect l="16023" t="19806" r="17059" b="29321"/>
            <a:stretch>
              <a:fillRect/>
            </a:stretch>
          </p:blipFill>
          <p:spPr>
            <a:xfrm>
              <a:off x="836658" y="3488059"/>
              <a:ext cx="5335330" cy="2856664"/>
            </a:xfrm>
            <a:prstGeom prst="rect">
              <a:avLst/>
            </a:prstGeom>
          </p:spPr>
        </p:pic>
        <p:cxnSp>
          <p:nvCxnSpPr>
            <p:cNvPr id="9" name="直接连接符 8"/>
            <p:cNvCxnSpPr/>
            <p:nvPr/>
          </p:nvCxnSpPr>
          <p:spPr>
            <a:xfrm>
              <a:off x="5868838" y="3645186"/>
              <a:ext cx="0" cy="2436126"/>
            </a:xfrm>
            <a:prstGeom prst="line">
              <a:avLst/>
            </a:prstGeom>
            <a:ln w="9525">
              <a:solidFill>
                <a:schemeClr val="tx1">
                  <a:lumMod val="50000"/>
                  <a:lumOff val="50000"/>
                </a:schemeClr>
              </a:solidFill>
              <a:tailEnd type="none"/>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6216556" y="3504259"/>
              <a:ext cx="5328000" cy="2993683"/>
              <a:chOff x="6216556" y="3504259"/>
              <a:chExt cx="6157469" cy="2993683"/>
            </a:xfrm>
          </p:grpSpPr>
          <p:pic>
            <p:nvPicPr>
              <p:cNvPr id="19" name="图片 18"/>
              <p:cNvPicPr>
                <a:picLocks noChangeAspect="1"/>
              </p:cNvPicPr>
              <p:nvPr/>
            </p:nvPicPr>
            <p:blipFill rotWithShape="1">
              <a:blip r:embed="rId6">
                <a:extLst>
                  <a:ext uri="{28A0092B-C50C-407E-A947-70E740481C1C}">
                    <a14:useLocalDpi xmlns:a14="http://schemas.microsoft.com/office/drawing/2010/main" val="0"/>
                  </a:ext>
                </a:extLst>
              </a:blip>
              <a:srcRect l="16469" t="28208" r="21749" b="29142"/>
              <a:stretch>
                <a:fillRect/>
              </a:stretch>
            </p:blipFill>
            <p:spPr>
              <a:xfrm>
                <a:off x="6216556" y="3504259"/>
                <a:ext cx="6157469" cy="2993683"/>
              </a:xfrm>
              <a:prstGeom prst="rect">
                <a:avLst/>
              </a:prstGeom>
            </p:spPr>
          </p:pic>
          <p:sp>
            <p:nvSpPr>
              <p:cNvPr id="20" name="矩形 19"/>
              <p:cNvSpPr/>
              <p:nvPr/>
            </p:nvSpPr>
            <p:spPr>
              <a:xfrm>
                <a:off x="10570191" y="3555242"/>
                <a:ext cx="1701279" cy="9689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400" dirty="0">
                  <a:solidFill>
                    <a:schemeClr val="tx1"/>
                  </a:solidFill>
                  <a:latin typeface="宋体" panose="02010600030101010101" pitchFamily="2" charset="-122"/>
                  <a:ea typeface="宋体" panose="02010600030101010101" pitchFamily="2" charset="-122"/>
                </a:endParaRPr>
              </a:p>
            </p:txBody>
          </p:sp>
        </p:grpSp>
        <p:cxnSp>
          <p:nvCxnSpPr>
            <p:cNvPr id="11" name="直接连接符 10"/>
            <p:cNvCxnSpPr/>
            <p:nvPr/>
          </p:nvCxnSpPr>
          <p:spPr>
            <a:xfrm>
              <a:off x="2715905" y="5003139"/>
              <a:ext cx="0" cy="1078173"/>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625755" y="5003139"/>
              <a:ext cx="0" cy="1078173"/>
            </a:xfrm>
            <a:prstGeom prst="line">
              <a:avLst/>
            </a:prstGeom>
            <a:ln w="127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2748592" y="4404861"/>
              <a:ext cx="715441" cy="306346"/>
            </a:xfrm>
            <a:prstGeom prst="rect">
              <a:avLst/>
            </a:prstGeom>
            <a:noFill/>
          </p:spPr>
          <p:txBody>
            <a:bodyPr wrap="square" rtlCol="0">
              <a:normAutofit fontScale="55000" lnSpcReduction="20000"/>
            </a:bodyPr>
            <a:lstStyle/>
            <a:p>
              <a:r>
                <a:rPr lang="zh-CN" altLang="en-US" sz="1400" dirty="0">
                  <a:latin typeface="宋体" panose="02010600030101010101" pitchFamily="2" charset="-122"/>
                  <a:ea typeface="宋体" panose="02010600030101010101" pitchFamily="2" charset="-122"/>
                </a:rPr>
                <a:t>Collection Segment</a:t>
              </a:r>
            </a:p>
          </p:txBody>
        </p:sp>
        <p:sp>
          <p:nvSpPr>
            <p:cNvPr id="14" name="文本框 13"/>
            <p:cNvSpPr txBox="1"/>
            <p:nvPr/>
          </p:nvSpPr>
          <p:spPr>
            <a:xfrm>
              <a:off x="2459214" y="4725554"/>
              <a:ext cx="1455919" cy="275267"/>
            </a:xfrm>
            <a:prstGeom prst="rect">
              <a:avLst/>
            </a:prstGeom>
            <a:noFill/>
          </p:spPr>
          <p:txBody>
            <a:bodyPr wrap="square" rtlCol="0">
              <a:normAutofit/>
            </a:bodyPr>
            <a:lstStyle/>
            <a:p>
              <a:pPr algn="ctr"/>
              <a:r>
                <a:rPr lang="en-US" altLang="zh-CN" sz="1200" dirty="0">
                  <a:latin typeface="Times New Roman" panose="02020603050405020304" pitchFamily="18" charset="0"/>
                  <a:cs typeface="Times New Roman" panose="02020603050405020304" pitchFamily="18" charset="0"/>
                </a:rPr>
                <a:t>499mAU-452mAU</a:t>
              </a:r>
            </a:p>
          </p:txBody>
        </p:sp>
        <p:sp>
          <p:nvSpPr>
            <p:cNvPr id="15" name="文本框 14"/>
            <p:cNvSpPr txBox="1"/>
            <p:nvPr/>
          </p:nvSpPr>
          <p:spPr>
            <a:xfrm>
              <a:off x="8131155" y="5393525"/>
              <a:ext cx="537849" cy="306346"/>
            </a:xfrm>
            <a:prstGeom prst="rect">
              <a:avLst/>
            </a:prstGeom>
            <a:noFill/>
          </p:spPr>
          <p:txBody>
            <a:bodyPr wrap="square" rtlCol="0">
              <a:normAutofit fontScale="55000" lnSpcReduction="20000"/>
            </a:bodyPr>
            <a:lstStyle/>
            <a:p>
              <a:r>
                <a:rPr lang="zh-CN" altLang="en-US" sz="1400" dirty="0">
                  <a:latin typeface="宋体" panose="02010600030101010101" pitchFamily="2" charset="-122"/>
                  <a:ea typeface="宋体" panose="02010600030101010101" pitchFamily="2" charset="-122"/>
                </a:rPr>
                <a:t>Acid peak</a:t>
              </a:r>
            </a:p>
          </p:txBody>
        </p:sp>
        <p:sp>
          <p:nvSpPr>
            <p:cNvPr id="16" name="文本框 15"/>
            <p:cNvSpPr txBox="1"/>
            <p:nvPr/>
          </p:nvSpPr>
          <p:spPr>
            <a:xfrm>
              <a:off x="8898709" y="5393525"/>
              <a:ext cx="543739" cy="306346"/>
            </a:xfrm>
            <a:prstGeom prst="rect">
              <a:avLst/>
            </a:prstGeom>
            <a:noFill/>
          </p:spPr>
          <p:txBody>
            <a:bodyPr wrap="square" rtlCol="0">
              <a:normAutofit fontScale="55000" lnSpcReduction="20000"/>
            </a:bodyPr>
            <a:lstStyle/>
            <a:p>
              <a:r>
                <a:rPr lang="zh-CN" altLang="en-US" sz="1400" dirty="0">
                  <a:latin typeface="宋体" panose="02010600030101010101" pitchFamily="2" charset="-122"/>
                  <a:ea typeface="宋体" panose="02010600030101010101" pitchFamily="2" charset="-122"/>
                </a:rPr>
                <a:t>Alkaline peak</a:t>
              </a:r>
            </a:p>
          </p:txBody>
        </p:sp>
        <p:sp>
          <p:nvSpPr>
            <p:cNvPr id="17" name="文本框 16"/>
            <p:cNvSpPr txBox="1"/>
            <p:nvPr/>
          </p:nvSpPr>
          <p:spPr>
            <a:xfrm>
              <a:off x="8416433" y="3848402"/>
              <a:ext cx="537849" cy="306346"/>
            </a:xfrm>
            <a:prstGeom prst="rect">
              <a:avLst/>
            </a:prstGeom>
            <a:noFill/>
          </p:spPr>
          <p:txBody>
            <a:bodyPr wrap="square" rtlCol="0">
              <a:normAutofit fontScale="55000" lnSpcReduction="20000"/>
            </a:bodyPr>
            <a:lstStyle/>
            <a:p>
              <a:r>
                <a:rPr lang="zh-CN" altLang="en-US" sz="1400" dirty="0">
                  <a:latin typeface="宋体" panose="02010600030101010101" pitchFamily="2" charset="-122"/>
                  <a:ea typeface="宋体" panose="02010600030101010101" pitchFamily="2" charset="-122"/>
                </a:rPr>
                <a:t>Main Peak</a:t>
              </a:r>
            </a:p>
          </p:txBody>
        </p:sp>
        <p:sp>
          <p:nvSpPr>
            <p:cNvPr id="18" name="矩形 17"/>
            <p:cNvSpPr/>
            <p:nvPr/>
          </p:nvSpPr>
          <p:spPr>
            <a:xfrm>
              <a:off x="5788855" y="3555242"/>
              <a:ext cx="356781" cy="2487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400" dirty="0">
                <a:solidFill>
                  <a:schemeClr val="tx1"/>
                </a:solidFill>
                <a:latin typeface="宋体" panose="02010600030101010101" pitchFamily="2" charset="-122"/>
                <a:ea typeface="宋体" panose="02010600030101010101" pitchFamily="2" charset="-122"/>
              </a:endParaRPr>
            </a:p>
          </p:txBody>
        </p:sp>
      </p:grpSp>
      <p:sp>
        <p:nvSpPr>
          <p:cNvPr id="21" name="文本框 20"/>
          <p:cNvSpPr txBox="1"/>
          <p:nvPr/>
        </p:nvSpPr>
        <p:spPr>
          <a:xfrm>
            <a:off x="339873" y="3814237"/>
            <a:ext cx="5520291" cy="368300"/>
          </a:xfrm>
          <a:prstGeom prst="rect">
            <a:avLst/>
          </a:prstGeom>
          <a:noFill/>
        </p:spPr>
        <p:txBody>
          <a:bodyPr wrap="square">
            <a:normAutofit fontScale="62500" lnSpcReduction="20000"/>
          </a:bodyPr>
          <a:lstStyle/>
          <a:p>
            <a:pPr algn="just">
              <a:spcBef>
                <a:spcPts val="450"/>
              </a:spcBef>
            </a:pP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NanoGelTM-50SP Cation Exchange Chromatography Salt Concentration Linear Gradient Elution</a:t>
            </a:r>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2" name="表格 21"/>
          <p:cNvGraphicFramePr>
            <a:graphicFrameLocks noGrp="1"/>
          </p:cNvGraphicFramePr>
          <p:nvPr/>
        </p:nvGraphicFramePr>
        <p:xfrm>
          <a:off x="3801752" y="4626831"/>
          <a:ext cx="4752975" cy="2164080"/>
        </p:xfrm>
        <a:graphic>
          <a:graphicData uri="http://schemas.openxmlformats.org/drawingml/2006/table">
            <a:tbl>
              <a:tblPr firstRow="1" bandRow="1"/>
              <a:tblGrid>
                <a:gridCol w="1584325">
                  <a:extLst>
                    <a:ext uri="{9D8B030D-6E8A-4147-A177-3AD203B41FA5}">
                      <a16:colId xmlns:a16="http://schemas.microsoft.com/office/drawing/2014/main" val="20000"/>
                    </a:ext>
                  </a:extLst>
                </a:gridCol>
                <a:gridCol w="1584325">
                  <a:extLst>
                    <a:ext uri="{9D8B030D-6E8A-4147-A177-3AD203B41FA5}">
                      <a16:colId xmlns:a16="http://schemas.microsoft.com/office/drawing/2014/main" val="20001"/>
                    </a:ext>
                  </a:extLst>
                </a:gridCol>
                <a:gridCol w="1584325">
                  <a:extLst>
                    <a:ext uri="{9D8B030D-6E8A-4147-A177-3AD203B41FA5}">
                      <a16:colId xmlns:a16="http://schemas.microsoft.com/office/drawing/2014/main" val="20002"/>
                    </a:ext>
                  </a:extLst>
                </a:gridCol>
              </a:tblGrid>
              <a:tr h="360680">
                <a:tc>
                  <a:txBody>
                    <a:bodyPr/>
                    <a:lstStyle/>
                    <a:p>
                      <a:pPr algn="ctr"/>
                      <a:r>
                        <a:t>Name</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w="12700">
                      <a:solidFill>
                        <a:schemeClr val="tx1"/>
                      </a:solidFill>
                      <a:prstDash val="solid"/>
                    </a:lnL>
                    <a:lnR>
                      <a:noFill/>
                    </a:lnR>
                    <a:lnT w="12700">
                      <a:solidFill>
                        <a:schemeClr val="tx1"/>
                      </a:solidFill>
                      <a:prstDash val="solid"/>
                    </a:lnT>
                    <a:lnB w="12700" cap="flat" cmpd="sng" algn="ctr">
                      <a:solidFill>
                        <a:srgbClr val="808080"/>
                      </a:solidFill>
                      <a:prstDash val="solid"/>
                      <a:round/>
                      <a:headEnd type="none" w="med" len="med"/>
                      <a:tailEnd type="none" w="med" len="med"/>
                    </a:lnB>
                    <a:solidFill>
                      <a:srgbClr val="FFFFFF"/>
                    </a:solidFill>
                  </a:tcPr>
                </a:tc>
                <a:tc>
                  <a:txBody>
                    <a:bodyPr/>
                    <a:lstStyle/>
                    <a:p>
                      <a:pPr algn="ctr"/>
                      <a:r>
                        <a:t>Before Purification</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a:noFill/>
                    </a:lnL>
                    <a:lnR>
                      <a:noFill/>
                    </a:lnR>
                    <a:lnT w="12700">
                      <a:solidFill>
                        <a:schemeClr val="tx1"/>
                      </a:solidFill>
                      <a:prstDash val="solid"/>
                    </a:lnT>
                    <a:lnB w="12700" cap="flat" cmpd="sng" algn="ctr">
                      <a:solidFill>
                        <a:srgbClr val="808080"/>
                      </a:solidFill>
                      <a:prstDash val="solid"/>
                      <a:round/>
                      <a:headEnd type="none" w="med" len="med"/>
                      <a:tailEnd type="none" w="med" len="med"/>
                    </a:lnB>
                    <a:solidFill>
                      <a:srgbClr val="FFFFFF"/>
                    </a:solidFill>
                  </a:tcPr>
                </a:tc>
                <a:tc>
                  <a:txBody>
                    <a:bodyPr/>
                    <a:lstStyle/>
                    <a:p>
                      <a:pPr algn="ctr"/>
                      <a:r>
                        <a:t>After Purification</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a:noFill/>
                    </a:lnL>
                    <a:lnR w="12700">
                      <a:solidFill>
                        <a:schemeClr val="tx1"/>
                      </a:solidFill>
                      <a:prstDash val="solid"/>
                    </a:lnR>
                    <a:lnT w="12700">
                      <a:solidFill>
                        <a:schemeClr val="tx1"/>
                      </a:solidFill>
                      <a:prstDash val="solid"/>
                    </a:lnT>
                    <a:lnB w="12700"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0680">
                <a:tc>
                  <a:txBody>
                    <a:bodyPr/>
                    <a:lstStyle/>
                    <a:p>
                      <a:pPr algn="ctr"/>
                      <a:r>
                        <a:t>Acid peak %</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w="12700">
                      <a:solidFill>
                        <a:schemeClr val="tx1"/>
                      </a:solidFill>
                      <a:prstDash val="soli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dash"/>
                      <a:round/>
                      <a:headEnd type="none" w="med" len="med"/>
                      <a:tailEnd type="none" w="med" len="med"/>
                    </a:lnB>
                    <a:solidFill>
                      <a:srgbClr val="FFFFFF"/>
                    </a:solidFill>
                  </a:tcPr>
                </a:tc>
                <a:tc>
                  <a:txBody>
                    <a:bodyPr/>
                    <a:lstStyle/>
                    <a:p>
                      <a:pPr algn="ctr"/>
                      <a:r>
                        <a:rPr lang="en-US" sz="1465"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21.25</a:t>
                      </a:r>
                      <a:endParaRPr lang="zh-CN" sz="1465"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a:noFill/>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dash"/>
                      <a:round/>
                      <a:headEnd type="none" w="med" len="med"/>
                      <a:tailEnd type="none" w="med" len="med"/>
                    </a:lnB>
                    <a:solidFill>
                      <a:srgbClr val="FFFFFF"/>
                    </a:solidFill>
                  </a:tcPr>
                </a:tc>
                <a:tc>
                  <a:txBody>
                    <a:bodyPr/>
                    <a:lstStyle/>
                    <a:p>
                      <a:pPr algn="ctr"/>
                      <a:r>
                        <a:rPr lang="en-US" sz="1465"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18.34</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a:noFill/>
                    </a:lnL>
                    <a:lnR w="12700">
                      <a:solidFill>
                        <a:schemeClr val="tx1"/>
                      </a:solidFill>
                      <a:prstDash val="solid"/>
                    </a:lnR>
                    <a:lnT w="12700" cap="flat" cmpd="sng" algn="ctr">
                      <a:solidFill>
                        <a:srgbClr val="808080"/>
                      </a:solidFill>
                      <a:prstDash val="solid"/>
                      <a:round/>
                      <a:headEnd type="none" w="med" len="med"/>
                      <a:tailEnd type="none" w="med" len="med"/>
                    </a:lnT>
                    <a:lnB w="12700" cap="flat" cmpd="sng" algn="ctr">
                      <a:solidFill>
                        <a:srgbClr val="808080"/>
                      </a:solidFill>
                      <a:prstDash val="dash"/>
                      <a:round/>
                      <a:headEnd type="none" w="med" len="med"/>
                      <a:tailEnd type="none" w="med" len="med"/>
                    </a:lnB>
                    <a:solidFill>
                      <a:srgbClr val="FFFFFF"/>
                    </a:solidFill>
                  </a:tcPr>
                </a:tc>
                <a:extLst>
                  <a:ext uri="{0D108BD9-81ED-4DB2-BD59-A6C34878D82A}">
                    <a16:rowId xmlns:a16="http://schemas.microsoft.com/office/drawing/2014/main" val="10001"/>
                  </a:ext>
                </a:extLst>
              </a:tr>
              <a:tr h="360680">
                <a:tc>
                  <a:txBody>
                    <a:bodyPr/>
                    <a:lstStyle/>
                    <a:p>
                      <a:pPr algn="ctr"/>
                      <a:r>
                        <a:t>Main peak%</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w="12700">
                      <a:solidFill>
                        <a:schemeClr val="tx1"/>
                      </a:solidFill>
                      <a:prstDash val="solid"/>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rgbClr val="FFFFFF"/>
                    </a:solidFill>
                  </a:tcPr>
                </a:tc>
                <a:tc>
                  <a:txBody>
                    <a:bodyPr/>
                    <a:lstStyle/>
                    <a:p>
                      <a:pPr algn="ctr"/>
                      <a:r>
                        <a:rPr lang="en-US" sz="1465"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47.50</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rgbClr val="FFFFFF"/>
                    </a:solidFill>
                  </a:tcPr>
                </a:tc>
                <a:tc>
                  <a:txBody>
                    <a:bodyPr/>
                    <a:lstStyle/>
                    <a:p>
                      <a:pPr algn="ctr"/>
                      <a:r>
                        <a:rPr lang="en-US" sz="1465"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70.62</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a:noFill/>
                    </a:lnL>
                    <a:lnR w="12700">
                      <a:solidFill>
                        <a:schemeClr val="tx1"/>
                      </a:solidFill>
                      <a:prstDash val="solid"/>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rgbClr val="FFFFFF"/>
                    </a:solidFill>
                  </a:tcPr>
                </a:tc>
                <a:extLst>
                  <a:ext uri="{0D108BD9-81ED-4DB2-BD59-A6C34878D82A}">
                    <a16:rowId xmlns:a16="http://schemas.microsoft.com/office/drawing/2014/main" val="10002"/>
                  </a:ext>
                </a:extLst>
              </a:tr>
              <a:tr h="360680">
                <a:tc>
                  <a:txBody>
                    <a:bodyPr/>
                    <a:lstStyle/>
                    <a:p>
                      <a:pPr algn="ctr"/>
                      <a:r>
                        <a:t>Alkaline peak %</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w="12700">
                      <a:solidFill>
                        <a:schemeClr val="tx1"/>
                      </a:solidFill>
                      <a:prstDash val="solid"/>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rgbClr val="FFFFFF"/>
                    </a:solidFill>
                  </a:tcPr>
                </a:tc>
                <a:tc>
                  <a:txBody>
                    <a:bodyPr/>
                    <a:lstStyle/>
                    <a:p>
                      <a:pPr algn="ctr"/>
                      <a:r>
                        <a:rPr lang="en-US" sz="1465"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31.25</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rgbClr val="FFFFFF"/>
                    </a:solidFill>
                  </a:tcPr>
                </a:tc>
                <a:tc>
                  <a:txBody>
                    <a:bodyPr/>
                    <a:lstStyle/>
                    <a:p>
                      <a:pPr algn="ctr"/>
                      <a:r>
                        <a:rPr lang="en-US" sz="1465"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11.04</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a:noFill/>
                    </a:lnL>
                    <a:lnR w="12700">
                      <a:solidFill>
                        <a:schemeClr val="tx1"/>
                      </a:solidFill>
                      <a:prstDash val="solid"/>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rgbClr val="FFFFFF"/>
                    </a:solidFill>
                  </a:tcPr>
                </a:tc>
                <a:extLst>
                  <a:ext uri="{0D108BD9-81ED-4DB2-BD59-A6C34878D82A}">
                    <a16:rowId xmlns:a16="http://schemas.microsoft.com/office/drawing/2014/main" val="10003"/>
                  </a:ext>
                </a:extLst>
              </a:tr>
              <a:tr h="360680">
                <a:tc>
                  <a:txBody>
                    <a:bodyPr/>
                    <a:lstStyle/>
                    <a:p>
                      <a:pPr algn="ctr"/>
                      <a:r>
                        <a:t>SEC Purity %</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w="12700">
                      <a:solidFill>
                        <a:schemeClr val="tx1"/>
                      </a:solidFill>
                      <a:prstDash val="solid"/>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rgbClr val="FFFFFF"/>
                    </a:solidFill>
                  </a:tcPr>
                </a:tc>
                <a:tc>
                  <a:txBody>
                    <a:bodyPr/>
                    <a:lstStyle/>
                    <a:p>
                      <a:pPr algn="ctr"/>
                      <a:r>
                        <a:rPr lang="en-US" altLang="zh-CN" sz="1465" kern="100" dirty="0">
                          <a:effectLst/>
                          <a:latin typeface="Times New Roman" panose="02020603050405020304" pitchFamily="18" charset="0"/>
                          <a:ea typeface="宋体" panose="02010600030101010101" pitchFamily="2" charset="-122"/>
                          <a:cs typeface="Times New Roman" panose="02020603050405020304" pitchFamily="18" charset="0"/>
                        </a:rPr>
                        <a:t>98.21</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a:noFill/>
                    </a:lnL>
                    <a:lnR>
                      <a:noFill/>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rgbClr val="FFFFFF"/>
                    </a:solidFill>
                  </a:tcPr>
                </a:tc>
                <a:tc>
                  <a:txBody>
                    <a:bodyPr/>
                    <a:lstStyle/>
                    <a:p>
                      <a:pPr algn="ctr"/>
                      <a:r>
                        <a:rPr lang="en-US" altLang="zh-CN" sz="1465" kern="100" dirty="0">
                          <a:effectLst/>
                          <a:latin typeface="Times New Roman" panose="02020603050405020304" pitchFamily="18" charset="0"/>
                          <a:ea typeface="宋体" panose="02010600030101010101" pitchFamily="2" charset="-122"/>
                          <a:cs typeface="Times New Roman" panose="02020603050405020304" pitchFamily="18" charset="0"/>
                        </a:rPr>
                        <a:t>99.64</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a:noFill/>
                    </a:lnL>
                    <a:lnR w="12700">
                      <a:solidFill>
                        <a:schemeClr val="tx1"/>
                      </a:solidFill>
                      <a:prstDash val="solid"/>
                    </a:lnR>
                    <a:lnT w="12700" cap="flat" cmpd="sng" algn="ctr">
                      <a:solidFill>
                        <a:srgbClr val="808080"/>
                      </a:solidFill>
                      <a:prstDash val="dash"/>
                      <a:round/>
                      <a:headEnd type="none" w="med" len="med"/>
                      <a:tailEnd type="none" w="med" len="med"/>
                    </a:lnT>
                    <a:lnB w="12700" cap="flat" cmpd="sng" algn="ctr">
                      <a:solidFill>
                        <a:srgbClr val="808080"/>
                      </a:solidFill>
                      <a:prstDash val="dash"/>
                      <a:round/>
                      <a:headEnd type="none" w="med" len="med"/>
                      <a:tailEnd type="none" w="med" len="med"/>
                    </a:lnB>
                    <a:solidFill>
                      <a:srgbClr val="FFFFFF"/>
                    </a:solidFill>
                  </a:tcPr>
                </a:tc>
                <a:extLst>
                  <a:ext uri="{0D108BD9-81ED-4DB2-BD59-A6C34878D82A}">
                    <a16:rowId xmlns:a16="http://schemas.microsoft.com/office/drawing/2014/main" val="10004"/>
                  </a:ext>
                </a:extLst>
              </a:tr>
              <a:tr h="360680">
                <a:tc>
                  <a:txBody>
                    <a:bodyPr/>
                    <a:lstStyle/>
                    <a:p>
                      <a:pPr algn="ctr"/>
                      <a:r>
                        <a:t>HCP residual ppm</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w="12700">
                      <a:solidFill>
                        <a:schemeClr val="tx1"/>
                      </a:solidFill>
                      <a:prstDash val="solid"/>
                    </a:lnL>
                    <a:lnR>
                      <a:noFill/>
                    </a:lnR>
                    <a:lnT w="12700" cap="flat" cmpd="sng" algn="ctr">
                      <a:solidFill>
                        <a:srgbClr val="808080"/>
                      </a:solidFill>
                      <a:prstDash val="dash"/>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altLang="zh-CN" sz="1465" kern="100" dirty="0">
                          <a:effectLst/>
                          <a:latin typeface="Times New Roman" panose="02020603050405020304" pitchFamily="18" charset="0"/>
                          <a:ea typeface="宋体" panose="02010600030101010101" pitchFamily="2" charset="-122"/>
                          <a:cs typeface="Times New Roman" panose="02020603050405020304" pitchFamily="18" charset="0"/>
                        </a:rPr>
                        <a:t>85.82</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a:noFill/>
                    </a:lnL>
                    <a:lnR>
                      <a:noFill/>
                    </a:lnR>
                    <a:lnT w="12700" cap="flat" cmpd="sng" algn="ctr">
                      <a:solidFill>
                        <a:srgbClr val="808080"/>
                      </a:solidFill>
                      <a:prstDash val="dash"/>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altLang="zh-CN" sz="1465" kern="100" dirty="0">
                          <a:effectLst/>
                          <a:latin typeface="Times New Roman" panose="02020603050405020304" pitchFamily="18" charset="0"/>
                          <a:ea typeface="宋体" panose="02010600030101010101" pitchFamily="2" charset="-122"/>
                          <a:cs typeface="Times New Roman" panose="02020603050405020304" pitchFamily="18" charset="0"/>
                        </a:rPr>
                        <a:t>20.18</a:t>
                      </a:r>
                      <a:endParaRPr lang="zh-CN" sz="1465"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5080" marR="5080" marT="5080" marB="0" anchor="ctr">
                    <a:lnL>
                      <a:noFill/>
                    </a:lnL>
                    <a:lnR w="12700">
                      <a:solidFill>
                        <a:schemeClr val="tx1"/>
                      </a:solidFill>
                      <a:prstDash val="solid"/>
                    </a:lnR>
                    <a:lnT w="12700" cap="flat" cmpd="sng" algn="ctr">
                      <a:solidFill>
                        <a:srgbClr val="808080"/>
                      </a:solidFill>
                      <a:prstDash val="dash"/>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3" name="文本框 22"/>
          <p:cNvSpPr txBox="1"/>
          <p:nvPr/>
        </p:nvSpPr>
        <p:spPr>
          <a:xfrm>
            <a:off x="2028377" y="4258495"/>
            <a:ext cx="8136565" cy="368300"/>
          </a:xfrm>
          <a:prstGeom prst="rect">
            <a:avLst/>
          </a:prstGeom>
          <a:noFill/>
        </p:spPr>
        <p:txBody>
          <a:bodyPr wrap="square">
            <a:normAutofit fontScale="62500" lnSpcReduction="20000"/>
          </a:bodyPr>
          <a:lstStyle/>
          <a:p>
            <a:pPr algn="ctr"/>
            <a:r>
              <a:rPr lang="zh-CN" altLang="zh-CN" b="1" kern="100" dirty="0">
                <a:solidFill>
                  <a:srgbClr val="000000"/>
                </a:solidFill>
                <a:uFillTx/>
                <a:latin typeface="Times New Roman" panose="02020603050405020304" pitchFamily="18" charset="0"/>
                <a:cs typeface="Times New Roman" panose="02020603050405020304" pitchFamily="18" charset="0"/>
              </a:rPr>
              <a:t>Table 2. Comparison of Charge Heterogeneity Content, Purity, and HCP Residue of NanoGelTM-50SP Before and After Purification</a:t>
            </a:r>
          </a:p>
        </p:txBody>
      </p:sp>
      <p:sp>
        <p:nvSpPr>
          <p:cNvPr id="24" name="文本框 23"/>
          <p:cNvSpPr txBox="1"/>
          <p:nvPr/>
        </p:nvSpPr>
        <p:spPr>
          <a:xfrm>
            <a:off x="1964071" y="958495"/>
            <a:ext cx="3547009" cy="460375"/>
          </a:xfrm>
          <a:prstGeom prst="rect">
            <a:avLst/>
          </a:prstGeom>
          <a:noFill/>
        </p:spPr>
        <p:txBody>
          <a:bodyPr wrap="square">
            <a:normAutofit/>
          </a:bodyPr>
          <a:lstStyle/>
          <a:p>
            <a:r>
              <a:rPr lang="zh-CN" altLang="en-US" sz="2400" dirty="0">
                <a:solidFill>
                  <a:srgbClr val="FF0000"/>
                </a:solidFill>
                <a:latin typeface="Times New Roman" panose="02020603050405020304" pitchFamily="18" charset="0"/>
                <a:sym typeface="+mn-ea"/>
              </a:rPr>
              <a:t>Yield: 70%</a:t>
            </a:r>
          </a:p>
        </p:txBody>
      </p:sp>
      <p:sp>
        <p:nvSpPr>
          <p:cNvPr id="25" name="文本框 24"/>
          <p:cNvSpPr txBox="1"/>
          <p:nvPr/>
        </p:nvSpPr>
        <p:spPr>
          <a:xfrm>
            <a:off x="5725795" y="3814445"/>
            <a:ext cx="6653530" cy="368300"/>
          </a:xfrm>
          <a:prstGeom prst="rect">
            <a:avLst/>
          </a:prstGeom>
          <a:noFill/>
        </p:spPr>
        <p:txBody>
          <a:bodyPr wrap="square">
            <a:normAutofit fontScale="62500" lnSpcReduction="20000"/>
          </a:bodyPr>
          <a:lstStyle/>
          <a:p>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Collection segment results (analytical column BioCore WCX, i.d. 4.6 mm, column height 250mm)</a:t>
            </a:r>
            <a:endParaRPr lang="zh-CN" altLang="en-US" kern="1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6604" y="1675980"/>
            <a:ext cx="5011951" cy="2447075"/>
          </a:xfrm>
          <a:prstGeom prst="rect">
            <a:avLst/>
          </a:prstGeom>
        </p:spPr>
      </p:pic>
      <p:sp>
        <p:nvSpPr>
          <p:cNvPr id="3" name="文本框 2"/>
          <p:cNvSpPr txBox="1"/>
          <p:nvPr/>
        </p:nvSpPr>
        <p:spPr>
          <a:xfrm>
            <a:off x="1407503" y="1239250"/>
            <a:ext cx="3434080" cy="337185"/>
          </a:xfrm>
          <a:prstGeom prst="rect">
            <a:avLst/>
          </a:prstGeom>
          <a:noFill/>
        </p:spPr>
        <p:txBody>
          <a:bodyPr wrap="square" rtlCol="0" anchor="t">
            <a:normAutofit fontScale="62500" lnSpcReduction="20000"/>
            <a:scene3d>
              <a:camera prst="orthographicFront"/>
              <a:lightRig rig="threePt" dir="t"/>
            </a:scene3d>
          </a:bodyPr>
          <a:lstStyle/>
          <a:p>
            <a:pPr>
              <a:buClrTx/>
              <a:buSzTx/>
              <a:buFontTx/>
            </a:pPr>
            <a:r>
              <a:rPr lang="zh-CN" altLang="en-US" sz="1600" b="1" dirty="0">
                <a:solidFill>
                  <a:srgbClr val="000000"/>
                </a:solidFill>
                <a:latin typeface="微软雅黑" panose="020B0503020204020204" charset="-122"/>
                <a:ea typeface="微软雅黑" panose="020B0503020204020204" charset="-122"/>
                <a:cs typeface="微软雅黑" panose="020B0503020204020204" charset="-122"/>
              </a:rPr>
              <a:t>Overlay Chromatograms of Cation Exchange Chromatography Batch Consistency Study</a:t>
            </a:r>
          </a:p>
        </p:txBody>
      </p:sp>
      <p:sp>
        <p:nvSpPr>
          <p:cNvPr id="4" name="文本框 3"/>
          <p:cNvSpPr txBox="1"/>
          <p:nvPr/>
        </p:nvSpPr>
        <p:spPr>
          <a:xfrm>
            <a:off x="1197459" y="3962104"/>
            <a:ext cx="3854572" cy="706755"/>
          </a:xfrm>
          <a:prstGeom prst="rect">
            <a:avLst/>
          </a:prstGeom>
          <a:noFill/>
        </p:spPr>
        <p:txBody>
          <a:bodyPr wrap="square" rtlCol="0" anchor="t">
            <a:normAutofit/>
          </a:bodyPr>
          <a:lstStyle/>
          <a:p>
            <a:pPr algn="ctr">
              <a:lnSpc>
                <a:spcPct val="200000"/>
              </a:lnSpc>
            </a:pPr>
            <a:r>
              <a:rPr lang="zh-CN" altLang="en-US" sz="1000" dirty="0">
                <a:solidFill>
                  <a:srgbClr val="000000"/>
                </a:solidFill>
                <a:latin typeface="Arial" panose="020B0604020202020204" pitchFamily="34" charset="0"/>
                <a:ea typeface="微软雅黑" panose="020B0503020204020204" charset="-122"/>
              </a:rPr>
              <a:t>Brown: L08W05KC; Blue: L08W07KC; Yellow: L08W11KC; Green: L08W15KC; Red: L08W17KC</a:t>
            </a:r>
            <a:endParaRPr lang="zh-CN" altLang="zh-CN" sz="1000" dirty="0">
              <a:solidFill>
                <a:srgbClr val="000000"/>
              </a:solidFill>
              <a:latin typeface="Arial" panose="020B0604020202020204" pitchFamily="34" charset="0"/>
              <a:ea typeface="微软雅黑" panose="020B0503020204020204" charset="-122"/>
            </a:endParaRPr>
          </a:p>
        </p:txBody>
      </p:sp>
      <p:graphicFrame>
        <p:nvGraphicFramePr>
          <p:cNvPr id="5" name="表格 4"/>
          <p:cNvGraphicFramePr/>
          <p:nvPr>
            <p:custDataLst>
              <p:tags r:id="rId1"/>
            </p:custDataLst>
          </p:nvPr>
        </p:nvGraphicFramePr>
        <p:xfrm>
          <a:off x="1408080" y="4929019"/>
          <a:ext cx="3163570" cy="1591945"/>
        </p:xfrm>
        <a:graphic>
          <a:graphicData uri="http://schemas.openxmlformats.org/drawingml/2006/table">
            <a:tbl>
              <a:tblPr firstRow="1" bandRow="1">
                <a:tableStyleId>{5C22544A-7EE6-4342-B048-85BDC9FD1C3A}</a:tableStyleId>
              </a:tblPr>
              <a:tblGrid>
                <a:gridCol w="543560">
                  <a:extLst>
                    <a:ext uri="{9D8B030D-6E8A-4147-A177-3AD203B41FA5}">
                      <a16:colId xmlns:a16="http://schemas.microsoft.com/office/drawing/2014/main" val="20000"/>
                    </a:ext>
                  </a:extLst>
                </a:gridCol>
                <a:gridCol w="988695">
                  <a:extLst>
                    <a:ext uri="{9D8B030D-6E8A-4147-A177-3AD203B41FA5}">
                      <a16:colId xmlns:a16="http://schemas.microsoft.com/office/drawing/2014/main" val="20001"/>
                    </a:ext>
                  </a:extLst>
                </a:gridCol>
                <a:gridCol w="805815">
                  <a:extLst>
                    <a:ext uri="{9D8B030D-6E8A-4147-A177-3AD203B41FA5}">
                      <a16:colId xmlns:a16="http://schemas.microsoft.com/office/drawing/2014/main" val="20002"/>
                    </a:ext>
                  </a:extLst>
                </a:gridCol>
                <a:gridCol w="825500">
                  <a:extLst>
                    <a:ext uri="{9D8B030D-6E8A-4147-A177-3AD203B41FA5}">
                      <a16:colId xmlns:a16="http://schemas.microsoft.com/office/drawing/2014/main" val="20003"/>
                    </a:ext>
                  </a:extLst>
                </a:gridCol>
              </a:tblGrid>
              <a:tr h="470535">
                <a:tc>
                  <a:txBody>
                    <a:bodyPr/>
                    <a:lstStyle/>
                    <a:p>
                      <a:pPr marL="0" algn="ctr" defTabSz="914400" rtl="0" eaLnBrk="1" fontAlgn="ctr" latinLnBrk="0" hangingPunct="1"/>
                      <a:r>
                        <a:t>Serial Number</a:t>
                      </a:r>
                    </a:p>
                  </a:txBody>
                  <a:tcPr marL="68580" marR="68580" marT="0" marB="0" anchor="ctr">
                    <a:solidFill>
                      <a:srgbClr val="0070C0"/>
                    </a:solidFill>
                  </a:tcPr>
                </a:tc>
                <a:tc>
                  <a:txBody>
                    <a:bodyPr/>
                    <a:lstStyle/>
                    <a:p>
                      <a:pPr marL="0" algn="ctr" defTabSz="914400" rtl="0" eaLnBrk="1" fontAlgn="ctr" latinLnBrk="0" hangingPunct="1"/>
                      <a:r>
                        <a:t>Batch Number</a:t>
                      </a:r>
                    </a:p>
                  </a:txBody>
                  <a:tcPr marL="68580" marR="68580" marT="0" marB="0" anchor="ctr">
                    <a:solidFill>
                      <a:srgbClr val="0070C0"/>
                    </a:solid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r>
                        <a:rPr lang="en-US" altLang="zh-CN" sz="1065" b="0" kern="1200" dirty="0">
                          <a:solidFill>
                            <a:schemeClr val="bg1"/>
                          </a:solidFill>
                          <a:latin typeface="微软雅黑" panose="020B0503020204020204" charset="-122"/>
                          <a:ea typeface="微软雅黑" panose="020B0503020204020204" charset="-122"/>
                          <a:cs typeface="+mn-cs"/>
                        </a:rPr>
                        <a:t>A(mS/cm)</a:t>
                      </a:r>
                      <a:endParaRPr lang="zh-CN" altLang="en-US" sz="1065" b="0" kern="1200" dirty="0">
                        <a:solidFill>
                          <a:schemeClr val="bg1"/>
                        </a:solidFill>
                        <a:latin typeface="微软雅黑" panose="020B0503020204020204" charset="-122"/>
                        <a:ea typeface="微软雅黑" panose="020B0503020204020204" charset="-122"/>
                        <a:cs typeface="+mn-cs"/>
                      </a:endParaRPr>
                    </a:p>
                  </a:txBody>
                  <a:tcPr marL="68580" marR="68580" marT="0" marB="0" anchor="ctr">
                    <a:solidFill>
                      <a:srgbClr val="0070C0"/>
                    </a:solidFill>
                  </a:tcPr>
                </a:tc>
                <a:tc>
                  <a:txBody>
                    <a:bodyPr/>
                    <a:lstStyle/>
                    <a:p>
                      <a:pPr algn="ctr">
                        <a:lnSpc>
                          <a:spcPct val="150000"/>
                        </a:lnSpc>
                      </a:pPr>
                      <a:r>
                        <a:rPr lang="en-US" sz="1065" b="0" kern="1200" dirty="0">
                          <a:solidFill>
                            <a:schemeClr val="bg1"/>
                          </a:solidFill>
                          <a:latin typeface="微软雅黑" panose="020B0503020204020204" charset="-122"/>
                          <a:ea typeface="微软雅黑" panose="020B0503020204020204" charset="-122"/>
                          <a:cs typeface="+mn-cs"/>
                        </a:rPr>
                        <a:t>B(mS/cm)</a:t>
                      </a:r>
                      <a:endParaRPr lang="zh-CN" altLang="en-US" sz="1065" b="0" kern="1200" dirty="0">
                        <a:solidFill>
                          <a:schemeClr val="bg1"/>
                        </a:solidFill>
                        <a:latin typeface="微软雅黑" panose="020B0503020204020204" charset="-122"/>
                        <a:ea typeface="微软雅黑" panose="020B0503020204020204" charset="-122"/>
                        <a:cs typeface="+mn-cs"/>
                      </a:endParaRPr>
                    </a:p>
                  </a:txBody>
                  <a:tcPr marL="68580" marR="68580" marT="0" marB="0" anchor="ctr">
                    <a:solidFill>
                      <a:srgbClr val="0070C0"/>
                    </a:solidFill>
                  </a:tcPr>
                </a:tc>
                <a:extLst>
                  <a:ext uri="{0D108BD9-81ED-4DB2-BD59-A6C34878D82A}">
                    <a16:rowId xmlns:a16="http://schemas.microsoft.com/office/drawing/2014/main" val="10000"/>
                  </a:ext>
                </a:extLst>
              </a:tr>
              <a:tr h="172085">
                <a:tc>
                  <a:txBody>
                    <a:bodyPr/>
                    <a:lstStyle/>
                    <a:p>
                      <a:pPr marL="0" algn="ctr" defTabSz="914400" rtl="0" eaLnBrk="1" fontAlgn="ctr" latinLnBrk="0" hangingPunct="1"/>
                      <a:r>
                        <a:rPr lang="en-US" sz="1065" b="0" kern="1200" dirty="0">
                          <a:solidFill>
                            <a:srgbClr val="000000"/>
                          </a:solidFill>
                          <a:latin typeface="微软雅黑" panose="020B0503020204020204" charset="-122"/>
                          <a:ea typeface="微软雅黑" panose="020B0503020204020204" charset="-122"/>
                          <a:cs typeface="+mn-cs"/>
                        </a:rPr>
                        <a:t>1</a:t>
                      </a:r>
                      <a:endParaRPr lang="zh-CN" altLang="en-US" sz="1065" b="0" kern="1200" dirty="0">
                        <a:solidFill>
                          <a:srgbClr val="000000"/>
                        </a:solidFill>
                        <a:latin typeface="微软雅黑" panose="020B0503020204020204" charset="-122"/>
                        <a:ea typeface="微软雅黑" panose="020B0503020204020204" charset="-122"/>
                        <a:cs typeface="+mn-cs"/>
                      </a:endParaRPr>
                    </a:p>
                  </a:txBody>
                  <a:tcPr marL="9525" marR="9525" marT="9525" marB="0" anchor="ctr"/>
                </a:tc>
                <a:tc>
                  <a:txBody>
                    <a:bodyPr/>
                    <a:lstStyle/>
                    <a:p>
                      <a:pPr marL="0" algn="ctr" defTabSz="914400" rtl="0" eaLnBrk="1" fontAlgn="ctr" latinLnBrk="0" hangingPunct="1"/>
                      <a:r>
                        <a:rPr lang="en-US" sz="1065" b="0" kern="1200" dirty="0">
                          <a:solidFill>
                            <a:srgbClr val="000000"/>
                          </a:solidFill>
                          <a:latin typeface="微软雅黑" panose="020B0503020204020204" charset="-122"/>
                          <a:ea typeface="微软雅黑" panose="020B0503020204020204" charset="-122"/>
                          <a:cs typeface="+mn-cs"/>
                        </a:rPr>
                        <a:t>L08W05KC</a:t>
                      </a:r>
                      <a:endParaRPr lang="zh-CN" altLang="en-US" sz="1065" b="0" kern="1200" dirty="0">
                        <a:solidFill>
                          <a:srgbClr val="000000"/>
                        </a:solidFill>
                        <a:latin typeface="微软雅黑" panose="020B0503020204020204" charset="-122"/>
                        <a:ea typeface="微软雅黑" panose="020B0503020204020204" charset="-122"/>
                        <a:cs typeface="+mn-cs"/>
                      </a:endParaRPr>
                    </a:p>
                  </a:txBody>
                  <a:tcPr marL="9525" marR="9525" marT="9525" marB="0" anchor="ctr"/>
                </a:tc>
                <a:tc>
                  <a:txBody>
                    <a:bodyPr/>
                    <a:lstStyle/>
                    <a:p>
                      <a:pPr marL="0" algn="ctr" defTabSz="914400" rtl="0" eaLnBrk="1" fontAlgn="ctr" latinLnBrk="0" hangingPunct="1"/>
                      <a:r>
                        <a:rPr lang="en-US" sz="1065" b="0" kern="1200" dirty="0">
                          <a:solidFill>
                            <a:srgbClr val="000000"/>
                          </a:solidFill>
                          <a:latin typeface="微软雅黑" panose="020B0503020204020204" charset="-122"/>
                          <a:ea typeface="微软雅黑" panose="020B0503020204020204" charset="-122"/>
                          <a:cs typeface="+mn-cs"/>
                        </a:rPr>
                        <a:t>6.38</a:t>
                      </a:r>
                      <a:endParaRPr lang="zh-CN" altLang="en-US" sz="1065" b="0" kern="1200" dirty="0">
                        <a:solidFill>
                          <a:srgbClr val="000000"/>
                        </a:solidFill>
                        <a:latin typeface="微软雅黑" panose="020B0503020204020204" charset="-122"/>
                        <a:ea typeface="微软雅黑" panose="020B0503020204020204" charset="-122"/>
                        <a:cs typeface="+mn-cs"/>
                      </a:endParaRPr>
                    </a:p>
                  </a:txBody>
                  <a:tcPr marL="9525" marR="9525" marT="9525" marB="0" anchor="ctr"/>
                </a:tc>
                <a:tc>
                  <a:txBody>
                    <a:bodyPr/>
                    <a:lstStyle/>
                    <a:p>
                      <a:pPr marL="0" algn="ctr" defTabSz="914400" rtl="0" eaLnBrk="1" fontAlgn="ctr" latinLnBrk="0" hangingPunct="1"/>
                      <a:r>
                        <a:rPr lang="en-US" sz="1065" b="0" kern="1200" dirty="0">
                          <a:solidFill>
                            <a:srgbClr val="000000"/>
                          </a:solidFill>
                          <a:latin typeface="微软雅黑" panose="020B0503020204020204" charset="-122"/>
                          <a:ea typeface="微软雅黑" panose="020B0503020204020204" charset="-122"/>
                          <a:cs typeface="+mn-cs"/>
                        </a:rPr>
                        <a:t>10.06</a:t>
                      </a:r>
                      <a:endParaRPr lang="zh-CN" altLang="en-US" sz="1065" b="0" kern="1200" dirty="0">
                        <a:solidFill>
                          <a:srgbClr val="000000"/>
                        </a:solidFill>
                        <a:latin typeface="微软雅黑" panose="020B0503020204020204" charset="-122"/>
                        <a:ea typeface="微软雅黑" panose="020B0503020204020204" charset="-122"/>
                        <a:cs typeface="+mn-cs"/>
                      </a:endParaRPr>
                    </a:p>
                  </a:txBody>
                  <a:tcPr marL="9525" marR="9525" marT="9525" marB="0" anchor="ctr"/>
                </a:tc>
                <a:extLst>
                  <a:ext uri="{0D108BD9-81ED-4DB2-BD59-A6C34878D82A}">
                    <a16:rowId xmlns:a16="http://schemas.microsoft.com/office/drawing/2014/main" val="10001"/>
                  </a:ext>
                </a:extLst>
              </a:tr>
              <a:tr h="172085">
                <a:tc>
                  <a:txBody>
                    <a:bodyPr/>
                    <a:lstStyle/>
                    <a:p>
                      <a:pPr marL="0" algn="ctr" defTabSz="914400" rtl="0" eaLnBrk="1" fontAlgn="ctr" latinLnBrk="0" hangingPunct="1"/>
                      <a:r>
                        <a:rPr lang="en-US" sz="1065" b="0" kern="1200">
                          <a:solidFill>
                            <a:srgbClr val="000000"/>
                          </a:solidFill>
                          <a:latin typeface="微软雅黑" panose="020B0503020204020204" charset="-122"/>
                          <a:ea typeface="微软雅黑" panose="020B0503020204020204" charset="-122"/>
                          <a:cs typeface="+mn-cs"/>
                        </a:rPr>
                        <a:t>2</a:t>
                      </a:r>
                      <a:endParaRPr lang="zh-CN" altLang="en-US" sz="1065" b="0" kern="1200">
                        <a:solidFill>
                          <a:srgbClr val="000000"/>
                        </a:solidFill>
                        <a:latin typeface="微软雅黑" panose="020B0503020204020204" charset="-122"/>
                        <a:ea typeface="微软雅黑" panose="020B0503020204020204" charset="-122"/>
                        <a:cs typeface="+mn-cs"/>
                      </a:endParaRPr>
                    </a:p>
                  </a:txBody>
                  <a:tcPr marL="9525" marR="9525" marT="9525" marB="0" anchor="ctr"/>
                </a:tc>
                <a:tc>
                  <a:txBody>
                    <a:bodyPr/>
                    <a:lstStyle/>
                    <a:p>
                      <a:pPr marL="0" algn="ctr" defTabSz="914400" rtl="0" eaLnBrk="1" fontAlgn="ctr" latinLnBrk="0" hangingPunct="1"/>
                      <a:r>
                        <a:rPr lang="en-US" sz="1065" b="0" kern="1200" dirty="0">
                          <a:solidFill>
                            <a:srgbClr val="000000"/>
                          </a:solidFill>
                          <a:latin typeface="微软雅黑" panose="020B0503020204020204" charset="-122"/>
                          <a:ea typeface="微软雅黑" panose="020B0503020204020204" charset="-122"/>
                          <a:cs typeface="+mn-cs"/>
                        </a:rPr>
                        <a:t>L08W07KC</a:t>
                      </a:r>
                      <a:endParaRPr lang="zh-CN" altLang="en-US" sz="1065" b="0" kern="1200" dirty="0">
                        <a:solidFill>
                          <a:srgbClr val="000000"/>
                        </a:solidFill>
                        <a:latin typeface="微软雅黑" panose="020B0503020204020204" charset="-122"/>
                        <a:ea typeface="微软雅黑" panose="020B0503020204020204" charset="-122"/>
                        <a:cs typeface="+mn-cs"/>
                      </a:endParaRPr>
                    </a:p>
                  </a:txBody>
                  <a:tcPr marL="9525" marR="9525" marT="9525" marB="0" anchor="ctr"/>
                </a:tc>
                <a:tc>
                  <a:txBody>
                    <a:bodyPr/>
                    <a:lstStyle/>
                    <a:p>
                      <a:pPr marL="0" algn="ctr" defTabSz="914400" rtl="0" eaLnBrk="1" fontAlgn="ctr" latinLnBrk="0" hangingPunct="1"/>
                      <a:r>
                        <a:rPr lang="en-US" sz="1065" b="0" kern="1200" dirty="0">
                          <a:solidFill>
                            <a:srgbClr val="000000"/>
                          </a:solidFill>
                          <a:latin typeface="微软雅黑" panose="020B0503020204020204" charset="-122"/>
                          <a:ea typeface="微软雅黑" panose="020B0503020204020204" charset="-122"/>
                          <a:cs typeface="+mn-cs"/>
                        </a:rPr>
                        <a:t>6.18</a:t>
                      </a:r>
                      <a:endParaRPr lang="zh-CN" altLang="en-US" sz="1065" b="0" kern="1200" dirty="0">
                        <a:solidFill>
                          <a:srgbClr val="000000"/>
                        </a:solidFill>
                        <a:latin typeface="微软雅黑" panose="020B0503020204020204" charset="-122"/>
                        <a:ea typeface="微软雅黑" panose="020B0503020204020204" charset="-122"/>
                        <a:cs typeface="+mn-cs"/>
                      </a:endParaRPr>
                    </a:p>
                  </a:txBody>
                  <a:tcPr marL="9525" marR="9525" marT="9525" marB="0" anchor="ctr"/>
                </a:tc>
                <a:tc>
                  <a:txBody>
                    <a:bodyPr/>
                    <a:lstStyle/>
                    <a:p>
                      <a:pPr marL="0" algn="ctr" defTabSz="914400" rtl="0" eaLnBrk="1" fontAlgn="ctr" latinLnBrk="0" hangingPunct="1"/>
                      <a:r>
                        <a:rPr lang="en-US" sz="1065" b="0" kern="1200" dirty="0">
                          <a:solidFill>
                            <a:srgbClr val="000000"/>
                          </a:solidFill>
                          <a:latin typeface="微软雅黑" panose="020B0503020204020204" charset="-122"/>
                          <a:ea typeface="微软雅黑" panose="020B0503020204020204" charset="-122"/>
                          <a:cs typeface="+mn-cs"/>
                        </a:rPr>
                        <a:t>10.08</a:t>
                      </a:r>
                      <a:endParaRPr lang="zh-CN" altLang="en-US" sz="1065" b="0" kern="1200" dirty="0">
                        <a:solidFill>
                          <a:srgbClr val="000000"/>
                        </a:solidFill>
                        <a:latin typeface="微软雅黑" panose="020B0503020204020204" charset="-122"/>
                        <a:ea typeface="微软雅黑" panose="020B0503020204020204" charset="-122"/>
                        <a:cs typeface="+mn-cs"/>
                      </a:endParaRPr>
                    </a:p>
                  </a:txBody>
                  <a:tcPr marL="9525" marR="9525" marT="9525" marB="0" anchor="ctr"/>
                </a:tc>
                <a:extLst>
                  <a:ext uri="{0D108BD9-81ED-4DB2-BD59-A6C34878D82A}">
                    <a16:rowId xmlns:a16="http://schemas.microsoft.com/office/drawing/2014/main" val="10002"/>
                  </a:ext>
                </a:extLst>
              </a:tr>
              <a:tr h="172085">
                <a:tc>
                  <a:txBody>
                    <a:bodyPr/>
                    <a:lstStyle/>
                    <a:p>
                      <a:pPr marL="0" algn="ctr" defTabSz="914400" rtl="0" eaLnBrk="1" fontAlgn="ctr" latinLnBrk="0" hangingPunct="1"/>
                      <a:r>
                        <a:rPr lang="en-US" sz="1065" b="0" kern="1200">
                          <a:solidFill>
                            <a:srgbClr val="000000"/>
                          </a:solidFill>
                          <a:latin typeface="微软雅黑" panose="020B0503020204020204" charset="-122"/>
                          <a:ea typeface="微软雅黑" panose="020B0503020204020204" charset="-122"/>
                          <a:cs typeface="+mn-cs"/>
                        </a:rPr>
                        <a:t>3</a:t>
                      </a:r>
                      <a:endParaRPr lang="zh-CN" altLang="en-US" sz="1065" b="0" kern="1200">
                        <a:solidFill>
                          <a:srgbClr val="000000"/>
                        </a:solidFill>
                        <a:latin typeface="微软雅黑" panose="020B0503020204020204" charset="-122"/>
                        <a:ea typeface="微软雅黑" panose="020B0503020204020204" charset="-122"/>
                        <a:cs typeface="+mn-cs"/>
                      </a:endParaRPr>
                    </a:p>
                  </a:txBody>
                  <a:tcPr marL="9525" marR="9525" marT="9525" marB="0" anchor="ctr"/>
                </a:tc>
                <a:tc>
                  <a:txBody>
                    <a:bodyPr/>
                    <a:lstStyle/>
                    <a:p>
                      <a:pPr marL="0" algn="ctr" defTabSz="914400" rtl="0" eaLnBrk="1" fontAlgn="ctr" latinLnBrk="0" hangingPunct="1"/>
                      <a:r>
                        <a:rPr lang="en-US" sz="1065" b="0" kern="1200">
                          <a:solidFill>
                            <a:srgbClr val="000000"/>
                          </a:solidFill>
                          <a:latin typeface="微软雅黑" panose="020B0503020204020204" charset="-122"/>
                          <a:ea typeface="微软雅黑" panose="020B0503020204020204" charset="-122"/>
                          <a:cs typeface="+mn-cs"/>
                        </a:rPr>
                        <a:t>L08W11KC</a:t>
                      </a:r>
                      <a:endParaRPr lang="zh-CN" altLang="en-US" sz="1065" b="0" kern="1200">
                        <a:solidFill>
                          <a:srgbClr val="000000"/>
                        </a:solidFill>
                        <a:latin typeface="微软雅黑" panose="020B0503020204020204" charset="-122"/>
                        <a:ea typeface="微软雅黑" panose="020B0503020204020204" charset="-122"/>
                        <a:cs typeface="+mn-cs"/>
                      </a:endParaRPr>
                    </a:p>
                  </a:txBody>
                  <a:tcPr marL="9525" marR="9525" marT="9525" marB="0" anchor="ctr"/>
                </a:tc>
                <a:tc>
                  <a:txBody>
                    <a:bodyPr/>
                    <a:lstStyle/>
                    <a:p>
                      <a:pPr marL="0" algn="ctr" defTabSz="914400" rtl="0" eaLnBrk="1" fontAlgn="ctr" latinLnBrk="0" hangingPunct="1"/>
                      <a:r>
                        <a:rPr lang="en-US" sz="1065" b="0" kern="1200" dirty="0">
                          <a:solidFill>
                            <a:srgbClr val="000000"/>
                          </a:solidFill>
                          <a:latin typeface="微软雅黑" panose="020B0503020204020204" charset="-122"/>
                          <a:ea typeface="微软雅黑" panose="020B0503020204020204" charset="-122"/>
                          <a:cs typeface="+mn-cs"/>
                        </a:rPr>
                        <a:t>5.9</a:t>
                      </a:r>
                      <a:endParaRPr lang="zh-CN" altLang="en-US" sz="1065" b="0" kern="1200" dirty="0">
                        <a:solidFill>
                          <a:srgbClr val="000000"/>
                        </a:solidFill>
                        <a:latin typeface="微软雅黑" panose="020B0503020204020204" charset="-122"/>
                        <a:ea typeface="微软雅黑" panose="020B0503020204020204" charset="-122"/>
                        <a:cs typeface="+mn-cs"/>
                      </a:endParaRPr>
                    </a:p>
                  </a:txBody>
                  <a:tcPr marL="9525" marR="9525" marT="9525" marB="0" anchor="ctr"/>
                </a:tc>
                <a:tc>
                  <a:txBody>
                    <a:bodyPr/>
                    <a:lstStyle/>
                    <a:p>
                      <a:pPr marL="0" algn="ctr" defTabSz="914400" rtl="0" eaLnBrk="1" fontAlgn="ctr" latinLnBrk="0" hangingPunct="1"/>
                      <a:r>
                        <a:rPr lang="en-US" sz="1065" b="0" kern="1200" dirty="0">
                          <a:solidFill>
                            <a:srgbClr val="000000"/>
                          </a:solidFill>
                          <a:latin typeface="微软雅黑" panose="020B0503020204020204" charset="-122"/>
                          <a:ea typeface="微软雅黑" panose="020B0503020204020204" charset="-122"/>
                          <a:cs typeface="+mn-cs"/>
                        </a:rPr>
                        <a:t>9.86</a:t>
                      </a:r>
                      <a:endParaRPr lang="zh-CN" altLang="en-US" sz="1065" b="0" kern="1200" dirty="0">
                        <a:solidFill>
                          <a:srgbClr val="000000"/>
                        </a:solidFill>
                        <a:latin typeface="微软雅黑" panose="020B0503020204020204" charset="-122"/>
                        <a:ea typeface="微软雅黑" panose="020B0503020204020204" charset="-122"/>
                        <a:cs typeface="+mn-cs"/>
                      </a:endParaRPr>
                    </a:p>
                  </a:txBody>
                  <a:tcPr marL="9525" marR="9525" marT="9525" marB="0" anchor="ctr"/>
                </a:tc>
                <a:extLst>
                  <a:ext uri="{0D108BD9-81ED-4DB2-BD59-A6C34878D82A}">
                    <a16:rowId xmlns:a16="http://schemas.microsoft.com/office/drawing/2014/main" val="10003"/>
                  </a:ext>
                </a:extLst>
              </a:tr>
              <a:tr h="172085">
                <a:tc>
                  <a:txBody>
                    <a:bodyPr/>
                    <a:lstStyle/>
                    <a:p>
                      <a:pPr marL="0" algn="ctr" defTabSz="914400" rtl="0" eaLnBrk="1" fontAlgn="ctr" latinLnBrk="0" hangingPunct="1"/>
                      <a:r>
                        <a:rPr lang="en-US" sz="1065" b="0" kern="1200">
                          <a:solidFill>
                            <a:srgbClr val="000000"/>
                          </a:solidFill>
                          <a:latin typeface="微软雅黑" panose="020B0503020204020204" charset="-122"/>
                          <a:ea typeface="微软雅黑" panose="020B0503020204020204" charset="-122"/>
                          <a:cs typeface="+mn-cs"/>
                        </a:rPr>
                        <a:t>4</a:t>
                      </a:r>
                      <a:endParaRPr lang="zh-CN" altLang="en-US" sz="1065" b="0" kern="1200">
                        <a:solidFill>
                          <a:srgbClr val="000000"/>
                        </a:solidFill>
                        <a:latin typeface="微软雅黑" panose="020B0503020204020204" charset="-122"/>
                        <a:ea typeface="微软雅黑" panose="020B0503020204020204" charset="-122"/>
                        <a:cs typeface="+mn-cs"/>
                      </a:endParaRPr>
                    </a:p>
                  </a:txBody>
                  <a:tcPr marL="9525" marR="9525" marT="9525" marB="0" anchor="ctr"/>
                </a:tc>
                <a:tc>
                  <a:txBody>
                    <a:bodyPr/>
                    <a:lstStyle/>
                    <a:p>
                      <a:pPr marL="0" algn="ctr" defTabSz="914400" rtl="0" eaLnBrk="1" fontAlgn="ctr" latinLnBrk="0" hangingPunct="1"/>
                      <a:r>
                        <a:rPr lang="en-US" sz="1065" b="0" kern="1200">
                          <a:solidFill>
                            <a:srgbClr val="000000"/>
                          </a:solidFill>
                          <a:latin typeface="微软雅黑" panose="020B0503020204020204" charset="-122"/>
                          <a:ea typeface="微软雅黑" panose="020B0503020204020204" charset="-122"/>
                          <a:cs typeface="+mn-cs"/>
                        </a:rPr>
                        <a:t>L08W15KC</a:t>
                      </a:r>
                      <a:endParaRPr lang="zh-CN" altLang="en-US" sz="1065" b="0" kern="1200">
                        <a:solidFill>
                          <a:srgbClr val="000000"/>
                        </a:solidFill>
                        <a:latin typeface="微软雅黑" panose="020B0503020204020204" charset="-122"/>
                        <a:ea typeface="微软雅黑" panose="020B0503020204020204" charset="-122"/>
                        <a:cs typeface="+mn-cs"/>
                      </a:endParaRPr>
                    </a:p>
                  </a:txBody>
                  <a:tcPr marL="9525" marR="9525" marT="9525" marB="0" anchor="ctr"/>
                </a:tc>
                <a:tc>
                  <a:txBody>
                    <a:bodyPr/>
                    <a:lstStyle/>
                    <a:p>
                      <a:pPr marL="0" algn="ctr" defTabSz="914400" rtl="0" eaLnBrk="1" fontAlgn="ctr" latinLnBrk="0" hangingPunct="1"/>
                      <a:r>
                        <a:rPr lang="en-US" sz="1065" b="0" kern="1200">
                          <a:solidFill>
                            <a:srgbClr val="000000"/>
                          </a:solidFill>
                          <a:latin typeface="微软雅黑" panose="020B0503020204020204" charset="-122"/>
                          <a:ea typeface="微软雅黑" panose="020B0503020204020204" charset="-122"/>
                          <a:cs typeface="+mn-cs"/>
                        </a:rPr>
                        <a:t>6.33</a:t>
                      </a:r>
                      <a:endParaRPr lang="zh-CN" altLang="en-US" sz="1065" b="0" kern="1200">
                        <a:solidFill>
                          <a:srgbClr val="000000"/>
                        </a:solidFill>
                        <a:latin typeface="微软雅黑" panose="020B0503020204020204" charset="-122"/>
                        <a:ea typeface="微软雅黑" panose="020B0503020204020204" charset="-122"/>
                        <a:cs typeface="+mn-cs"/>
                      </a:endParaRPr>
                    </a:p>
                  </a:txBody>
                  <a:tcPr marL="9525" marR="9525" marT="9525" marB="0" anchor="ctr"/>
                </a:tc>
                <a:tc>
                  <a:txBody>
                    <a:bodyPr/>
                    <a:lstStyle/>
                    <a:p>
                      <a:pPr marL="0" algn="ctr" defTabSz="914400" rtl="0" eaLnBrk="1" fontAlgn="ctr" latinLnBrk="0" hangingPunct="1"/>
                      <a:r>
                        <a:rPr lang="en-US" sz="1065" b="0" kern="1200" dirty="0">
                          <a:solidFill>
                            <a:srgbClr val="000000"/>
                          </a:solidFill>
                          <a:latin typeface="微软雅黑" panose="020B0503020204020204" charset="-122"/>
                          <a:ea typeface="微软雅黑" panose="020B0503020204020204" charset="-122"/>
                          <a:cs typeface="+mn-cs"/>
                        </a:rPr>
                        <a:t>10.06</a:t>
                      </a:r>
                      <a:endParaRPr lang="zh-CN" altLang="en-US" sz="1065" b="0" kern="1200" dirty="0">
                        <a:solidFill>
                          <a:srgbClr val="000000"/>
                        </a:solidFill>
                        <a:latin typeface="微软雅黑" panose="020B0503020204020204" charset="-122"/>
                        <a:ea typeface="微软雅黑" panose="020B0503020204020204" charset="-122"/>
                        <a:cs typeface="+mn-cs"/>
                      </a:endParaRPr>
                    </a:p>
                  </a:txBody>
                  <a:tcPr marL="9525" marR="9525" marT="9525" marB="0" anchor="ctr"/>
                </a:tc>
                <a:extLst>
                  <a:ext uri="{0D108BD9-81ED-4DB2-BD59-A6C34878D82A}">
                    <a16:rowId xmlns:a16="http://schemas.microsoft.com/office/drawing/2014/main" val="10004"/>
                  </a:ext>
                </a:extLst>
              </a:tr>
              <a:tr h="172085">
                <a:tc>
                  <a:txBody>
                    <a:bodyPr/>
                    <a:lstStyle/>
                    <a:p>
                      <a:pPr marL="0" algn="ctr" defTabSz="914400" rtl="0" eaLnBrk="1" fontAlgn="ctr" latinLnBrk="0" hangingPunct="1"/>
                      <a:r>
                        <a:rPr lang="en-US" sz="1065" b="0" kern="1200">
                          <a:solidFill>
                            <a:srgbClr val="000000"/>
                          </a:solidFill>
                          <a:latin typeface="微软雅黑" panose="020B0503020204020204" charset="-122"/>
                          <a:ea typeface="微软雅黑" panose="020B0503020204020204" charset="-122"/>
                          <a:cs typeface="+mn-cs"/>
                        </a:rPr>
                        <a:t>5</a:t>
                      </a:r>
                      <a:endParaRPr lang="zh-CN" altLang="en-US" sz="1065" b="0" kern="1200">
                        <a:solidFill>
                          <a:srgbClr val="000000"/>
                        </a:solidFill>
                        <a:latin typeface="微软雅黑" panose="020B0503020204020204" charset="-122"/>
                        <a:ea typeface="微软雅黑" panose="020B0503020204020204" charset="-122"/>
                        <a:cs typeface="+mn-cs"/>
                      </a:endParaRPr>
                    </a:p>
                  </a:txBody>
                  <a:tcPr marL="9525" marR="9525" marT="9525" marB="0" anchor="ctr"/>
                </a:tc>
                <a:tc>
                  <a:txBody>
                    <a:bodyPr/>
                    <a:lstStyle/>
                    <a:p>
                      <a:pPr marL="0" algn="ctr" defTabSz="914400" rtl="0" eaLnBrk="1" fontAlgn="ctr" latinLnBrk="0" hangingPunct="1"/>
                      <a:r>
                        <a:rPr lang="en-US" sz="1065" b="0" kern="1200" dirty="0">
                          <a:solidFill>
                            <a:srgbClr val="000000"/>
                          </a:solidFill>
                          <a:latin typeface="微软雅黑" panose="020B0503020204020204" charset="-122"/>
                          <a:ea typeface="微软雅黑" panose="020B0503020204020204" charset="-122"/>
                          <a:cs typeface="+mn-cs"/>
                        </a:rPr>
                        <a:t>L08W17KC</a:t>
                      </a:r>
                      <a:endParaRPr lang="zh-CN" altLang="en-US" sz="1065" b="0" kern="1200" dirty="0">
                        <a:solidFill>
                          <a:srgbClr val="000000"/>
                        </a:solidFill>
                        <a:latin typeface="微软雅黑" panose="020B0503020204020204" charset="-122"/>
                        <a:ea typeface="微软雅黑" panose="020B0503020204020204" charset="-122"/>
                        <a:cs typeface="+mn-cs"/>
                      </a:endParaRPr>
                    </a:p>
                  </a:txBody>
                  <a:tcPr marL="9525" marR="9525" marT="9525" marB="0" anchor="ctr"/>
                </a:tc>
                <a:tc>
                  <a:txBody>
                    <a:bodyPr/>
                    <a:lstStyle/>
                    <a:p>
                      <a:pPr marL="0" algn="ctr" defTabSz="914400" rtl="0" eaLnBrk="1" fontAlgn="ctr" latinLnBrk="0" hangingPunct="1"/>
                      <a:r>
                        <a:rPr lang="en-US" sz="1065" b="0" kern="1200" dirty="0">
                          <a:solidFill>
                            <a:srgbClr val="000000"/>
                          </a:solidFill>
                          <a:latin typeface="微软雅黑" panose="020B0503020204020204" charset="-122"/>
                          <a:ea typeface="微软雅黑" panose="020B0503020204020204" charset="-122"/>
                          <a:cs typeface="+mn-cs"/>
                        </a:rPr>
                        <a:t>6.01</a:t>
                      </a:r>
                      <a:endParaRPr lang="zh-CN" altLang="en-US" sz="1065" b="0" kern="1200" dirty="0">
                        <a:solidFill>
                          <a:srgbClr val="000000"/>
                        </a:solidFill>
                        <a:latin typeface="微软雅黑" panose="020B0503020204020204" charset="-122"/>
                        <a:ea typeface="微软雅黑" panose="020B0503020204020204" charset="-122"/>
                        <a:cs typeface="+mn-cs"/>
                      </a:endParaRPr>
                    </a:p>
                  </a:txBody>
                  <a:tcPr marL="9525" marR="9525" marT="9525" marB="0" anchor="ctr"/>
                </a:tc>
                <a:tc>
                  <a:txBody>
                    <a:bodyPr/>
                    <a:lstStyle/>
                    <a:p>
                      <a:pPr marL="0" algn="ctr" defTabSz="914400" rtl="0" eaLnBrk="1" fontAlgn="ctr" latinLnBrk="0" hangingPunct="1"/>
                      <a:r>
                        <a:rPr lang="en-US" sz="1065" b="0" kern="1200" dirty="0">
                          <a:solidFill>
                            <a:srgbClr val="000000"/>
                          </a:solidFill>
                          <a:latin typeface="微软雅黑" panose="020B0503020204020204" charset="-122"/>
                          <a:ea typeface="微软雅黑" panose="020B0503020204020204" charset="-122"/>
                          <a:cs typeface="+mn-cs"/>
                        </a:rPr>
                        <a:t>10.08</a:t>
                      </a:r>
                      <a:endParaRPr lang="zh-CN" altLang="en-US" sz="1065" b="0" kern="1200" dirty="0">
                        <a:solidFill>
                          <a:srgbClr val="000000"/>
                        </a:solidFill>
                        <a:latin typeface="微软雅黑" panose="020B0503020204020204" charset="-122"/>
                        <a:ea typeface="微软雅黑" panose="020B0503020204020204" charset="-122"/>
                        <a:cs typeface="+mn-cs"/>
                      </a:endParaRPr>
                    </a:p>
                  </a:txBody>
                  <a:tcPr marL="9525" marR="9525" marT="9525" marB="0" anchor="ctr"/>
                </a:tc>
                <a:extLst>
                  <a:ext uri="{0D108BD9-81ED-4DB2-BD59-A6C34878D82A}">
                    <a16:rowId xmlns:a16="http://schemas.microsoft.com/office/drawing/2014/main" val="10005"/>
                  </a:ext>
                </a:extLst>
              </a:tr>
            </a:tbl>
          </a:graphicData>
        </a:graphic>
      </p:graphicFrame>
      <p:sp>
        <p:nvSpPr>
          <p:cNvPr id="6" name="文本框 5"/>
          <p:cNvSpPr txBox="1"/>
          <p:nvPr/>
        </p:nvSpPr>
        <p:spPr>
          <a:xfrm>
            <a:off x="1499465" y="6612531"/>
            <a:ext cx="2980799" cy="337185"/>
          </a:xfrm>
          <a:prstGeom prst="rect">
            <a:avLst/>
          </a:prstGeom>
          <a:noFill/>
        </p:spPr>
        <p:txBody>
          <a:bodyPr wrap="square" rtlCol="0" anchor="t">
            <a:normAutofit fontScale="70000" lnSpcReduction="20000"/>
            <a:scene3d>
              <a:camera prst="orthographicFront"/>
              <a:lightRig rig="threePt" dir="t"/>
            </a:scene3d>
          </a:bodyPr>
          <a:lstStyle/>
          <a:p>
            <a:pPr>
              <a:buClrTx/>
              <a:buSzTx/>
              <a:buFontTx/>
            </a:pPr>
            <a:r>
              <a:rPr lang="zh-CN" altLang="en-US" sz="1600" dirty="0">
                <a:solidFill>
                  <a:srgbClr val="000000"/>
                </a:solidFill>
                <a:latin typeface="Arial" panose="020B0604020202020204" pitchFamily="34" charset="0"/>
                <a:ea typeface="微软雅黑" panose="020B0503020204020204" charset="-122"/>
                <a:cs typeface="微软雅黑" panose="020B0503020204020204" charset="-122"/>
              </a:rPr>
              <a:t>Critical Conductivity Data for Sample Elution</a:t>
            </a:r>
            <a:endParaRPr lang="zh-CN" altLang="en-US" sz="1600" dirty="0">
              <a:solidFill>
                <a:srgbClr val="000000"/>
              </a:solidFill>
              <a:latin typeface="微软雅黑" panose="020B0503020204020204" charset="-122"/>
              <a:ea typeface="微软雅黑" panose="020B0503020204020204" charset="-122"/>
              <a:cs typeface="微软雅黑" panose="020B0503020204020204" charset="-122"/>
            </a:endParaRPr>
          </a:p>
        </p:txBody>
      </p:sp>
      <p:graphicFrame>
        <p:nvGraphicFramePr>
          <p:cNvPr id="10" name="图表 9"/>
          <p:cNvGraphicFramePr/>
          <p:nvPr/>
        </p:nvGraphicFramePr>
        <p:xfrm>
          <a:off x="5718683" y="1676019"/>
          <a:ext cx="5924417" cy="2964141"/>
        </p:xfrm>
        <a:graphic>
          <a:graphicData uri="http://schemas.openxmlformats.org/drawingml/2006/chart">
            <c:chart xmlns:c="http://schemas.openxmlformats.org/drawingml/2006/chart" xmlns:r="http://schemas.openxmlformats.org/officeDocument/2006/relationships" r:id="rId5"/>
          </a:graphicData>
        </a:graphic>
      </p:graphicFrame>
      <p:sp>
        <p:nvSpPr>
          <p:cNvPr id="11" name="文本框 10"/>
          <p:cNvSpPr txBox="1"/>
          <p:nvPr/>
        </p:nvSpPr>
        <p:spPr>
          <a:xfrm>
            <a:off x="6020024" y="5014109"/>
            <a:ext cx="5720080" cy="922020"/>
          </a:xfrm>
          <a:prstGeom prst="rect">
            <a:avLst/>
          </a:prstGeom>
          <a:noFill/>
        </p:spPr>
        <p:txBody>
          <a:bodyPr wrap="square" rtlCol="0">
            <a:normAutofit fontScale="70000" lnSpcReduction="20000"/>
          </a:bodyPr>
          <a:lstStyle/>
          <a:p>
            <a:r>
              <a:rPr lang="zh-CN" altLang="en-US" dirty="0"/>
              <a:t>Conclusion: The differences in recovery rates of five batches of NanoGel 50SP HP are due to different collection methods, while SEC all reached 98%, CEX without enzymatic digestion was around 55%, and CEX with enzymatic digestion was around 65%, indicating good batch-to-batch stability of this resin.</a:t>
            </a:r>
          </a:p>
        </p:txBody>
      </p:sp>
      <p:sp>
        <p:nvSpPr>
          <p:cNvPr id="7" name="标题 6"/>
          <p:cNvSpPr>
            <a:spLocks noGrp="1"/>
          </p:cNvSpPr>
          <p:nvPr>
            <p:ph type="title"/>
          </p:nvPr>
        </p:nvSpPr>
        <p:spPr/>
        <p:txBody>
          <a:bodyPr wrap="square">
            <a:normAutofit/>
          </a:bodyPr>
          <a:lstStyle/>
          <a:p>
            <a:pPr marL="342900" indent="-342900" algn="l"/>
            <a:r>
              <a:rPr sz="3220">
                <a:latin typeface="Times New Roman" panose="02020603050405020304" pitchFamily="18" charset="0"/>
                <a:ea typeface="+mj-lt"/>
                <a:cs typeface="Times New Roman" panose="02020603050405020304" pitchFamily="18" charset="0"/>
              </a:rPr>
              <a:t>NanoGel 50SP HP—More Consistent Batch-to-Batch</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wrap="square">
            <a:normAutofit fontScale="90000"/>
          </a:bodyPr>
          <a:lstStyle/>
          <a:p>
            <a:r>
              <a:rPr lang="zh-CN" altLang="en-US" dirty="0"/>
              <a:t>Thank you for watching</a:t>
            </a:r>
          </a:p>
        </p:txBody>
      </p:sp>
    </p:spTree>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KSO_WPP_MARK_KEY" val="688a3b4e-e1b1-419c-8594-79087f9bdad2"/>
  <p:tag name="COMMONDATA" val="eyJoZGlkIjoiYjdlYjMwMzU0OGMyNWUyYzI0MjJkMjZkMjRlYmQ5NmI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38efad25-f558-49d9-91da-d45e03da89fe}"/>
  <p:tag name="TABLE_ENDDRAG_ORIGIN_RECT" val="431*279"/>
  <p:tag name="TABLE_ENDDRAG_RECT" val="75*165*431*279"/>
</p:tagLst>
</file>

<file path=ppt/theme/theme1.xml><?xml version="1.0" encoding="utf-8"?>
<a:theme xmlns:a="http://schemas.openxmlformats.org/drawingml/2006/main" name="Office">
  <a:themeElements>
    <a:clrScheme name="Templates">
      <a:dk1>
        <a:srgbClr val="323232"/>
      </a:dk1>
      <a:lt1>
        <a:srgbClr val="FFFFFF"/>
      </a:lt1>
      <a:dk2>
        <a:srgbClr val="000000"/>
      </a:dk2>
      <a:lt2>
        <a:srgbClr val="E7E6E6"/>
      </a:lt2>
      <a:accent1>
        <a:srgbClr val="0079C2"/>
      </a:accent1>
      <a:accent2>
        <a:srgbClr val="69B82C"/>
      </a:accent2>
      <a:accent3>
        <a:srgbClr val="ED7D31"/>
      </a:accent3>
      <a:accent4>
        <a:srgbClr val="A5A5A5"/>
      </a:accent4>
      <a:accent5>
        <a:srgbClr val="0276E7"/>
      </a:accent5>
      <a:accent6>
        <a:srgbClr val="00D870"/>
      </a:accent6>
      <a:hlink>
        <a:srgbClr val="0563C1"/>
      </a:hlink>
      <a:folHlink>
        <a:srgbClr val="954F72"/>
      </a:folHlink>
    </a:clrScheme>
    <a:fontScheme name="templates">
      <a:majorFont>
        <a:latin typeface="阿里巴巴普惠体 2.0 75 SemiBold"/>
        <a:ea typeface="阿里巴巴普惠体 2.0 75 SemiBold"/>
        <a:cs typeface=""/>
      </a:majorFont>
      <a:minorFont>
        <a:latin typeface="阿里巴巴普惠体 2.0 55 Regular"/>
        <a:ea typeface="阿里巴巴普惠体 2.0 55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Verdana" panose="020B060403050404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none" lIns="0" tIns="0" rIns="0" bIns="0" numCol="1" spcCol="38100" rtlCol="0" anchor="t">
        <a:spAutoFit/>
      </a:bodyPr>
      <a:lstStyle>
        <a:defPPr algn="l">
          <a:defRPr sz="2400" dirty="0">
            <a:solidFill>
              <a:srgbClr val="A7A7A7"/>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def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Helvetica"/>
        <a:ea typeface="Helvetica"/>
        <a:cs typeface="Helvetica"/>
      </a:majorFont>
      <a:minorFont>
        <a:latin typeface="Verdana"/>
        <a:ea typeface="Verdana"/>
        <a:cs typeface="Verdan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Verdana" panose="020B060403050404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Verdana" panose="020B060403050404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TotalTime>
  <Words>2010</Words>
  <Application>Microsoft Office PowerPoint</Application>
  <PresentationFormat>宽屏</PresentationFormat>
  <Paragraphs>258</Paragraphs>
  <Slides>16</Slides>
  <Notes>16</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16</vt:i4>
      </vt:variant>
    </vt:vector>
  </HeadingPairs>
  <TitlesOfParts>
    <vt:vector size="33" baseType="lpstr">
      <vt:lpstr>阿里巴巴普惠体 2.0 105 Heavy</vt:lpstr>
      <vt:lpstr>阿里巴巴普惠体 2.0 45 Light</vt:lpstr>
      <vt:lpstr>阿里巴巴普惠体 2.0 55 Regular</vt:lpstr>
      <vt:lpstr>阿里巴巴普惠体 2.0 65 Medium</vt:lpstr>
      <vt:lpstr>阿里巴巴普惠体 2.0 75 SemiBold</vt:lpstr>
      <vt:lpstr>等线</vt:lpstr>
      <vt:lpstr>思源黑体 CN Heavy</vt:lpstr>
      <vt:lpstr>宋体</vt:lpstr>
      <vt:lpstr>微软雅黑</vt:lpstr>
      <vt:lpstr>Arial</vt:lpstr>
      <vt:lpstr>Calibri</vt:lpstr>
      <vt:lpstr>Montserrat</vt:lpstr>
      <vt:lpstr>Open Sans</vt:lpstr>
      <vt:lpstr>Times New Roman</vt:lpstr>
      <vt:lpstr>Verdana</vt:lpstr>
      <vt:lpstr>Wingdings</vt:lpstr>
      <vt:lpstr>Office</vt:lpstr>
      <vt:lpstr>Antibody Charge Variants: Characterization and Control Strategies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Case study 1: Finetuning the slope of elution step to removal Acid-Base Peak Separation</vt:lpstr>
      <vt:lpstr>Case study 2：NanoGel 50SP HP—Removal of Acid-Base Isoforms</vt:lpstr>
      <vt:lpstr>NanoGel 50SP HP—More Consistent Batch-to-Batch</vt:lpstr>
      <vt:lpstr>Thank you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黄寅</dc:creator>
  <cp:lastModifiedBy>baisheng jin</cp:lastModifiedBy>
  <cp:revision>233</cp:revision>
  <dcterms:created xsi:type="dcterms:W3CDTF">2023-09-02T02:31:00Z</dcterms:created>
  <dcterms:modified xsi:type="dcterms:W3CDTF">2026-03-25T23:52:03Z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642C67BC91C54A3CA02E2358B7C91269_12</vt:lpwstr>
  </property>
  <property fmtid="{D5CDD505-2E9C-101B-9397-08002B2CF9AE}" pid="3" name="KSOProductBuildVer">
    <vt:lpwstr>2052-12.1.0.15374</vt:lpwstr>
  </property>
</Properties>
</file>